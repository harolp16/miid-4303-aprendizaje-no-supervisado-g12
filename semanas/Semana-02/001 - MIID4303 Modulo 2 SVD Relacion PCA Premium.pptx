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680960" y="-1463040"/>
            <a:ext cx="5486400" cy="5486400"/>
          </a:xfrm>
          <a:prstGeom prst="arc">
            <a:avLst/>
          </a:prstGeom>
          <a:solidFill>
            <a:srgbClr val="7B3FB2">
              <a:alpha val="30000"/>
            </a:srgbClr>
          </a:solidFill>
          <a:ln w="12700">
            <a:solidFill>
              <a:srgbClr val="7B3FB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8503920" y="2468880"/>
            <a:ext cx="4754880" cy="4754880"/>
          </a:xfrm>
          <a:prstGeom prst="arc">
            <a:avLst/>
          </a:prstGeom>
          <a:solidFill>
            <a:srgbClr val="1BC8D9">
              <a:alpha val="25000"/>
            </a:srgbClr>
          </a:solidFill>
          <a:ln w="12700">
            <a:solidFill>
              <a:srgbClr val="1BC8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02920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23444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Descomposición en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Valores Singulares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C8D9"/>
                </a:solidFill>
              </a:rPr>
              <a:t>SVD y su relación con PCA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F2"/>
                </a:solidFill>
              </a:rPr>
              <a:t>Guía visual de estudio • basada en la transcripción del 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43800" y="1143000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BC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53528" y="1252728"/>
            <a:ext cx="92354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n×n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143000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6C9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99448" y="1252728"/>
            <a:ext cx="92354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n×k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835640" y="11430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B3F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45368" y="1252728"/>
            <a:ext cx="69494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Bᵀ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k×k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13898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X =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52360" y="23774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6F2"/>
                </a:solidFill>
              </a:rPr>
              <a:t>Direcciones  ×  importancia  ×  direcciones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4572000"/>
            <a:ext cx="10607040" cy="0"/>
          </a:xfrm>
          <a:prstGeom prst="line">
            <a:avLst/>
          </a:prstGeom>
          <a:noFill/>
          <a:ln w="12700">
            <a:solidFill>
              <a:srgbClr val="345A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89204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Objetivo: entender qué representa cada matriz, cómo se conectan los valores singulares con los autovalores y por qué SVD contiene los ingredientes esenciales de PCA.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61996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1D2"/>
                </a:solidFill>
              </a:rPr>
              <a:t>MIAD  •  Universidad de los Andes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aprendizaje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Del dato centrado a la conexión SVD → PCA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658368" cy="658368"/>
          </a:xfrm>
          <a:prstGeom prst="ellipse">
            <a:avLst/>
          </a:prstGeom>
          <a:solidFill>
            <a:srgbClr val="1BC8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116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B33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89888" y="2203704"/>
            <a:ext cx="1307592" cy="0"/>
          </a:xfrm>
          <a:prstGeom prst="line">
            <a:avLst/>
          </a:prstGeom>
          <a:noFill/>
          <a:ln w="25400">
            <a:solidFill>
              <a:srgbClr val="9AB1C4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11480" y="27432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Centrar 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1874520"/>
            <a:ext cx="658368" cy="658368"/>
          </a:xfrm>
          <a:prstGeom prst="ellipse">
            <a:avLst/>
          </a:prstGeom>
          <a:solidFill>
            <a:srgbClr val="1BC8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072" y="20116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B33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55848" y="2203704"/>
            <a:ext cx="1307592" cy="0"/>
          </a:xfrm>
          <a:prstGeom prst="line">
            <a:avLst/>
          </a:prstGeom>
          <a:noFill/>
          <a:ln w="25400">
            <a:solidFill>
              <a:srgbClr val="9AB1C4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377440" y="27432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Factorizar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658368" cy="658368"/>
          </a:xfrm>
          <a:prstGeom prst="ellipse">
            <a:avLst/>
          </a:prstGeom>
          <a:solidFill>
            <a:srgbClr val="F6C9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20116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B33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21808" y="2203704"/>
            <a:ext cx="1307592" cy="0"/>
          </a:xfrm>
          <a:prstGeom prst="line">
            <a:avLst/>
          </a:prstGeom>
          <a:noFill/>
          <a:ln w="25400">
            <a:solidFill>
              <a:srgbClr val="9AB1C4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343400" y="27432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Leer 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29400" y="1874520"/>
            <a:ext cx="658368" cy="658368"/>
          </a:xfrm>
          <a:prstGeom prst="ellipse">
            <a:avLst/>
          </a:prstGeom>
          <a:solidFill>
            <a:srgbClr val="F6C9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93992" y="20116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B33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87768" y="2203704"/>
            <a:ext cx="1307592" cy="0"/>
          </a:xfrm>
          <a:prstGeom prst="line">
            <a:avLst/>
          </a:prstGeom>
          <a:noFill/>
          <a:ln w="25400">
            <a:solidFill>
              <a:srgbClr val="9AB1C4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309360" y="27432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Leer 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595360" y="1874520"/>
            <a:ext cx="658368" cy="658368"/>
          </a:xfrm>
          <a:prstGeom prst="ellipse">
            <a:avLst/>
          </a:prstGeom>
          <a:solidFill>
            <a:srgbClr val="7B3F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59952" y="20116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53728" y="2203704"/>
            <a:ext cx="1307592" cy="0"/>
          </a:xfrm>
          <a:prstGeom prst="line">
            <a:avLst/>
          </a:prstGeom>
          <a:noFill/>
          <a:ln w="25400">
            <a:solidFill>
              <a:srgbClr val="9AB1C4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275320" y="27432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Leer 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561320" y="1874520"/>
            <a:ext cx="658368" cy="658368"/>
          </a:xfrm>
          <a:prstGeom prst="ellipse">
            <a:avLst/>
          </a:prstGeom>
          <a:solidFill>
            <a:srgbClr val="7B3F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25912" y="20116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0" y="27432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Conectar con PCA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370332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3858768"/>
            <a:ext cx="73152" cy="1014984"/>
          </a:xfrm>
          <a:prstGeom prst="rect">
            <a:avLst/>
          </a:prstGeom>
          <a:solidFill>
            <a:srgbClr val="1BC8D9"/>
          </a:solidFill>
          <a:ln w="12700">
            <a:solidFill>
              <a:srgbClr val="1BC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3867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Idea clave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233672"/>
            <a:ext cx="283464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SVD reexpresa X como una suma de direcciones ortogonales ponderadas por valores singulares.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34840" y="370332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3858768"/>
            <a:ext cx="73152" cy="1014984"/>
          </a:xfrm>
          <a:prstGeom prst="rect">
            <a:avLst/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867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Puente matemático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4233672"/>
            <a:ext cx="283464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Al formar XᵀX aparece B(SᵀS)Bᵀ: la estructura espectral que usa PCA.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92440" y="370332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3858768"/>
            <a:ext cx="73152" cy="1014984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3867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Resultado práctico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12480" y="4233672"/>
            <a:ext cx="283464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Los valores singulares ordenan la importancia relativa de las direcciones de variación.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matriz de datos 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n observaciones × k características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4297680" cy="3291840"/>
          </a:xfrm>
          <a:prstGeom prst="rect">
            <a:avLst/>
          </a:prstGeom>
          <a:solidFill>
            <a:srgbClr val="EEF7FA"/>
          </a:solidFill>
          <a:ln w="25400">
            <a:solidFill>
              <a:srgbClr val="1BC8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65960"/>
            <a:ext cx="658368" cy="301752"/>
          </a:xfrm>
          <a:prstGeom prst="rect">
            <a:avLst/>
          </a:prstGeom>
          <a:solidFill>
            <a:srgbClr val="D9F4F7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965960"/>
            <a:ext cx="658368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1965960"/>
            <a:ext cx="658368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1965960"/>
            <a:ext cx="658368" cy="301752"/>
          </a:xfrm>
          <a:prstGeom prst="rect">
            <a:avLst/>
          </a:prstGeom>
          <a:solidFill>
            <a:srgbClr val="D9F4F7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450592"/>
            <a:ext cx="658368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2450592"/>
            <a:ext cx="658368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2450592"/>
            <a:ext cx="658368" cy="301752"/>
          </a:xfrm>
          <a:prstGeom prst="rect">
            <a:avLst/>
          </a:prstGeom>
          <a:solidFill>
            <a:srgbClr val="D9F4F7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450592"/>
            <a:ext cx="658368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2935224"/>
            <a:ext cx="658368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0240" y="2935224"/>
            <a:ext cx="658368" cy="301752"/>
          </a:xfrm>
          <a:prstGeom prst="rect">
            <a:avLst/>
          </a:prstGeom>
          <a:solidFill>
            <a:srgbClr val="D9F4F7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2935224"/>
            <a:ext cx="658368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2935224"/>
            <a:ext cx="658368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419856"/>
            <a:ext cx="658368" cy="301752"/>
          </a:xfrm>
          <a:prstGeom prst="rect">
            <a:avLst/>
          </a:prstGeom>
          <a:solidFill>
            <a:srgbClr val="D9F4F7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3419856"/>
            <a:ext cx="658368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8920" y="3419856"/>
            <a:ext cx="658368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3419856"/>
            <a:ext cx="658368" cy="301752"/>
          </a:xfrm>
          <a:prstGeom prst="rect">
            <a:avLst/>
          </a:prstGeom>
          <a:solidFill>
            <a:srgbClr val="D9F4F7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3904488"/>
            <a:ext cx="658368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0240" y="3904488"/>
            <a:ext cx="658368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3904488"/>
            <a:ext cx="658368" cy="301752"/>
          </a:xfrm>
          <a:prstGeom prst="rect">
            <a:avLst/>
          </a:prstGeom>
          <a:solidFill>
            <a:srgbClr val="D9F4F7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3904488"/>
            <a:ext cx="658368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C7D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C8D9"/>
                </a:solidFill>
              </a:rPr>
              <a:t>filas = observaciones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8036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3FB2"/>
                </a:solidFill>
              </a:rPr>
              <a:t>columnas = características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15000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1847088"/>
            <a:ext cx="73152" cy="923544"/>
          </a:xfrm>
          <a:prstGeom prst="rect">
            <a:avLst/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1856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Supuesto del video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35040" y="2221992"/>
            <a:ext cx="210312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Las columnas se consideran linealmente independientes.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41080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0" y="1847088"/>
            <a:ext cx="73152" cy="923544"/>
          </a:xfrm>
          <a:prstGeom prst="rect">
            <a:avLst/>
          </a:prstGeom>
          <a:solidFill>
            <a:srgbClr val="1BC8D9"/>
          </a:solidFill>
          <a:ln w="12700">
            <a:solidFill>
              <a:srgbClr val="1BC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0" y="1856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Dimensiones declaradas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961120" y="2221992"/>
            <a:ext cx="210312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X es n×k; U es n×n; S es n×k; B es k×k.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715000" y="3337560"/>
            <a:ext cx="5532120" cy="1508760"/>
          </a:xfrm>
          <a:prstGeom prst="roundRect">
            <a:avLst>
              <a:gd name="adj" fmla="val 4848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52160" y="3493008"/>
            <a:ext cx="73152" cy="1197864"/>
          </a:xfrm>
          <a:prstGeom prst="rect">
            <a:avLst/>
          </a:prstGeom>
          <a:solidFill>
            <a:srgbClr val="F09A3E"/>
          </a:solidFill>
          <a:ln w="12700">
            <a:solidFill>
              <a:srgbClr val="F09A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3502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Alerta de consistencia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035040" y="3867912"/>
            <a:ext cx="50292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La transcripción también afirma k &gt; n. Si las k columnas fueran todas linealmente independientes, el rango sería k, pero una matriz n×k no puede tener rango mayor que n. Conviene verificar esta condición en el cuaderno oficial antes de usarla en una entrega.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1. Centrar los datos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Restar la media de cada columna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1BC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38528"/>
            <a:ext cx="2660904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Dato original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xᵢⱼ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49040" y="2359152"/>
            <a:ext cx="86868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709160" y="1828800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F6C9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1938528"/>
            <a:ext cx="2660904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Media de la columna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x̄ⱼ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35240" y="2359152"/>
            <a:ext cx="86868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95360" y="1828800"/>
            <a:ext cx="2788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7B3F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05088" y="1938528"/>
            <a:ext cx="2569464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Dato centrado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ẋᵢⱼ = xᵢⱼ - x̄ⱼ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43000" y="3886200"/>
            <a:ext cx="9875520" cy="0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25196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4407408"/>
            <a:ext cx="73152" cy="877824"/>
          </a:xfrm>
          <a:prstGeom prst="rect">
            <a:avLst/>
          </a:prstGeom>
          <a:solidFill>
            <a:srgbClr val="1BC8D9"/>
          </a:solidFill>
          <a:ln w="12700">
            <a:solidFill>
              <a:srgbClr val="1BC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416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¿Por qué centrar?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4782312"/>
            <a:ext cx="251460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La descomposición se interpreta sobre variaciones alrededor del promedio, no sobre el nivel absoluto.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425196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4407408"/>
            <a:ext cx="73152" cy="877824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4416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Qué cambia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782312"/>
            <a:ext cx="251460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Cada columna queda con media cero.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0" y="425196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760" y="4407408"/>
            <a:ext cx="73152" cy="877824"/>
          </a:xfrm>
          <a:prstGeom prst="rect">
            <a:avLst/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4416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Qué se preserva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49640" y="4782312"/>
            <a:ext cx="251460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Se mantiene la estructura de variación y relación entre variables.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2. Factorizar 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La estructura central de la SVD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5087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1B33"/>
                </a:solidFill>
              </a:rPr>
              <a:t>X = U  S  Bᵀ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43000" y="274320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1732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2852928"/>
            <a:ext cx="1929384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n×k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3401568"/>
            <a:ext cx="59436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69080" y="274320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1BC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78808" y="2852928"/>
            <a:ext cx="1929384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n×n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base de filas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37960" y="274320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F6C9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2852928"/>
            <a:ext cx="1929384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n×k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importancia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274320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7B3F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16568" y="2852928"/>
            <a:ext cx="1929384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Bᵀ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k×k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base de variables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50749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Una combinación de direcciones ortogonales ponderadas por su importancia relativa.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matriz 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Direcciones ortonormales en el espacio de las observaciones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45920"/>
            <a:ext cx="3474720" cy="3474720"/>
          </a:xfrm>
          <a:prstGeom prst="ellipse">
            <a:avLst/>
          </a:prstGeom>
          <a:solidFill>
            <a:srgbClr val="F1FBFC"/>
          </a:solidFill>
          <a:ln w="19050">
            <a:solidFill>
              <a:srgbClr val="1BC8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3383280"/>
            <a:ext cx="1051560" cy="-1143000"/>
          </a:xfrm>
          <a:prstGeom prst="line">
            <a:avLst/>
          </a:prstGeom>
          <a:noFill/>
          <a:ln w="38100">
            <a:solidFill>
              <a:srgbClr val="1BC8D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43200" y="3383280"/>
            <a:ext cx="-1143000" cy="-685800"/>
          </a:xfrm>
          <a:prstGeom prst="line">
            <a:avLst/>
          </a:prstGeom>
          <a:noFill/>
          <a:ln w="38100">
            <a:solidFill>
              <a:srgbClr val="7B3FB2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65760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C8D9"/>
                </a:solidFill>
              </a:rPr>
              <a:t>u₁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560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B2"/>
                </a:solidFill>
              </a:rPr>
              <a:t>u₂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74920" y="164592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801368"/>
            <a:ext cx="73152" cy="923544"/>
          </a:xfrm>
          <a:prstGeom prst="rect">
            <a:avLst/>
          </a:prstGeom>
          <a:solidFill>
            <a:srgbClr val="1BC8D9"/>
          </a:solidFill>
          <a:ln w="12700">
            <a:solidFill>
              <a:srgbClr val="1BC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8105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Dimensión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2176272"/>
            <a:ext cx="233172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U tiene tamaño n×n.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64592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801368"/>
            <a:ext cx="73152" cy="923544"/>
          </a:xfrm>
          <a:prstGeom prst="rect">
            <a:avLst/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8105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Ortonormalidad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0" y="2176272"/>
            <a:ext cx="233172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Sus columnas son perpendiculares entre sí y tienen norma 1.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74920" y="3246120"/>
            <a:ext cx="5943600" cy="1417320"/>
          </a:xfrm>
          <a:prstGeom prst="roundRect">
            <a:avLst>
              <a:gd name="adj" fmla="val 5161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3401568"/>
            <a:ext cx="73152" cy="1106424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341071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Propiedad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3776472"/>
            <a:ext cx="544068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UᵀU = I. Esta identidad es la que simplifica la relación entre SVD y XᵀX.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matriz 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Dónde vive la importancia relativa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08760"/>
            <a:ext cx="4709160" cy="3657600"/>
          </a:xfrm>
          <a:prstGeom prst="rect">
            <a:avLst/>
          </a:prstGeom>
          <a:solidFill>
            <a:srgbClr val="FFF9E8"/>
          </a:solidFill>
          <a:ln w="19050">
            <a:solidFill>
              <a:srgbClr val="F6C9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965960"/>
            <a:ext cx="621792" cy="347472"/>
          </a:xfrm>
          <a:prstGeom prst="rect">
            <a:avLst/>
          </a:prstGeom>
          <a:solidFill>
            <a:srgbClr val="FBE6A0"/>
          </a:solidFill>
          <a:ln w="10160">
            <a:solidFill>
              <a:srgbClr val="E5CF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202996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B33"/>
                </a:solidFill>
              </a:rPr>
              <a:t>σ₁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2450592"/>
            <a:ext cx="621792" cy="347472"/>
          </a:xfrm>
          <a:prstGeom prst="rect">
            <a:avLst/>
          </a:prstGeom>
          <a:solidFill>
            <a:srgbClr val="FBE6A0"/>
          </a:solidFill>
          <a:ln w="10160">
            <a:solidFill>
              <a:srgbClr val="E5CF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514600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B33"/>
                </a:solidFill>
              </a:rPr>
              <a:t>σ₂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2935224"/>
            <a:ext cx="621792" cy="347472"/>
          </a:xfrm>
          <a:prstGeom prst="rect">
            <a:avLst/>
          </a:prstGeom>
          <a:solidFill>
            <a:srgbClr val="FBE6A0"/>
          </a:solidFill>
          <a:ln w="10160">
            <a:solidFill>
              <a:srgbClr val="E5CF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99923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B33"/>
                </a:solidFill>
              </a:rPr>
              <a:t>σ₃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3419856"/>
            <a:ext cx="621792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CF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348386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B33"/>
                </a:solidFill>
              </a:rPr>
              <a:t>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4434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7"/>
                </a:solidFill>
              </a:rPr>
              <a:t>resto = 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2423160" cy="118872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755648"/>
            <a:ext cx="73152" cy="877824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Dimensión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130552"/>
            <a:ext cx="192024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S es n×k y puede ser rectangular.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69680" y="1600200"/>
            <a:ext cx="2423160" cy="118872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1755648"/>
            <a:ext cx="73152" cy="877824"/>
          </a:xfrm>
          <a:prstGeom prst="rect">
            <a:avLst/>
          </a:prstGeom>
          <a:solidFill>
            <a:srgbClr val="1BC8D9"/>
          </a:solidFill>
          <a:ln w="12700">
            <a:solidFill>
              <a:srgbClr val="1BC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Valores singulares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9720" y="2130552"/>
            <a:ext cx="192024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σⱼ ≥ 0 y ordenan la contribución de cada dirección.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315468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310128"/>
            <a:ext cx="73152" cy="1243584"/>
          </a:xfrm>
          <a:prstGeom prst="rect">
            <a:avLst/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3192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Conexión espectral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3685032"/>
            <a:ext cx="4617720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Los valores singulares son raíces cuadradas de los autovalores asociados a XᵀX: σⱼ² = λⱼ.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matriz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Direcciones ortonormales en el espacio de las variables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664208"/>
            <a:ext cx="73152" cy="923544"/>
          </a:xfrm>
          <a:prstGeom prst="rect">
            <a:avLst/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673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Dimensión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039112"/>
            <a:ext cx="251460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B tiene tamaño k×k.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127248"/>
            <a:ext cx="73152" cy="923544"/>
          </a:xfrm>
          <a:prstGeom prst="rect">
            <a:avLst/>
          </a:prstGeom>
          <a:solidFill>
            <a:srgbClr val="1BC8D9"/>
          </a:solidFill>
          <a:ln w="12700">
            <a:solidFill>
              <a:srgbClr val="1BC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1363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Contenido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502152"/>
            <a:ext cx="251460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Sus columnas son vectores propios de XᵀX.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443484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590288"/>
            <a:ext cx="73152" cy="923544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5994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Propiedad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965192"/>
            <a:ext cx="251460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BᵀB = 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5989320" cy="4526280"/>
          </a:xfrm>
          <a:prstGeom prst="ellipse">
            <a:avLst/>
          </a:prstGeom>
          <a:solidFill>
            <a:srgbClr val="F7F2FB"/>
          </a:solidFill>
          <a:ln w="12700">
            <a:solidFill>
              <a:srgbClr val="D8C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3749040"/>
            <a:ext cx="1920240" cy="-1417320"/>
          </a:xfrm>
          <a:prstGeom prst="line">
            <a:avLst/>
          </a:prstGeom>
          <a:noFill/>
          <a:ln w="50800">
            <a:solidFill>
              <a:srgbClr val="7B3FB2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765792" y="21945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B2"/>
                </a:solidFill>
              </a:rPr>
              <a:t>b₁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18120" y="3749040"/>
            <a:ext cx="-1417320" cy="-1828800"/>
          </a:xfrm>
          <a:prstGeom prst="line">
            <a:avLst/>
          </a:prstGeom>
          <a:noFill/>
          <a:ln w="50800">
            <a:solidFill>
              <a:srgbClr val="1BC8D9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035040" y="16642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C8D9"/>
                </a:solidFill>
              </a:rPr>
              <a:t>b₂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516636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D"/>
                </a:solidFill>
              </a:rPr>
              <a:t>Nuevos ejes para describir la variación de las características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Ortonormalidad: la pieza que simplifica todo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Perpendicularidad + norma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3017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1BC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38528"/>
            <a:ext cx="2798064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UᵀU = 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017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7B3F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1728" y="1938528"/>
            <a:ext cx="2798064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BᵀB = 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0" y="1828800"/>
            <a:ext cx="3017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F6C9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39328" y="1938528"/>
            <a:ext cx="2798064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SᵀS = diagonal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3246120"/>
            <a:ext cx="3657600" cy="777240"/>
          </a:xfrm>
          <a:prstGeom prst="line">
            <a:avLst/>
          </a:prstGeom>
          <a:noFill/>
          <a:ln w="25400">
            <a:solidFill>
              <a:srgbClr val="9AB1C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738360" y="3246120"/>
            <a:ext cx="-3657600" cy="777240"/>
          </a:xfrm>
          <a:prstGeom prst="line">
            <a:avLst/>
          </a:prstGeom>
          <a:noFill/>
          <a:ln w="25400">
            <a:solidFill>
              <a:srgbClr val="9AB1C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77640" y="3977640"/>
            <a:ext cx="4251960" cy="13716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4133088"/>
            <a:ext cx="73152" cy="106070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4142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Consecuencia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4507992"/>
            <a:ext cx="374904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Cuando calculamos XᵀX, los factores U desaparecen porque UᵀU = I, dejando una descomposición espectral en B y SᵀS.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SVD → PCA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De X = USBᵀ a la estructura espectral de XᵀX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508760"/>
            <a:ext cx="9875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BC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2728" y="1618488"/>
            <a:ext cx="96560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X = U S Bᵀ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80760" y="2176272"/>
            <a:ext cx="0" cy="310896"/>
          </a:xfrm>
          <a:prstGeom prst="line">
            <a:avLst/>
          </a:prstGeom>
          <a:noFill/>
          <a:ln w="25400">
            <a:solidFill>
              <a:srgbClr val="9AB1C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143000" y="2560320"/>
            <a:ext cx="9875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D9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2670048"/>
            <a:ext cx="96560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XᵀX = (USBᵀ)ᵀ(USBᵀ)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3227832"/>
            <a:ext cx="0" cy="310896"/>
          </a:xfrm>
          <a:prstGeom prst="line">
            <a:avLst/>
          </a:prstGeom>
          <a:noFill/>
          <a:ln w="25400">
            <a:solidFill>
              <a:srgbClr val="9AB1C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143000" y="3611880"/>
            <a:ext cx="9875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D9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3721608"/>
            <a:ext cx="96560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XᵀX = B Sᵀ Uᵀ U S Bᵀ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4279392"/>
            <a:ext cx="0" cy="310896"/>
          </a:xfrm>
          <a:prstGeom prst="line">
            <a:avLst/>
          </a:prstGeom>
          <a:noFill/>
          <a:ln w="25400">
            <a:solidFill>
              <a:srgbClr val="9AB1C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143000" y="4663440"/>
            <a:ext cx="9875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7B3F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2728" y="4773168"/>
            <a:ext cx="96560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XᵀX = B (SᵀS) Bᵀ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72600" y="516636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51937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PCA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Valores singulares y autovalores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La relación cuantitativa central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71800" y="155448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3FB2"/>
                </a:solidFill>
              </a:rPr>
              <a:t>σⱼ² = λⱼ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990088"/>
            <a:ext cx="73152" cy="1106424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999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σⱼ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3364992"/>
            <a:ext cx="265176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Valor singular: magnitud de una dirección en la SVD.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28346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990088"/>
            <a:ext cx="73152" cy="1106424"/>
          </a:xfrm>
          <a:prstGeom prst="rect">
            <a:avLst/>
          </a:prstGeom>
          <a:solidFill>
            <a:srgbClr val="1BC8D9"/>
          </a:solidFill>
          <a:ln w="12700">
            <a:solidFill>
              <a:srgbClr val="1BC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999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λⱼ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364992"/>
            <a:ext cx="265176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Autovalor de XᵀX: varianza asociada a esa dirección.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8346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990088"/>
            <a:ext cx="73152" cy="1106424"/>
          </a:xfrm>
          <a:prstGeom prst="rect">
            <a:avLst/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999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Orden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3364992"/>
            <a:ext cx="265176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Direcciones con mayor σⱼ (y mayor λⱼ) son las más informativas.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20240" y="470916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4864608"/>
            <a:ext cx="73152" cy="60350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487375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Para recordar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40280" y="5239512"/>
            <a:ext cx="78181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PCA y SVD no son “lo mismo”, pero comparten la misma geometría de direcciones principales cuando se aplican sobre datos centrados.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Chequeo de dimensiones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Una herramienta simple para no perderse en el álgebra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508760"/>
            <a:ext cx="9738360" cy="512064"/>
          </a:xfrm>
          <a:prstGeom prst="rect">
            <a:avLst/>
          </a:prstGeom>
          <a:solidFill>
            <a:srgbClr val="071B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6093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Matriz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0" y="16093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Dimensión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16093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2130552"/>
            <a:ext cx="9738360" cy="512064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231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0" y="22311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n×k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22311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Datos centrados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34440" y="2752344"/>
            <a:ext cx="9738360" cy="512064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852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U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0" y="2852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n×n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8529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Base en filas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34440" y="3374136"/>
            <a:ext cx="9738360" cy="512064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474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3474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n×k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Valores singulares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234440" y="3995928"/>
            <a:ext cx="9738360" cy="512064"/>
          </a:xfrm>
          <a:prstGeom prst="rect">
            <a:avLst/>
          </a:prstGeom>
          <a:solidFill>
            <a:srgbClr val="EEF4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40965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0" y="4096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k×k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0" y="40965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Base en variables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234440" y="4617720"/>
            <a:ext cx="9738360" cy="512064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47183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XᵀX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97680" y="47183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k×k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0" y="471830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Estructura espectral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Intuición: reconstruir con menos direcciones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La compresión aparece al conservar solo los términos más importantes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28800"/>
            <a:ext cx="5486400" cy="347472"/>
          </a:xfrm>
          <a:prstGeom prst="rect">
            <a:avLst/>
          </a:prstGeom>
          <a:solidFill>
            <a:srgbClr val="1BC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01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σ1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2514600"/>
            <a:ext cx="3401568" cy="347472"/>
          </a:xfrm>
          <a:prstGeom prst="rect">
            <a:avLst/>
          </a:prstGeom>
          <a:solidFill>
            <a:srgbClr val="1BC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877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σ2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3200400"/>
            <a:ext cx="1865376" cy="347472"/>
          </a:xfrm>
          <a:prstGeom prst="rect">
            <a:avLst/>
          </a:prstGeom>
          <a:solidFill>
            <a:srgbClr val="B8C9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735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σ3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3886200"/>
            <a:ext cx="987552" cy="347472"/>
          </a:xfrm>
          <a:prstGeom prst="rect">
            <a:avLst/>
          </a:prstGeom>
          <a:solidFill>
            <a:srgbClr val="B8C9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9593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σ4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4572000"/>
            <a:ext cx="438912" cy="347472"/>
          </a:xfrm>
          <a:prstGeom prst="rect">
            <a:avLst/>
          </a:prstGeom>
          <a:solidFill>
            <a:srgbClr val="B8C9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6451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σ5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5532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7"/>
                </a:solidFill>
              </a:rPr>
              <a:t>Valores singulares decrecientes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1783080"/>
            <a:ext cx="4434840" cy="1143000"/>
          </a:xfrm>
          <a:prstGeom prst="roundRect">
            <a:avLst>
              <a:gd name="adj" fmla="val 6400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938528"/>
            <a:ext cx="73152" cy="832104"/>
          </a:xfrm>
          <a:prstGeom prst="rect">
            <a:avLst/>
          </a:prstGeom>
          <a:solidFill>
            <a:srgbClr val="1BC8D9"/>
          </a:solidFill>
          <a:ln w="12700">
            <a:solidFill>
              <a:srgbClr val="1BC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947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Conservar pocos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2313432"/>
            <a:ext cx="393192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Aproxima X usando las direcciones de mayor importancia.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29400" y="3246120"/>
            <a:ext cx="4434840" cy="1143000"/>
          </a:xfrm>
          <a:prstGeom prst="roundRect">
            <a:avLst>
              <a:gd name="adj" fmla="val 6400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3401568"/>
            <a:ext cx="73152" cy="832104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410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Perder poco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3776472"/>
            <a:ext cx="393192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La calidad depende de cuánto peso concentran los primeros valores singulares.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29400" y="4709160"/>
            <a:ext cx="4434840" cy="1143000"/>
          </a:xfrm>
          <a:prstGeom prst="roundRect">
            <a:avLst>
              <a:gd name="adj" fmla="val 6400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4864608"/>
            <a:ext cx="73152" cy="832104"/>
          </a:xfrm>
          <a:prstGeom prst="rect">
            <a:avLst/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4873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Aplicación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5239512"/>
            <a:ext cx="393192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Base de compresión, reducción de dimensión y representación latente.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PCA vs SVD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Misma geometría, distinto punto de partida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08760"/>
            <a:ext cx="5074920" cy="4434840"/>
          </a:xfrm>
          <a:prstGeom prst="roundRect">
            <a:avLst/>
          </a:prstGeom>
          <a:solidFill>
            <a:srgbClr val="F1FBFC"/>
          </a:solidFill>
          <a:ln w="19050">
            <a:solidFill>
              <a:srgbClr val="1BC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C8D9"/>
                </a:solidFill>
              </a:rPr>
              <a:t>PCA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2468880"/>
            <a:ext cx="420624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7324D"/>
                </a:solidFill>
              </a:rPr>
              <a:t>Busca componentes que maximizan varianza.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7324D"/>
                </a:solidFill>
              </a:rPr>
              <a:t>Se interpreta con autovectores y autovalores de una matriz de covarianza / XᵀX.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7324D"/>
                </a:solidFill>
              </a:rPr>
              <a:t>Entrega direcciones principales y varianza explicada.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074920" cy="4434840"/>
          </a:xfrm>
          <a:prstGeom prst="roundRect">
            <a:avLst/>
          </a:prstGeom>
          <a:solidFill>
            <a:srgbClr val="F7F2FB"/>
          </a:solidFill>
          <a:ln w="19050">
            <a:solidFill>
              <a:srgbClr val="7B3F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3FB2"/>
                </a:solidFill>
              </a:rPr>
              <a:t>SVD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2468880"/>
            <a:ext cx="420624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7324D"/>
                </a:solidFill>
              </a:rPr>
              <a:t>Factoriza directamente la matriz X.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7324D"/>
                </a:solidFill>
              </a:rPr>
              <a:t>Entrega U, S y Bᵀ.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7324D"/>
                </a:solidFill>
              </a:rPr>
              <a:t>S² contiene los autovalores que PCA usa para ordenar la varianza.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5321808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53492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CONEXIÓN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y alertas frecuentes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Qué revisar antes de presentar o implementar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44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1435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Confundir “ortogonal” con “ortonormal”.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1435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287"/>
                </a:solidFill>
              </a:rPr>
              <a:t>Ortonormal = perpendicular + norma 1.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020824"/>
            <a:ext cx="10607040" cy="0"/>
          </a:xfrm>
          <a:prstGeom prst="line">
            <a:avLst/>
          </a:prstGeom>
          <a:noFill/>
          <a:ln w="10160">
            <a:solidFill>
              <a:srgbClr val="E5EC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359152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865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Olvidar centrar X.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2377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287"/>
                </a:solidFill>
              </a:rPr>
              <a:t>El video lo establece como paso previo para las aplicaciones.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62656"/>
            <a:ext cx="10607040" cy="0"/>
          </a:xfrm>
          <a:prstGeom prst="line">
            <a:avLst/>
          </a:prstGeom>
          <a:noFill/>
          <a:ln w="10160">
            <a:solidFill>
              <a:srgbClr val="E5EC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00984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284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3319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Decir que S es siempre cuadrada.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33192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287"/>
                </a:solidFill>
              </a:rPr>
              <a:t>Puede ser rectangular n×k.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904488"/>
            <a:ext cx="10607040" cy="0"/>
          </a:xfrm>
          <a:prstGeom prst="line">
            <a:avLst/>
          </a:prstGeom>
          <a:noFill/>
          <a:ln w="10160">
            <a:solidFill>
              <a:srgbClr val="E5EC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42816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702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261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Confundir σ con λ.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426110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287"/>
                </a:solidFill>
              </a:rPr>
              <a:t>La relación es σ² = λ.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4846320"/>
            <a:ext cx="10607040" cy="0"/>
          </a:xfrm>
          <a:prstGeom prst="line">
            <a:avLst/>
          </a:prstGeom>
          <a:noFill/>
          <a:ln w="10160">
            <a:solidFill>
              <a:srgbClr val="E5EC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184648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F09A3E"/>
          </a:solidFill>
          <a:ln w="12700">
            <a:solidFill>
              <a:srgbClr val="F09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212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17320" y="52029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No revisar dimensiones/rango.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52029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287"/>
                </a:solidFill>
              </a:rPr>
              <a:t>La afirmación k&gt;n + columnas independientes requiere verificación.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" y="5788152"/>
            <a:ext cx="10607040" cy="0"/>
          </a:xfrm>
          <a:prstGeom prst="line">
            <a:avLst/>
          </a:prstGeom>
          <a:noFill/>
          <a:ln w="10160">
            <a:solidFill>
              <a:srgbClr val="E5EC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repaso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10 preguntas rápidas para comprobar comprensión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5212080" cy="713232"/>
          </a:xfrm>
          <a:prstGeom prst="roundRect">
            <a:avLst/>
          </a:prstGeom>
          <a:solidFill>
            <a:srgbClr val="EEF4F8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</a:rPr>
              <a:t>1. ¿Qué dimensión tiene U?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731520" y="2350008"/>
            <a:ext cx="5212080" cy="713232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328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</a:rPr>
              <a:t>2. ¿Qué representa B?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31520" y="3282696"/>
            <a:ext cx="5212080" cy="713232"/>
          </a:xfrm>
          <a:prstGeom prst="roundRect">
            <a:avLst/>
          </a:prstGeom>
          <a:solidFill>
            <a:srgbClr val="EEF4F8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655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</a:rPr>
              <a:t>3. ¿Qué propiedad cumple UᵀU?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31520" y="4215384"/>
            <a:ext cx="5212080" cy="713232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39826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</a:rPr>
              <a:t>4. ¿Dónde aparecen los valores singulares?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31520" y="5148072"/>
            <a:ext cx="5212080" cy="713232"/>
          </a:xfrm>
          <a:prstGeom prst="roundRect">
            <a:avLst/>
          </a:prstGeom>
          <a:solidFill>
            <a:srgbClr val="EEF4F8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3309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</a:rPr>
              <a:t>5. ¿Qué relación existe entre σ y λ?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355080" y="1417320"/>
            <a:ext cx="5212080" cy="713232"/>
          </a:xfrm>
          <a:prstGeom prst="roundRect">
            <a:avLst/>
          </a:prstGeom>
          <a:solidFill>
            <a:srgbClr val="EEF4F8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6002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</a:rPr>
              <a:t>6. ¿Qué matriz se analiza para conectar SVD con PCA?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355080" y="2350008"/>
            <a:ext cx="5212080" cy="713232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5328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</a:rPr>
              <a:t>7. ¿Por qué S puede ser rectangular?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355080" y="3282696"/>
            <a:ext cx="5212080" cy="713232"/>
          </a:xfrm>
          <a:prstGeom prst="roundRect">
            <a:avLst/>
          </a:prstGeom>
          <a:solidFill>
            <a:srgbClr val="EEF4F8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4655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</a:rPr>
              <a:t>8. ¿Qué significa ortonormal?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355080" y="4215384"/>
            <a:ext cx="5212080" cy="713232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39826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</a:rPr>
              <a:t>9. ¿Qué información ordenan los valores singulares?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355080" y="5148072"/>
            <a:ext cx="5212080" cy="713232"/>
          </a:xfrm>
          <a:prstGeom prst="roundRect">
            <a:avLst/>
          </a:prstGeom>
          <a:solidFill>
            <a:srgbClr val="EEF4F8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53309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</a:rPr>
              <a:t>10. ¿Qué condición de la transcripción conviene verificar?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taller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287"/>
                </a:solidFill>
              </a:rPr>
              <a:t>Reconstruye la lógica de SVD sin calcular números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25400">
            <a:solidFill>
              <a:srgbClr val="1BC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72768"/>
            <a:ext cx="73152" cy="832104"/>
          </a:xfrm>
          <a:prstGeom prst="rect">
            <a:avLst/>
          </a:prstGeom>
          <a:solidFill>
            <a:srgbClr val="1BC8D9"/>
          </a:solidFill>
          <a:ln w="12700">
            <a:solidFill>
              <a:srgbClr val="1BC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5819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Enunciado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947672"/>
            <a:ext cx="288036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Tienes una matriz X centrada con n observaciones y k variables. Se obtiene X = USBᵀ.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990088"/>
            <a:ext cx="73152" cy="1655064"/>
          </a:xfrm>
          <a:prstGeom prst="rect">
            <a:avLst/>
          </a:prstGeom>
          <a:solidFill>
            <a:srgbClr val="7B3FB2"/>
          </a:solidFill>
          <a:ln w="12700">
            <a:solidFill>
              <a:srgbClr val="7B3F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992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Tarea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364992"/>
            <a:ext cx="2880360" cy="1307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1) Indica dimensión de U, S y B.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2) Explica qué representa cada una.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3) Deriva conceptualmente XᵀX.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4) Relaciona SᵀS con los autovalores.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6492240" cy="3383280"/>
          </a:xfrm>
          <a:prstGeom prst="roundRect">
            <a:avLst>
              <a:gd name="adj" fmla="val 2162"/>
            </a:avLst>
          </a:prstGeom>
          <a:solidFill>
            <a:srgbClr val="F5F8FB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572768"/>
            <a:ext cx="73152" cy="3072384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58191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Solución esperada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947672"/>
            <a:ext cx="5989320" cy="2724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U: n×n, base ortonormal en observaciones.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S: n×k, diagonal/rectangular con valores singulares.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B: k×k, vectores propios de XᵀX.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XᵀX = B(SᵀS)Bᵀ porque UᵀU = I. Así, los elementos diagonales de SᵀS son σⱼ², que corresponden a λⱼ.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98280" y="525780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5285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AUTOEVALÚA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</a:rPr>
              <a:t>MIID 4303  •  Aprendizaje No Supervisado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06424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3FB2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visual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8D9"/>
                </a:solidFill>
              </a:rPr>
              <a:t>SVD en 6 ideas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310896" cy="310896"/>
          </a:xfrm>
          <a:prstGeom prst="ellipse">
            <a:avLst/>
          </a:prstGeom>
          <a:solidFill>
            <a:srgbClr val="1BC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09928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Centrar X antes de analizarla.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822960" y="2267712"/>
            <a:ext cx="310896" cy="310896"/>
          </a:xfrm>
          <a:prstGeom prst="ellipse">
            <a:avLst/>
          </a:prstGeom>
          <a:solidFill>
            <a:srgbClr val="1BC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3172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25880" y="22677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Factorizar: X = U S Bᵀ.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22960" y="2889504"/>
            <a:ext cx="310896" cy="310896"/>
          </a:xfrm>
          <a:prstGeom prst="ellipse">
            <a:avLst/>
          </a:prstGeom>
          <a:solidFill>
            <a:srgbClr val="1BC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95351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25880" y="288950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U y B son ortonormales.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22960" y="3511296"/>
            <a:ext cx="310896" cy="310896"/>
          </a:xfrm>
          <a:prstGeom prst="ellipse">
            <a:avLst/>
          </a:prstGeom>
          <a:solidFill>
            <a:srgbClr val="7B3F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57530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25880" y="35112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S concentra los valores singulares.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22960" y="4133088"/>
            <a:ext cx="310896" cy="310896"/>
          </a:xfrm>
          <a:prstGeom prst="ellipse">
            <a:avLst/>
          </a:prstGeom>
          <a:solidFill>
            <a:srgbClr val="7B3F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19709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25880" y="41330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σⱼ² = λⱼ.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822960" y="4754880"/>
            <a:ext cx="310896" cy="310896"/>
          </a:xfrm>
          <a:prstGeom prst="ellipse">
            <a:avLst/>
          </a:prstGeom>
          <a:solidFill>
            <a:srgbClr val="7B3F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818888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25880" y="47548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XᵀX = B(SᵀS)Bᵀ conecta SVD con PCA.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629400" y="1325880"/>
            <a:ext cx="4663440" cy="4526280"/>
          </a:xfrm>
          <a:prstGeom prst="roundRect">
            <a:avLst/>
          </a:prstGeom>
          <a:solidFill>
            <a:srgbClr val="0D2748"/>
          </a:solidFill>
          <a:ln w="15240">
            <a:solidFill>
              <a:srgbClr val="345A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C945"/>
                </a:solidFill>
              </a:rPr>
              <a:t>Checklist antes del quiz / taller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95160" y="2331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C8D9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60920" y="2313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</a:rPr>
              <a:t>Puedo explicar qué representa U.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995160" y="27706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C8D9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60920" y="2752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</a:rPr>
              <a:t>Puedo explicar qué representa S.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6995160" y="32095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C8D9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60920" y="31912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</a:rPr>
              <a:t>Puedo explicar qué representa B.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6995160" y="36484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C8D9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60920" y="3630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</a:rPr>
              <a:t>Sé por qué UᵀU = I importa.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6995160" y="40873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C8D9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60920" y="4069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</a:rPr>
              <a:t>Sé relacionar σ² con λ.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6995160" y="45262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C8D9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60920" y="4507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</a:rPr>
              <a:t>Puedo derivar XᵀX conceptualmente.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6995160" y="49651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C8D9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60920" y="4946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</a:rPr>
              <a:t>Sé detectar el problema de dimensiones/rango.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685800" y="62819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1D2"/>
                </a:solidFill>
              </a:rPr>
              <a:t>Fuente principal: transcripción del video cargado por el estudiante.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Universidad de los Andes - MIAD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visual - SVD y relación con PCA</dc:title>
  <dc:subject>MIID 4303 - Aprendizaje No Supervisado</dc:subject>
  <dc:creator>OpenAI</dc:creator>
  <cp:lastModifiedBy>OpenAI</cp:lastModifiedBy>
  <cp:revision>1</cp:revision>
  <dcterms:created xsi:type="dcterms:W3CDTF">2026-08-14T02:42:42Z</dcterms:created>
  <dcterms:modified xsi:type="dcterms:W3CDTF">2026-08-14T02:42:42Z</dcterms:modified>
</cp:coreProperties>
</file>