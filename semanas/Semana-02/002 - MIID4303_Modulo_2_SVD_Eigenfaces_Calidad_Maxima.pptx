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3383280" cy="36576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49808"/>
            <a:ext cx="2377440" cy="36576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21040" y="5669280"/>
            <a:ext cx="2560320" cy="36576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685800"/>
            <a:ext cx="502920" cy="502920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0" y="960120"/>
            <a:ext cx="320040" cy="320040"/>
          </a:xfrm>
          <a:prstGeom prst="ellipse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72600" y="1115568"/>
            <a:ext cx="201168" cy="201168"/>
          </a:xfrm>
          <a:prstGeom prst="ellipse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8686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6C7DD"/>
                </a:solidFill>
                <a:latin typeface="Aptos Display"/>
              </a:rPr>
              <a:t>MIID 4303 · MÓDULO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987552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Aptos Display"/>
              </a:rPr>
              <a:t>SVD, Eigenfaces
y reconocimiento facial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89611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D0DEEB"/>
                </a:solidFill>
                <a:latin typeface="Aptos"/>
              </a:rPr>
              <a:t>Puente entre PCA y SVD · reducción de dimensión · reconstrucción · clasificación sin leakage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9966960" cy="960120"/>
          </a:xfrm>
          <a:prstGeom prst="roundRect">
            <a:avLst/>
          </a:prstGeom>
          <a:solidFill>
            <a:srgbClr val="0A2D52"/>
          </a:solidFill>
          <a:ln w="12700">
            <a:solidFill>
              <a:srgbClr val="234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102352"/>
            <a:ext cx="93268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Display"/>
              </a:rPr>
              <a:t>Idea guía: aprender patrones comunes de variación para representar una imagen con muchas menos dimensiones.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17920"/>
            <a:ext cx="5029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A6BED3"/>
                </a:solidFill>
                <a:latin typeface="Aptos"/>
              </a:rPr>
              <a:t>Guía de estudio visual · Calidad máxima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RUTA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1C2530"/>
                </a:solidFill>
                <a:latin typeface="Aptos Display"/>
              </a:rPr>
              <a:t>De PCA a un sistema de reconocimiento facial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36576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5E6D7D"/>
                </a:solidFill>
                <a:latin typeface="Aptos Display"/>
              </a:rPr>
              <a:t>02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7" y="2487168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C2530"/>
                </a:solidFill>
                <a:latin typeface="Aptos Display"/>
              </a:rPr>
              <a:t>PCA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880360"/>
            <a:ext cx="1188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5E6D7D"/>
                </a:solidFill>
                <a:latin typeface="Aptos"/>
              </a:rPr>
              <a:t>máxima varianza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25880" y="2084831"/>
            <a:ext cx="1325880" cy="0"/>
          </a:xfrm>
          <a:prstGeom prst="line">
            <a:avLst/>
          </a:prstGeom>
          <a:ln w="19050">
            <a:solidFill>
              <a:srgbClr val="B4C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697480" y="1828800"/>
            <a:ext cx="502920" cy="502920"/>
          </a:xfrm>
          <a:prstGeom prst="ellipse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1901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2888" y="2487168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C2530"/>
                </a:solidFill>
                <a:latin typeface="Aptos Display"/>
              </a:rPr>
              <a:t>SVD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8" y="2880360"/>
            <a:ext cx="1188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5E6D7D"/>
                </a:solidFill>
                <a:latin typeface="Aptos"/>
              </a:rPr>
              <a:t>factorización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46120" y="2084831"/>
            <a:ext cx="1325880" cy="0"/>
          </a:xfrm>
          <a:prstGeom prst="line">
            <a:avLst/>
          </a:prstGeom>
          <a:ln w="19050">
            <a:solidFill>
              <a:srgbClr val="B4C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617720" y="1828800"/>
            <a:ext cx="502920" cy="502920"/>
          </a:xfrm>
          <a:prstGeom prst="ellipse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901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2487168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C2530"/>
                </a:solidFill>
                <a:latin typeface="Aptos Display"/>
              </a:rPr>
              <a:t>Eigenfaces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2880360"/>
            <a:ext cx="1188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5E6D7D"/>
                </a:solidFill>
                <a:latin typeface="Aptos"/>
              </a:rPr>
              <a:t>patrones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166359" y="2084831"/>
            <a:ext cx="1325881" cy="0"/>
          </a:xfrm>
          <a:prstGeom prst="line">
            <a:avLst/>
          </a:prstGeom>
          <a:ln w="19050">
            <a:solidFill>
              <a:srgbClr val="B4C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537960" y="1828800"/>
            <a:ext cx="502920" cy="502920"/>
          </a:xfrm>
          <a:prstGeom prst="ellipse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901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2487168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C2530"/>
                </a:solidFill>
                <a:latin typeface="Aptos Display"/>
              </a:rPr>
              <a:t>Scores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2880360"/>
            <a:ext cx="1188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5E6D7D"/>
                </a:solidFill>
                <a:latin typeface="Aptos"/>
              </a:rPr>
              <a:t>coordenadas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86600" y="2084831"/>
            <a:ext cx="1325880" cy="0"/>
          </a:xfrm>
          <a:prstGeom prst="line">
            <a:avLst/>
          </a:prstGeom>
          <a:ln w="19050">
            <a:solidFill>
              <a:srgbClr val="B4C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458200" y="1828800"/>
            <a:ext cx="502920" cy="502920"/>
          </a:xfrm>
          <a:prstGeom prst="ellipse">
            <a:avLst/>
          </a:prstGeom>
          <a:solidFill>
            <a:srgbClr val="AA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1901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2487168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C2530"/>
                </a:solidFill>
                <a:latin typeface="Aptos Display"/>
              </a:rPr>
              <a:t>Clasificador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0727" y="2880360"/>
            <a:ext cx="1188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5E6D7D"/>
                </a:solidFill>
                <a:latin typeface="Aptos"/>
              </a:rPr>
              <a:t>decisión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006840" y="2084831"/>
            <a:ext cx="1325879" cy="0"/>
          </a:xfrm>
          <a:prstGeom prst="line">
            <a:avLst/>
          </a:prstGeom>
          <a:ln w="19050">
            <a:solidFill>
              <a:srgbClr val="B4C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0378440" y="1828800"/>
            <a:ext cx="502920" cy="502920"/>
          </a:xfrm>
          <a:prstGeom prst="ellipse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78440" y="1901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13848" y="2487168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C2530"/>
                </a:solidFill>
                <a:latin typeface="Aptos Display"/>
              </a:rPr>
              <a:t>Métricas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30967" y="2880360"/>
            <a:ext cx="1188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5E6D7D"/>
                </a:solidFill>
                <a:latin typeface="Aptos"/>
              </a:rPr>
              <a:t>trade-offs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402336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" y="4023360"/>
            <a:ext cx="73152" cy="1417320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4187952"/>
            <a:ext cx="4800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Qué debes dominar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4617720"/>
            <a:ext cx="4800600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Por qué centrar · qué representa cada matriz de la SVD · relación σ² = λ · cómo elegir k · cómo evitar leakage.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402336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72200" y="4023360"/>
            <a:ext cx="73152" cy="1417320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187952"/>
            <a:ext cx="4800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Qué debes poder defender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617720"/>
            <a:ext cx="4800600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Por qué una métrica puede engañar en datos desbalanceados y cómo el costo de falsos positivos/negativos cambia la recomendación.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Aprendizaje No Supervisado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2720" y="6473952"/>
            <a:ext cx="1188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5E6D7D"/>
                </a:solidFill>
                <a:latin typeface="Aptos"/>
              </a:rPr>
              <a:t>Guía visual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PUENTE CONCEPTUAL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1C2530"/>
                </a:solidFill>
                <a:latin typeface="Aptos Display"/>
              </a:rPr>
              <a:t>PCA: reproyectar para conservar información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36576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5E6D7D"/>
                </a:solidFill>
                <a:latin typeface="Aptos Display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73152" cy="1371600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56232"/>
            <a:ext cx="306323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Combinación lineal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3063239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Cada componente principal mezcla las variables originales mediante pesos (loadings).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916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691640"/>
            <a:ext cx="73152" cy="1371600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856232"/>
            <a:ext cx="306323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Máxima varianza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86000"/>
            <a:ext cx="3063239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PC1 captura la mayor variación posible; PC2 captura la mayor variación restante.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69164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1856" y="1691640"/>
            <a:ext cx="73152" cy="1371600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0456" y="1856232"/>
            <a:ext cx="306323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Ortogonalidad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2286000"/>
            <a:ext cx="3063239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Los componentes se construyen ortogonales: nuevas direcciones sin información redundante.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57600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 Display"/>
              </a:rPr>
              <a:t>Intuición geométrica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069080"/>
            <a:ext cx="49377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8720" y="5212080"/>
            <a:ext cx="100584" cy="100584"/>
          </a:xfrm>
          <a:prstGeom prst="ellipse">
            <a:avLst/>
          </a:prstGeom>
          <a:solidFill>
            <a:srgbClr val="0A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645920" y="5029200"/>
            <a:ext cx="100584" cy="100584"/>
          </a:xfrm>
          <a:prstGeom prst="ellipse">
            <a:avLst/>
          </a:prstGeom>
          <a:solidFill>
            <a:srgbClr val="0A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4800600"/>
            <a:ext cx="100584" cy="100584"/>
          </a:xfrm>
          <a:prstGeom prst="ellipse">
            <a:avLst/>
          </a:prstGeom>
          <a:solidFill>
            <a:srgbClr val="0A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560320" y="4572000"/>
            <a:ext cx="100584" cy="100584"/>
          </a:xfrm>
          <a:prstGeom prst="ellipse">
            <a:avLst/>
          </a:prstGeom>
          <a:solidFill>
            <a:srgbClr val="0A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108960" y="4370832"/>
            <a:ext cx="100584" cy="100584"/>
          </a:xfrm>
          <a:prstGeom prst="ellipse">
            <a:avLst/>
          </a:prstGeom>
          <a:solidFill>
            <a:srgbClr val="0A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57600" y="4251960"/>
            <a:ext cx="100584" cy="100584"/>
          </a:xfrm>
          <a:prstGeom prst="ellipse">
            <a:avLst/>
          </a:prstGeom>
          <a:solidFill>
            <a:srgbClr val="0A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06240" y="4069080"/>
            <a:ext cx="100584" cy="100584"/>
          </a:xfrm>
          <a:prstGeom prst="ellipse">
            <a:avLst/>
          </a:prstGeom>
          <a:solidFill>
            <a:srgbClr val="0A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3440" y="3977639"/>
            <a:ext cx="100584" cy="100584"/>
          </a:xfrm>
          <a:prstGeom prst="ellipse">
            <a:avLst/>
          </a:prstGeom>
          <a:solidFill>
            <a:srgbClr val="0A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914400" y="3822191"/>
            <a:ext cx="4343400" cy="1682497"/>
          </a:xfrm>
          <a:prstGeom prst="line">
            <a:avLst/>
          </a:prstGeom>
          <a:ln w="31750">
            <a:solidFill>
              <a:srgbClr val="16C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291840" y="5166360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6C7DD"/>
                </a:solidFill>
                <a:latin typeface="Aptos Display"/>
              </a:rPr>
              <a:t>dirección de mayor varianza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3794760"/>
            <a:ext cx="53949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80760" y="3794760"/>
            <a:ext cx="73152" cy="1920240"/>
          </a:xfrm>
          <a:prstGeom prst="rect">
            <a:avLst/>
          </a:prstGeom>
          <a:solidFill>
            <a:srgbClr val="AA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9352"/>
            <a:ext cx="4983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Aplicación del taller 1 → taller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389120"/>
            <a:ext cx="4983480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La semana anterior, PCA resumía variables de ciudades. Ahora la misma lógica de “encontrar direcciones informativas” se aplica a miles de píxeles por imagen.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Aprendizaje No Supervisado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6473952"/>
            <a:ext cx="1188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5E6D7D"/>
                </a:solidFill>
                <a:latin typeface="Aptos"/>
              </a:rPr>
              <a:t>Guía visual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ÁLGEBRA LINEAL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1C2530"/>
                </a:solidFill>
                <a:latin typeface="Aptos Display"/>
              </a:rPr>
              <a:t>¿Por qué SVD es el siguiente paso?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36576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5E6D7D"/>
                </a:solidFill>
                <a:latin typeface="Aptos Display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3749039" cy="1097280"/>
          </a:xfrm>
          <a:prstGeom prst="roundRect">
            <a:avLst/>
          </a:prstGeom>
          <a:solidFill>
            <a:srgbClr val="EBF4F9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34747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C2530"/>
                </a:solidFill>
                <a:latin typeface="Aptos Display"/>
              </a:rPr>
              <a:t>X = U Σ Vᵀ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3383279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30" b="0">
                <a:solidFill>
                  <a:srgbClr val="5E6D7D"/>
                </a:solidFill>
                <a:latin typeface="Aptos"/>
              </a:rPr>
              <a:t>Toda matriz real puede factorizarse; no necesita ser cuadrada, invertible ni simétrica.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737360"/>
            <a:ext cx="2926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0" y="1737360"/>
            <a:ext cx="73152" cy="1097280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901952"/>
            <a:ext cx="2514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Más general que espectral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331720"/>
            <a:ext cx="2514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La descomposición espectral exige una matriz cuadrada; SVD trabaja directamente sobre 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737360"/>
            <a:ext cx="3383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737360"/>
            <a:ext cx="73152" cy="1097280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01952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Computacionalmente útil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31720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Permite operar con bases ortonormales y matrices diagonales, evitando inversiones costosas.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4612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 Display"/>
              </a:rPr>
              <a:t>Chequeo de dimensiones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840480"/>
            <a:ext cx="1965960" cy="1005840"/>
          </a:xfrm>
          <a:prstGeom prst="roundRect">
            <a:avLst/>
          </a:prstGeom>
          <a:solidFill>
            <a:srgbClr val="EBF4F9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77639"/>
            <a:ext cx="1965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A2D52"/>
                </a:solidFill>
                <a:latin typeface="Aptos Display"/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70832"/>
            <a:ext cx="1965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5E6D7D"/>
                </a:solidFill>
                <a:latin typeface="Aptos Display"/>
              </a:rPr>
              <a:t>n × 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9504" y="4133087"/>
            <a:ext cx="320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5E6D7D"/>
                </a:solidFill>
                <a:latin typeface="Aptos Display"/>
              </a:rPr>
              <a:t>=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1880" y="3840480"/>
            <a:ext cx="1965960" cy="1005840"/>
          </a:xfrm>
          <a:prstGeom prst="roundRect">
            <a:avLst/>
          </a:prstGeom>
          <a:solidFill>
            <a:srgbClr val="EBF4F9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1880" y="3977639"/>
            <a:ext cx="1965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16C7DD"/>
                </a:solidFill>
                <a:latin typeface="Aptos Display"/>
              </a:rPr>
              <a:t>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370832"/>
            <a:ext cx="1965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5E6D7D"/>
                </a:solidFill>
                <a:latin typeface="Aptos Display"/>
              </a:rPr>
              <a:t>n × 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86984" y="4133087"/>
            <a:ext cx="320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5E6D7D"/>
                </a:solidFill>
                <a:latin typeface="Aptos Display"/>
              </a:rPr>
              <a:t>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840480"/>
            <a:ext cx="1965960" cy="1005840"/>
          </a:xfrm>
          <a:prstGeom prst="roundRect">
            <a:avLst/>
          </a:prstGeom>
          <a:solidFill>
            <a:srgbClr val="EBF4F9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977639"/>
            <a:ext cx="1965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71429B"/>
                </a:solidFill>
                <a:latin typeface="Aptos Display"/>
              </a:rPr>
              <a:t>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370832"/>
            <a:ext cx="1965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5E6D7D"/>
                </a:solidFill>
                <a:latin typeface="Aptos Display"/>
              </a:rPr>
              <a:t>k × 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4133087"/>
            <a:ext cx="320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5E6D7D"/>
                </a:solidFill>
                <a:latin typeface="Aptos Display"/>
              </a:rPr>
              <a:t>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3840480"/>
            <a:ext cx="1965960" cy="1005840"/>
          </a:xfrm>
          <a:prstGeom prst="roundRect">
            <a:avLst/>
          </a:prstGeom>
          <a:solidFill>
            <a:srgbClr val="EBF4F9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3977639"/>
            <a:ext cx="1965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EB892C"/>
                </a:solidFill>
                <a:latin typeface="Aptos Display"/>
              </a:rPr>
              <a:t>Vᵀ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370832"/>
            <a:ext cx="1965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5E6D7D"/>
                </a:solidFill>
                <a:latin typeface="Aptos Display"/>
              </a:rPr>
              <a:t>k × 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5074920"/>
            <a:ext cx="19202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71429B"/>
                </a:solidFill>
                <a:latin typeface="Aptos Display"/>
              </a:rPr>
              <a:t>k = min(n,p)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Aprendizaje No Supervisado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6473952"/>
            <a:ext cx="1188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5E6D7D"/>
                </a:solidFill>
                <a:latin typeface="Aptos"/>
              </a:rPr>
              <a:t>Guía visual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DATOS DE IMÁGENES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1C2530"/>
                </a:solidFill>
                <a:latin typeface="Aptos Display"/>
              </a:rPr>
              <a:t>Del rostro a una matriz de 400 × 4096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36576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5E6D7D"/>
                </a:solidFill>
                <a:latin typeface="Aptos Display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312724" cy="312724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432" y="1828800"/>
            <a:ext cx="312724" cy="312724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17904" y="1828800"/>
            <a:ext cx="312724" cy="312724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65376" y="1828800"/>
            <a:ext cx="312724" cy="312724"/>
          </a:xfrm>
          <a:prstGeom prst="rect">
            <a:avLst/>
          </a:prstGeom>
          <a:solidFill>
            <a:srgbClr val="E4E4E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12848" y="1828800"/>
            <a:ext cx="312724" cy="312724"/>
          </a:xfrm>
          <a:prstGeom prst="rect">
            <a:avLst/>
          </a:prstGeom>
          <a:solidFill>
            <a:srgbClr val="E4E4E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0" y="1828800"/>
            <a:ext cx="312724" cy="312724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07792" y="1828800"/>
            <a:ext cx="312724" cy="312724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55264" y="1828800"/>
            <a:ext cx="312724" cy="312724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176272"/>
            <a:ext cx="312724" cy="312724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0432" y="2176272"/>
            <a:ext cx="312724" cy="312724"/>
          </a:xfrm>
          <a:prstGeom prst="rect">
            <a:avLst/>
          </a:prstGeom>
          <a:solidFill>
            <a:srgbClr val="F0F0F0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17904" y="2176272"/>
            <a:ext cx="312724" cy="312724"/>
          </a:xfrm>
          <a:prstGeom prst="rect">
            <a:avLst/>
          </a:prstGeom>
          <a:solidFill>
            <a:srgbClr val="C6C6C6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65376" y="2176272"/>
            <a:ext cx="312724" cy="312724"/>
          </a:xfrm>
          <a:prstGeom prst="rect">
            <a:avLst/>
          </a:prstGeom>
          <a:solidFill>
            <a:srgbClr val="B0B0B0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12848" y="2176272"/>
            <a:ext cx="312724" cy="312724"/>
          </a:xfrm>
          <a:prstGeom prst="rect">
            <a:avLst/>
          </a:prstGeom>
          <a:solidFill>
            <a:srgbClr val="B0B0B0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0" y="2176272"/>
            <a:ext cx="312724" cy="312724"/>
          </a:xfrm>
          <a:prstGeom prst="rect">
            <a:avLst/>
          </a:prstGeom>
          <a:solidFill>
            <a:srgbClr val="C6C6C6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176272"/>
            <a:ext cx="312724" cy="312724"/>
          </a:xfrm>
          <a:prstGeom prst="rect">
            <a:avLst/>
          </a:prstGeom>
          <a:solidFill>
            <a:srgbClr val="F0F0F0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55264" y="2176272"/>
            <a:ext cx="312724" cy="312724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2523744"/>
            <a:ext cx="312724" cy="312724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70432" y="2523744"/>
            <a:ext cx="312724" cy="312724"/>
          </a:xfrm>
          <a:prstGeom prst="rect">
            <a:avLst/>
          </a:prstGeom>
          <a:solidFill>
            <a:srgbClr val="CCCCCC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17904" y="2523744"/>
            <a:ext cx="312724" cy="312724"/>
          </a:xfrm>
          <a:prstGeom prst="rect">
            <a:avLst/>
          </a:prstGeom>
          <a:solidFill>
            <a:srgbClr val="E1E1E1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65376" y="2523744"/>
            <a:ext cx="312724" cy="312724"/>
          </a:xfrm>
          <a:prstGeom prst="rect">
            <a:avLst/>
          </a:prstGeom>
          <a:solidFill>
            <a:srgbClr val="8D8D8D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12848" y="2523744"/>
            <a:ext cx="312724" cy="312724"/>
          </a:xfrm>
          <a:prstGeom prst="rect">
            <a:avLst/>
          </a:prstGeom>
          <a:solidFill>
            <a:srgbClr val="8D8D8D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0" y="2523744"/>
            <a:ext cx="312724" cy="312724"/>
          </a:xfrm>
          <a:prstGeom prst="rect">
            <a:avLst/>
          </a:prstGeom>
          <a:solidFill>
            <a:srgbClr val="E1E1E1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07792" y="2523744"/>
            <a:ext cx="312724" cy="312724"/>
          </a:xfrm>
          <a:prstGeom prst="rect">
            <a:avLst/>
          </a:prstGeom>
          <a:solidFill>
            <a:srgbClr val="CCCCCC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55264" y="2523744"/>
            <a:ext cx="312724" cy="312724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2871216"/>
            <a:ext cx="312724" cy="312724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70432" y="2871216"/>
            <a:ext cx="312724" cy="312724"/>
          </a:xfrm>
          <a:prstGeom prst="rect">
            <a:avLst/>
          </a:prstGeom>
          <a:solidFill>
            <a:srgbClr val="B9B9B9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517904" y="2871216"/>
            <a:ext cx="312724" cy="312724"/>
          </a:xfrm>
          <a:prstGeom prst="rect">
            <a:avLst/>
          </a:prstGeom>
          <a:solidFill>
            <a:srgbClr val="E1E1E1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65376" y="2871216"/>
            <a:ext cx="312724" cy="312724"/>
          </a:xfrm>
          <a:prstGeom prst="rect">
            <a:avLst/>
          </a:prstGeom>
          <a:solidFill>
            <a:srgbClr val="797979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12848" y="2871216"/>
            <a:ext cx="312724" cy="312724"/>
          </a:xfrm>
          <a:prstGeom prst="rect">
            <a:avLst/>
          </a:prstGeom>
          <a:solidFill>
            <a:srgbClr val="797979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60320" y="2871216"/>
            <a:ext cx="312724" cy="312724"/>
          </a:xfrm>
          <a:prstGeom prst="rect">
            <a:avLst/>
          </a:prstGeom>
          <a:solidFill>
            <a:srgbClr val="E1E1E1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907792" y="2871216"/>
            <a:ext cx="312724" cy="312724"/>
          </a:xfrm>
          <a:prstGeom prst="rect">
            <a:avLst/>
          </a:prstGeom>
          <a:solidFill>
            <a:srgbClr val="B9B9B9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55264" y="2871216"/>
            <a:ext cx="312724" cy="312724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" y="3218688"/>
            <a:ext cx="312724" cy="312724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70432" y="3218688"/>
            <a:ext cx="312724" cy="312724"/>
          </a:xfrm>
          <a:prstGeom prst="rect">
            <a:avLst/>
          </a:prstGeom>
          <a:solidFill>
            <a:srgbClr val="B6B6B6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517904" y="3218688"/>
            <a:ext cx="312724" cy="312724"/>
          </a:xfrm>
          <a:prstGeom prst="rect">
            <a:avLst/>
          </a:prstGeom>
          <a:solidFill>
            <a:srgbClr val="8B8B8B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865376" y="3218688"/>
            <a:ext cx="312724" cy="312724"/>
          </a:xfrm>
          <a:prstGeom prst="rect">
            <a:avLst/>
          </a:prstGeom>
          <a:solidFill>
            <a:srgbClr val="767676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12848" y="3218688"/>
            <a:ext cx="312724" cy="312724"/>
          </a:xfrm>
          <a:prstGeom prst="rect">
            <a:avLst/>
          </a:prstGeom>
          <a:solidFill>
            <a:srgbClr val="767676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560320" y="3218688"/>
            <a:ext cx="312724" cy="312724"/>
          </a:xfrm>
          <a:prstGeom prst="rect">
            <a:avLst/>
          </a:prstGeom>
          <a:solidFill>
            <a:srgbClr val="8B8B8B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907792" y="3218688"/>
            <a:ext cx="312724" cy="312724"/>
          </a:xfrm>
          <a:prstGeom prst="rect">
            <a:avLst/>
          </a:prstGeom>
          <a:solidFill>
            <a:srgbClr val="B6B6B6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55264" y="3218688"/>
            <a:ext cx="312724" cy="312724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2960" y="3566160"/>
            <a:ext cx="312724" cy="312724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70432" y="3566160"/>
            <a:ext cx="312724" cy="312724"/>
          </a:xfrm>
          <a:prstGeom prst="rect">
            <a:avLst/>
          </a:prstGeom>
          <a:solidFill>
            <a:srgbClr val="C3C3C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517904" y="3566160"/>
            <a:ext cx="312724" cy="312724"/>
          </a:xfrm>
          <a:prstGeom prst="rect">
            <a:avLst/>
          </a:prstGeom>
          <a:solidFill>
            <a:srgbClr val="989898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865376" y="3566160"/>
            <a:ext cx="312724" cy="312724"/>
          </a:xfrm>
          <a:prstGeom prst="rect">
            <a:avLst/>
          </a:prstGeom>
          <a:solidFill>
            <a:srgbClr val="DBDBDB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212848" y="3566160"/>
            <a:ext cx="312724" cy="312724"/>
          </a:xfrm>
          <a:prstGeom prst="rect">
            <a:avLst/>
          </a:prstGeom>
          <a:solidFill>
            <a:srgbClr val="DBDBDB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560320" y="3566160"/>
            <a:ext cx="312724" cy="312724"/>
          </a:xfrm>
          <a:prstGeom prst="rect">
            <a:avLst/>
          </a:prstGeom>
          <a:solidFill>
            <a:srgbClr val="989898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907792" y="3566160"/>
            <a:ext cx="312724" cy="312724"/>
          </a:xfrm>
          <a:prstGeom prst="rect">
            <a:avLst/>
          </a:prstGeom>
          <a:solidFill>
            <a:srgbClr val="C3C3C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55264" y="3566160"/>
            <a:ext cx="312724" cy="312724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2960" y="3913632"/>
            <a:ext cx="312724" cy="312724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70432" y="3913632"/>
            <a:ext cx="312724" cy="312724"/>
          </a:xfrm>
          <a:prstGeom prst="rect">
            <a:avLst/>
          </a:prstGeom>
          <a:solidFill>
            <a:srgbClr val="E0E0E0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517904" y="3913632"/>
            <a:ext cx="312724" cy="312724"/>
          </a:xfrm>
          <a:prstGeom prst="rect">
            <a:avLst/>
          </a:prstGeom>
          <a:solidFill>
            <a:srgbClr val="B5B5B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65376" y="3913632"/>
            <a:ext cx="312724" cy="312724"/>
          </a:xfrm>
          <a:prstGeom prst="rect">
            <a:avLst/>
          </a:prstGeom>
          <a:solidFill>
            <a:srgbClr val="A0A0A0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212848" y="3913632"/>
            <a:ext cx="312724" cy="312724"/>
          </a:xfrm>
          <a:prstGeom prst="rect">
            <a:avLst/>
          </a:prstGeom>
          <a:solidFill>
            <a:srgbClr val="A0A0A0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560320" y="3913632"/>
            <a:ext cx="312724" cy="312724"/>
          </a:xfrm>
          <a:prstGeom prst="rect">
            <a:avLst/>
          </a:prstGeom>
          <a:solidFill>
            <a:srgbClr val="B5B5B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907792" y="3913632"/>
            <a:ext cx="312724" cy="312724"/>
          </a:xfrm>
          <a:prstGeom prst="rect">
            <a:avLst/>
          </a:prstGeom>
          <a:solidFill>
            <a:srgbClr val="E0E0E0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55264" y="3913632"/>
            <a:ext cx="312724" cy="312724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2960" y="4261104"/>
            <a:ext cx="312724" cy="312724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70432" y="4261104"/>
            <a:ext cx="312724" cy="312724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517904" y="4261104"/>
            <a:ext cx="312724" cy="312724"/>
          </a:xfrm>
          <a:prstGeom prst="rect">
            <a:avLst/>
          </a:prstGeom>
          <a:solidFill>
            <a:srgbClr val="E3E3E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865376" y="4261104"/>
            <a:ext cx="312724" cy="312724"/>
          </a:xfrm>
          <a:prstGeom prst="rect">
            <a:avLst/>
          </a:prstGeom>
          <a:solidFill>
            <a:srgbClr val="CECECE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212848" y="4261104"/>
            <a:ext cx="312724" cy="312724"/>
          </a:xfrm>
          <a:prstGeom prst="rect">
            <a:avLst/>
          </a:prstGeom>
          <a:solidFill>
            <a:srgbClr val="CECECE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560320" y="4261104"/>
            <a:ext cx="312724" cy="312724"/>
          </a:xfrm>
          <a:prstGeom prst="rect">
            <a:avLst/>
          </a:prstGeom>
          <a:solidFill>
            <a:srgbClr val="E3E3E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907792" y="4261104"/>
            <a:ext cx="312724" cy="312724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255264" y="4261104"/>
            <a:ext cx="312724" cy="312724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2960" y="4654296"/>
            <a:ext cx="277977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5E6D7D"/>
                </a:solidFill>
                <a:latin typeface="Aptos"/>
              </a:rPr>
              <a:t>1 imagen · 64×64 en el curso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3931920" y="3063240"/>
            <a:ext cx="960120" cy="0"/>
          </a:xfrm>
          <a:prstGeom prst="line">
            <a:avLst/>
          </a:prstGeom>
          <a:ln w="25400">
            <a:solidFill>
              <a:srgbClr val="16C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4983480" y="2852928"/>
            <a:ext cx="173736" cy="402336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193792" y="2852928"/>
            <a:ext cx="173736" cy="402336"/>
          </a:xfrm>
          <a:prstGeom prst="rect">
            <a:avLst/>
          </a:prstGeom>
          <a:solidFill>
            <a:srgbClr val="585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404104" y="2852928"/>
            <a:ext cx="173736" cy="402336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614416" y="2852928"/>
            <a:ext cx="173736" cy="402336"/>
          </a:xfrm>
          <a:prstGeom prst="rect">
            <a:avLst/>
          </a:prstGeom>
          <a:solidFill>
            <a:srgbClr val="686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824728" y="2852928"/>
            <a:ext cx="173736" cy="402336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035040" y="2852928"/>
            <a:ext cx="173736" cy="402336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45352" y="2852928"/>
            <a:ext cx="173736" cy="402336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455664" y="2852928"/>
            <a:ext cx="173736" cy="40233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5976" y="2852928"/>
            <a:ext cx="173736" cy="402336"/>
          </a:xfrm>
          <a:prstGeom prst="rect">
            <a:avLst/>
          </a:prstGeom>
          <a:solidFill>
            <a:srgbClr val="909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76288" y="2852928"/>
            <a:ext cx="173736" cy="402336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086600" y="2852928"/>
            <a:ext cx="173736" cy="402336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96912" y="2852928"/>
            <a:ext cx="173736" cy="402336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07224" y="2852928"/>
            <a:ext cx="173736" cy="402336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17536" y="2852928"/>
            <a:ext cx="173736" cy="402336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927848" y="2852928"/>
            <a:ext cx="173736" cy="402336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138160" y="2852928"/>
            <a:ext cx="173736" cy="40233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348472" y="2852928"/>
            <a:ext cx="173736" cy="40233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558784" y="2852928"/>
            <a:ext cx="173736" cy="40233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800600" y="2148840"/>
            <a:ext cx="4206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C2530"/>
                </a:solidFill>
                <a:latin typeface="Aptos Display"/>
              </a:rPr>
              <a:t>Aplanar (flatten)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00600" y="3383280"/>
            <a:ext cx="4297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E6D7D"/>
                </a:solidFill>
                <a:latin typeface="Aptos"/>
              </a:rPr>
              <a:t>64 × 64 = 4096 píxeles → 4096 variables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9144000" y="3063240"/>
            <a:ext cx="1005840" cy="0"/>
          </a:xfrm>
          <a:prstGeom prst="line">
            <a:avLst/>
          </a:prstGeom>
          <a:ln w="25400">
            <a:solidFill>
              <a:srgbClr val="16C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10195560" y="2331720"/>
            <a:ext cx="1143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314432" y="2523744"/>
            <a:ext cx="155448" cy="155448"/>
          </a:xfrm>
          <a:prstGeom prst="rect">
            <a:avLst/>
          </a:prstGeom>
          <a:solidFill>
            <a:srgbClr val="EBF4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515600" y="2523744"/>
            <a:ext cx="155448" cy="155448"/>
          </a:xfrm>
          <a:prstGeom prst="rect">
            <a:avLst/>
          </a:prstGeom>
          <a:solidFill>
            <a:srgbClr val="EBF4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716767" y="2523744"/>
            <a:ext cx="155448" cy="155448"/>
          </a:xfrm>
          <a:prstGeom prst="rect">
            <a:avLst/>
          </a:prstGeom>
          <a:solidFill>
            <a:srgbClr val="EBF4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917936" y="2523744"/>
            <a:ext cx="155448" cy="155448"/>
          </a:xfrm>
          <a:prstGeom prst="rect">
            <a:avLst/>
          </a:prstGeom>
          <a:solidFill>
            <a:srgbClr val="EBF4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314432" y="2724912"/>
            <a:ext cx="155448" cy="155448"/>
          </a:xfrm>
          <a:prstGeom prst="rect">
            <a:avLst/>
          </a:prstGeom>
          <a:solidFill>
            <a:srgbClr val="EBF4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515600" y="2724912"/>
            <a:ext cx="155448" cy="155448"/>
          </a:xfrm>
          <a:prstGeom prst="rect">
            <a:avLst/>
          </a:prstGeom>
          <a:solidFill>
            <a:srgbClr val="EBF4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16767" y="2724912"/>
            <a:ext cx="155448" cy="155448"/>
          </a:xfrm>
          <a:prstGeom prst="rect">
            <a:avLst/>
          </a:prstGeom>
          <a:solidFill>
            <a:srgbClr val="EBF4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917936" y="2724912"/>
            <a:ext cx="155448" cy="155448"/>
          </a:xfrm>
          <a:prstGeom prst="rect">
            <a:avLst/>
          </a:prstGeom>
          <a:solidFill>
            <a:srgbClr val="EBF4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314432" y="2926079"/>
            <a:ext cx="155448" cy="155448"/>
          </a:xfrm>
          <a:prstGeom prst="rect">
            <a:avLst/>
          </a:prstGeom>
          <a:solidFill>
            <a:srgbClr val="EBF4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515600" y="2926079"/>
            <a:ext cx="155448" cy="155448"/>
          </a:xfrm>
          <a:prstGeom prst="rect">
            <a:avLst/>
          </a:prstGeom>
          <a:solidFill>
            <a:srgbClr val="EBF4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716767" y="2926079"/>
            <a:ext cx="155448" cy="155448"/>
          </a:xfrm>
          <a:prstGeom prst="rect">
            <a:avLst/>
          </a:prstGeom>
          <a:solidFill>
            <a:srgbClr val="EBF4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917936" y="2926079"/>
            <a:ext cx="155448" cy="155448"/>
          </a:xfrm>
          <a:prstGeom prst="rect">
            <a:avLst/>
          </a:prstGeom>
          <a:solidFill>
            <a:srgbClr val="EBF4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314432" y="3127248"/>
            <a:ext cx="155448" cy="155448"/>
          </a:xfrm>
          <a:prstGeom prst="rect">
            <a:avLst/>
          </a:prstGeom>
          <a:solidFill>
            <a:srgbClr val="EBF4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515600" y="3127248"/>
            <a:ext cx="155448" cy="155448"/>
          </a:xfrm>
          <a:prstGeom prst="rect">
            <a:avLst/>
          </a:prstGeom>
          <a:solidFill>
            <a:srgbClr val="EBF4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716767" y="3127248"/>
            <a:ext cx="155448" cy="155448"/>
          </a:xfrm>
          <a:prstGeom prst="rect">
            <a:avLst/>
          </a:prstGeom>
          <a:solidFill>
            <a:srgbClr val="EBF4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917936" y="3127248"/>
            <a:ext cx="155448" cy="155448"/>
          </a:xfrm>
          <a:prstGeom prst="rect">
            <a:avLst/>
          </a:prstGeom>
          <a:solidFill>
            <a:srgbClr val="EBF4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314432" y="3328415"/>
            <a:ext cx="155448" cy="155448"/>
          </a:xfrm>
          <a:prstGeom prst="rect">
            <a:avLst/>
          </a:prstGeom>
          <a:solidFill>
            <a:srgbClr val="EBF4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0515600" y="3328415"/>
            <a:ext cx="155448" cy="155448"/>
          </a:xfrm>
          <a:prstGeom prst="rect">
            <a:avLst/>
          </a:prstGeom>
          <a:solidFill>
            <a:srgbClr val="EBF4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716767" y="3328415"/>
            <a:ext cx="155448" cy="155448"/>
          </a:xfrm>
          <a:prstGeom prst="rect">
            <a:avLst/>
          </a:prstGeom>
          <a:solidFill>
            <a:srgbClr val="EBF4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917936" y="3328415"/>
            <a:ext cx="155448" cy="155448"/>
          </a:xfrm>
          <a:prstGeom prst="rect">
            <a:avLst/>
          </a:prstGeom>
          <a:solidFill>
            <a:srgbClr val="EBF4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646920" y="3977639"/>
            <a:ext cx="2286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80" b="0">
                <a:solidFill>
                  <a:srgbClr val="5E6D7D"/>
                </a:solidFill>
                <a:latin typeface="Aptos"/>
              </a:rPr>
              <a:t>X: filas = imágenes
columnas = píxeles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22960" y="4892040"/>
            <a:ext cx="5257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22960" y="4892040"/>
            <a:ext cx="73152" cy="1051560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51560" y="5056631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Qué se pierde al aplanar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51560" y="5486400"/>
            <a:ext cx="4846320" cy="3017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La estructura espacial explícita. Aun así, si las caras están razonablemente alineadas, muchos patrones globales permanecen.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263640" y="4892040"/>
            <a:ext cx="50749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263640" y="4892040"/>
            <a:ext cx="73152" cy="1051560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492240" y="5056631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Por qué este método sigue siendo útil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492240" y="5486400"/>
            <a:ext cx="4663440" cy="3017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Es mucho más liviano computacionalmente que una red convolucional y permite estudiar la lógica algebraica de reconocimiento facial.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4008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Aprendizaje No Supervisado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332720" y="6473952"/>
            <a:ext cx="1188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5E6D7D"/>
                </a:solidFill>
                <a:latin typeface="Aptos"/>
              </a:rPr>
              <a:t>Guía visual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PREPROCESAMIENTO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1C2530"/>
                </a:solidFill>
                <a:latin typeface="Aptos Display"/>
              </a:rPr>
              <a:t>Centrar: quitar lo común para estudiar lo que cambia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36576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5E6D7D"/>
                </a:solidFill>
                <a:latin typeface="Aptos Display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657600" cy="914400"/>
          </a:xfrm>
          <a:prstGeom prst="roundRect">
            <a:avLst/>
          </a:prstGeom>
          <a:solidFill>
            <a:srgbClr val="EBF4F9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33832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C2530"/>
                </a:solidFill>
                <a:latin typeface="Aptos Display"/>
              </a:rPr>
              <a:t>Xc = X − 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32918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30" b="0">
                <a:solidFill>
                  <a:srgbClr val="5E6D7D"/>
                </a:solidFill>
                <a:latin typeface="Aptos"/>
              </a:rPr>
              <a:t>μ es el rostro promedio calculado píxel a píxel.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43200"/>
            <a:ext cx="3063240" cy="205740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00200" y="3063240"/>
            <a:ext cx="197510" cy="197510"/>
          </a:xfrm>
          <a:prstGeom prst="rect">
            <a:avLst/>
          </a:prstGeom>
          <a:solidFill>
            <a:srgbClr val="E1E1E1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19656" y="3063240"/>
            <a:ext cx="197510" cy="197510"/>
          </a:xfrm>
          <a:prstGeom prst="rect">
            <a:avLst/>
          </a:prstGeom>
          <a:solidFill>
            <a:srgbClr val="E1E1E1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39112" y="3063240"/>
            <a:ext cx="197510" cy="197510"/>
          </a:xfrm>
          <a:prstGeom prst="rect">
            <a:avLst/>
          </a:prstGeom>
          <a:solidFill>
            <a:srgbClr val="DADAD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58568" y="3063240"/>
            <a:ext cx="197510" cy="197510"/>
          </a:xfrm>
          <a:prstGeom prst="rect">
            <a:avLst/>
          </a:prstGeom>
          <a:solidFill>
            <a:srgbClr val="E6E6E6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78024" y="3063240"/>
            <a:ext cx="197510" cy="197510"/>
          </a:xfrm>
          <a:prstGeom prst="rect">
            <a:avLst/>
          </a:prstGeom>
          <a:solidFill>
            <a:srgbClr val="F4F4F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97480" y="3063240"/>
            <a:ext cx="197510" cy="197510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16936" y="3063240"/>
            <a:ext cx="197510" cy="197510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00200" y="3282696"/>
            <a:ext cx="197510" cy="197510"/>
          </a:xfrm>
          <a:prstGeom prst="rect">
            <a:avLst/>
          </a:prstGeom>
          <a:solidFill>
            <a:srgbClr val="E1E1E1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19656" y="3282696"/>
            <a:ext cx="197510" cy="197510"/>
          </a:xfrm>
          <a:prstGeom prst="rect">
            <a:avLst/>
          </a:prstGeom>
          <a:solidFill>
            <a:srgbClr val="CCCCCC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39112" y="3282696"/>
            <a:ext cx="197510" cy="197510"/>
          </a:xfrm>
          <a:prstGeom prst="rect">
            <a:avLst/>
          </a:prstGeom>
          <a:solidFill>
            <a:srgbClr val="A1A1A1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58568" y="3282696"/>
            <a:ext cx="197510" cy="197510"/>
          </a:xfrm>
          <a:prstGeom prst="rect">
            <a:avLst/>
          </a:prstGeom>
          <a:solidFill>
            <a:srgbClr val="ACACAC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78024" y="3282696"/>
            <a:ext cx="197510" cy="197510"/>
          </a:xfrm>
          <a:prstGeom prst="rect">
            <a:avLst/>
          </a:prstGeom>
          <a:solidFill>
            <a:srgbClr val="BBBBBB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97480" y="3282696"/>
            <a:ext cx="197510" cy="197510"/>
          </a:xfrm>
          <a:prstGeom prst="rect">
            <a:avLst/>
          </a:prstGeom>
          <a:solidFill>
            <a:srgbClr val="E6E6E6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16936" y="3282696"/>
            <a:ext cx="197510" cy="197510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00200" y="3502152"/>
            <a:ext cx="197510" cy="197510"/>
          </a:xfrm>
          <a:prstGeom prst="rect">
            <a:avLst/>
          </a:prstGeom>
          <a:solidFill>
            <a:srgbClr val="E1E1E1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19656" y="3502152"/>
            <a:ext cx="197510" cy="197510"/>
          </a:xfrm>
          <a:prstGeom prst="rect">
            <a:avLst/>
          </a:prstGeom>
          <a:solidFill>
            <a:srgbClr val="A8A8A8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39112" y="3502152"/>
            <a:ext cx="197510" cy="197510"/>
          </a:xfrm>
          <a:prstGeom prst="rect">
            <a:avLst/>
          </a:prstGeom>
          <a:solidFill>
            <a:srgbClr val="7D7D7D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58568" y="3502152"/>
            <a:ext cx="197510" cy="197510"/>
          </a:xfrm>
          <a:prstGeom prst="rect">
            <a:avLst/>
          </a:prstGeom>
          <a:solidFill>
            <a:srgbClr val="888888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78024" y="3502152"/>
            <a:ext cx="197510" cy="197510"/>
          </a:xfrm>
          <a:prstGeom prst="rect">
            <a:avLst/>
          </a:prstGeom>
          <a:solidFill>
            <a:srgbClr val="979797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97480" y="3502152"/>
            <a:ext cx="197510" cy="197510"/>
          </a:xfrm>
          <a:prstGeom prst="rect">
            <a:avLst/>
          </a:prstGeom>
          <a:solidFill>
            <a:srgbClr val="C2C2C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16936" y="3502152"/>
            <a:ext cx="197510" cy="197510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00200" y="3721608"/>
            <a:ext cx="197510" cy="197510"/>
          </a:xfrm>
          <a:prstGeom prst="rect">
            <a:avLst/>
          </a:prstGeom>
          <a:solidFill>
            <a:srgbClr val="E1E1E1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19656" y="3721608"/>
            <a:ext cx="197510" cy="197510"/>
          </a:xfrm>
          <a:prstGeom prst="rect">
            <a:avLst/>
          </a:prstGeom>
          <a:solidFill>
            <a:srgbClr val="999999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039112" y="3721608"/>
            <a:ext cx="197510" cy="197510"/>
          </a:xfrm>
          <a:prstGeom prst="rect">
            <a:avLst/>
          </a:prstGeom>
          <a:solidFill>
            <a:srgbClr val="73737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58568" y="3721608"/>
            <a:ext cx="197510" cy="197510"/>
          </a:xfrm>
          <a:prstGeom prst="rect">
            <a:avLst/>
          </a:prstGeom>
          <a:solidFill>
            <a:srgbClr val="797979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78024" y="3721608"/>
            <a:ext cx="197510" cy="197510"/>
          </a:xfrm>
          <a:prstGeom prst="rect">
            <a:avLst/>
          </a:prstGeom>
          <a:solidFill>
            <a:srgbClr val="888888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97480" y="3721608"/>
            <a:ext cx="197510" cy="197510"/>
          </a:xfrm>
          <a:prstGeom prst="rect">
            <a:avLst/>
          </a:prstGeom>
          <a:solidFill>
            <a:srgbClr val="B3B3B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916936" y="3721608"/>
            <a:ext cx="197510" cy="197510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00200" y="3941064"/>
            <a:ext cx="197510" cy="197510"/>
          </a:xfrm>
          <a:prstGeom prst="rect">
            <a:avLst/>
          </a:prstGeom>
          <a:solidFill>
            <a:srgbClr val="E1E1E1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19656" y="3941064"/>
            <a:ext cx="197510" cy="197510"/>
          </a:xfrm>
          <a:prstGeom prst="rect">
            <a:avLst/>
          </a:prstGeom>
          <a:solidFill>
            <a:srgbClr val="A0A0A0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39112" y="3941064"/>
            <a:ext cx="197510" cy="197510"/>
          </a:xfrm>
          <a:prstGeom prst="rect">
            <a:avLst/>
          </a:prstGeom>
          <a:solidFill>
            <a:srgbClr val="74747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58568" y="3941064"/>
            <a:ext cx="197510" cy="197510"/>
          </a:xfrm>
          <a:prstGeom prst="rect">
            <a:avLst/>
          </a:prstGeom>
          <a:solidFill>
            <a:srgbClr val="808080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78024" y="3941064"/>
            <a:ext cx="197510" cy="197510"/>
          </a:xfrm>
          <a:prstGeom prst="rect">
            <a:avLst/>
          </a:prstGeom>
          <a:solidFill>
            <a:srgbClr val="8E8E8E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697480" y="3941064"/>
            <a:ext cx="197510" cy="197510"/>
          </a:xfrm>
          <a:prstGeom prst="rect">
            <a:avLst/>
          </a:prstGeom>
          <a:solidFill>
            <a:srgbClr val="BABAB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916936" y="3941064"/>
            <a:ext cx="197510" cy="197510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600200" y="4160520"/>
            <a:ext cx="197510" cy="197510"/>
          </a:xfrm>
          <a:prstGeom prst="rect">
            <a:avLst/>
          </a:prstGeom>
          <a:solidFill>
            <a:srgbClr val="E1E1E1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819656" y="4160520"/>
            <a:ext cx="197510" cy="197510"/>
          </a:xfrm>
          <a:prstGeom prst="rect">
            <a:avLst/>
          </a:prstGeom>
          <a:solidFill>
            <a:srgbClr val="BBBBBB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039112" y="4160520"/>
            <a:ext cx="197510" cy="197510"/>
          </a:xfrm>
          <a:prstGeom prst="rect">
            <a:avLst/>
          </a:prstGeom>
          <a:solidFill>
            <a:srgbClr val="909090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258568" y="4160520"/>
            <a:ext cx="197510" cy="197510"/>
          </a:xfrm>
          <a:prstGeom prst="rect">
            <a:avLst/>
          </a:prstGeom>
          <a:solidFill>
            <a:srgbClr val="9B9B9B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478024" y="4160520"/>
            <a:ext cx="197510" cy="197510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697480" y="4160520"/>
            <a:ext cx="197510" cy="197510"/>
          </a:xfrm>
          <a:prstGeom prst="rect">
            <a:avLst/>
          </a:prstGeom>
          <a:solidFill>
            <a:srgbClr val="D5D5D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916936" y="4160520"/>
            <a:ext cx="197510" cy="197510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600200" y="4379976"/>
            <a:ext cx="197510" cy="197510"/>
          </a:xfrm>
          <a:prstGeom prst="rect">
            <a:avLst/>
          </a:prstGeom>
          <a:solidFill>
            <a:srgbClr val="E1E1E1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819656" y="4379976"/>
            <a:ext cx="197510" cy="197510"/>
          </a:xfrm>
          <a:prstGeom prst="rect">
            <a:avLst/>
          </a:prstGeom>
          <a:solidFill>
            <a:srgbClr val="E1E1E1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039112" y="4379976"/>
            <a:ext cx="197510" cy="197510"/>
          </a:xfrm>
          <a:prstGeom prst="rect">
            <a:avLst/>
          </a:prstGeom>
          <a:solidFill>
            <a:srgbClr val="C1C1C1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58568" y="4379976"/>
            <a:ext cx="197510" cy="197510"/>
          </a:xfrm>
          <a:prstGeom prst="rect">
            <a:avLst/>
          </a:prstGeom>
          <a:solidFill>
            <a:srgbClr val="CCCCCC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478024" y="4379976"/>
            <a:ext cx="197510" cy="197510"/>
          </a:xfrm>
          <a:prstGeom prst="rect">
            <a:avLst/>
          </a:prstGeom>
          <a:solidFill>
            <a:srgbClr val="DBDBDB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697480" y="4379976"/>
            <a:ext cx="197510" cy="197510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16936" y="4379976"/>
            <a:ext cx="197510" cy="197510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43000" y="455371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1C2530"/>
                </a:solidFill>
                <a:latin typeface="Aptos Display"/>
              </a:rPr>
              <a:t>Imagen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9080" y="3566160"/>
            <a:ext cx="365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5E6D7D"/>
                </a:solidFill>
                <a:latin typeface="Aptos Display"/>
              </a:rPr>
              <a:t>−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617720" y="2743200"/>
            <a:ext cx="3063240" cy="205740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03520" y="3063240"/>
            <a:ext cx="197510" cy="197510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22976" y="3063240"/>
            <a:ext cx="197510" cy="197510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42431" y="3063240"/>
            <a:ext cx="197510" cy="197510"/>
          </a:xfrm>
          <a:prstGeom prst="rect">
            <a:avLst/>
          </a:prstGeom>
          <a:solidFill>
            <a:srgbClr val="EFEFE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961888" y="3063240"/>
            <a:ext cx="197510" cy="197510"/>
          </a:xfrm>
          <a:prstGeom prst="rect">
            <a:avLst/>
          </a:prstGeom>
          <a:solidFill>
            <a:srgbClr val="E2E2E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81344" y="3063240"/>
            <a:ext cx="197510" cy="197510"/>
          </a:xfrm>
          <a:prstGeom prst="rect">
            <a:avLst/>
          </a:prstGeom>
          <a:solidFill>
            <a:srgbClr val="EFEFE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063240"/>
            <a:ext cx="197510" cy="197510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620256" y="3063240"/>
            <a:ext cx="197510" cy="197510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303520" y="3282696"/>
            <a:ext cx="197510" cy="197510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522976" y="3282696"/>
            <a:ext cx="197510" cy="197510"/>
          </a:xfrm>
          <a:prstGeom prst="rect">
            <a:avLst/>
          </a:prstGeom>
          <a:solidFill>
            <a:srgbClr val="E3E3E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2431" y="3282696"/>
            <a:ext cx="197510" cy="197510"/>
          </a:xfrm>
          <a:prstGeom prst="rect">
            <a:avLst/>
          </a:prstGeom>
          <a:solidFill>
            <a:srgbClr val="BEBEBE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61888" y="3282696"/>
            <a:ext cx="197510" cy="197510"/>
          </a:xfrm>
          <a:prstGeom prst="rect">
            <a:avLst/>
          </a:prstGeom>
          <a:solidFill>
            <a:srgbClr val="B2B2B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81344" y="3282696"/>
            <a:ext cx="197510" cy="197510"/>
          </a:xfrm>
          <a:prstGeom prst="rect">
            <a:avLst/>
          </a:prstGeom>
          <a:solidFill>
            <a:srgbClr val="BEBEBE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400800" y="3282696"/>
            <a:ext cx="197510" cy="197510"/>
          </a:xfrm>
          <a:prstGeom prst="rect">
            <a:avLst/>
          </a:prstGeom>
          <a:solidFill>
            <a:srgbClr val="E3E3E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0256" y="3282696"/>
            <a:ext cx="197510" cy="197510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303520" y="3502152"/>
            <a:ext cx="197510" cy="197510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522976" y="3502152"/>
            <a:ext cx="197510" cy="197510"/>
          </a:xfrm>
          <a:prstGeom prst="rect">
            <a:avLst/>
          </a:prstGeom>
          <a:solidFill>
            <a:srgbClr val="C4C4C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742431" y="3502152"/>
            <a:ext cx="197510" cy="197510"/>
          </a:xfrm>
          <a:prstGeom prst="rect">
            <a:avLst/>
          </a:prstGeom>
          <a:solidFill>
            <a:srgbClr val="9F9F9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961888" y="3502152"/>
            <a:ext cx="197510" cy="197510"/>
          </a:xfrm>
          <a:prstGeom prst="rect">
            <a:avLst/>
          </a:prstGeom>
          <a:solidFill>
            <a:srgbClr val="93939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181344" y="3502152"/>
            <a:ext cx="197510" cy="197510"/>
          </a:xfrm>
          <a:prstGeom prst="rect">
            <a:avLst/>
          </a:prstGeom>
          <a:solidFill>
            <a:srgbClr val="9F9F9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400800" y="3502152"/>
            <a:ext cx="197510" cy="197510"/>
          </a:xfrm>
          <a:prstGeom prst="rect">
            <a:avLst/>
          </a:prstGeom>
          <a:solidFill>
            <a:srgbClr val="C4C4C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620256" y="3502152"/>
            <a:ext cx="197510" cy="197510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303520" y="3721608"/>
            <a:ext cx="197510" cy="197510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522976" y="3721608"/>
            <a:ext cx="197510" cy="197510"/>
          </a:xfrm>
          <a:prstGeom prst="rect">
            <a:avLst/>
          </a:prstGeom>
          <a:solidFill>
            <a:srgbClr val="B7B7B7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742431" y="3721608"/>
            <a:ext cx="197510" cy="197510"/>
          </a:xfrm>
          <a:prstGeom prst="rect">
            <a:avLst/>
          </a:prstGeom>
          <a:solidFill>
            <a:srgbClr val="93939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961888" y="3721608"/>
            <a:ext cx="197510" cy="197510"/>
          </a:xfrm>
          <a:prstGeom prst="rect">
            <a:avLst/>
          </a:prstGeom>
          <a:solidFill>
            <a:srgbClr val="868686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181344" y="3721608"/>
            <a:ext cx="197510" cy="197510"/>
          </a:xfrm>
          <a:prstGeom prst="rect">
            <a:avLst/>
          </a:prstGeom>
          <a:solidFill>
            <a:srgbClr val="93939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400800" y="3721608"/>
            <a:ext cx="197510" cy="197510"/>
          </a:xfrm>
          <a:prstGeom prst="rect">
            <a:avLst/>
          </a:prstGeom>
          <a:solidFill>
            <a:srgbClr val="B7B7B7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620256" y="3721608"/>
            <a:ext cx="197510" cy="197510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303520" y="3941064"/>
            <a:ext cx="197510" cy="197510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522976" y="3941064"/>
            <a:ext cx="197510" cy="197510"/>
          </a:xfrm>
          <a:prstGeom prst="rect">
            <a:avLst/>
          </a:prstGeom>
          <a:solidFill>
            <a:srgbClr val="BDBDBD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742431" y="3941064"/>
            <a:ext cx="197510" cy="197510"/>
          </a:xfrm>
          <a:prstGeom prst="rect">
            <a:avLst/>
          </a:prstGeom>
          <a:solidFill>
            <a:srgbClr val="989898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961888" y="3941064"/>
            <a:ext cx="197510" cy="197510"/>
          </a:xfrm>
          <a:prstGeom prst="rect">
            <a:avLst/>
          </a:prstGeom>
          <a:solidFill>
            <a:srgbClr val="8C8C8C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181344" y="3941064"/>
            <a:ext cx="197510" cy="197510"/>
          </a:xfrm>
          <a:prstGeom prst="rect">
            <a:avLst/>
          </a:prstGeom>
          <a:solidFill>
            <a:srgbClr val="989898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400800" y="3941064"/>
            <a:ext cx="197510" cy="197510"/>
          </a:xfrm>
          <a:prstGeom prst="rect">
            <a:avLst/>
          </a:prstGeom>
          <a:solidFill>
            <a:srgbClr val="BDBDBD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620256" y="3941064"/>
            <a:ext cx="197510" cy="197510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303520" y="4160520"/>
            <a:ext cx="197510" cy="197510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522976" y="4160520"/>
            <a:ext cx="197510" cy="197510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742431" y="4160520"/>
            <a:ext cx="197510" cy="197510"/>
          </a:xfrm>
          <a:prstGeom prst="rect">
            <a:avLst/>
          </a:prstGeom>
          <a:solidFill>
            <a:srgbClr val="B0B0B0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961888" y="4160520"/>
            <a:ext cx="197510" cy="197510"/>
          </a:xfrm>
          <a:prstGeom prst="rect">
            <a:avLst/>
          </a:prstGeom>
          <a:solidFill>
            <a:srgbClr val="A3A3A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181344" y="4160520"/>
            <a:ext cx="197510" cy="197510"/>
          </a:xfrm>
          <a:prstGeom prst="rect">
            <a:avLst/>
          </a:prstGeom>
          <a:solidFill>
            <a:srgbClr val="B0B0B0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400800" y="4160520"/>
            <a:ext cx="197510" cy="197510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620256" y="4160520"/>
            <a:ext cx="197510" cy="197510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303520" y="4379976"/>
            <a:ext cx="197510" cy="197510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522976" y="4379976"/>
            <a:ext cx="197510" cy="197510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742431" y="4379976"/>
            <a:ext cx="197510" cy="197510"/>
          </a:xfrm>
          <a:prstGeom prst="rect">
            <a:avLst/>
          </a:prstGeom>
          <a:solidFill>
            <a:srgbClr val="D9D9D9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961888" y="4379976"/>
            <a:ext cx="197510" cy="197510"/>
          </a:xfrm>
          <a:prstGeom prst="rect">
            <a:avLst/>
          </a:prstGeom>
          <a:solidFill>
            <a:srgbClr val="CDCDCD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181344" y="4379976"/>
            <a:ext cx="197510" cy="197510"/>
          </a:xfrm>
          <a:prstGeom prst="rect">
            <a:avLst/>
          </a:prstGeom>
          <a:solidFill>
            <a:srgbClr val="D9D9D9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400800" y="4379976"/>
            <a:ext cx="197510" cy="197510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620256" y="4379976"/>
            <a:ext cx="197510" cy="197510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846320" y="455371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1C2530"/>
                </a:solidFill>
                <a:latin typeface="Aptos Display"/>
              </a:rPr>
              <a:t>Rostro promedio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72400" y="3566160"/>
            <a:ext cx="365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5E6D7D"/>
                </a:solidFill>
                <a:latin typeface="Aptos Display"/>
              </a:rPr>
              <a:t>=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321040" y="2743200"/>
            <a:ext cx="3063240" cy="205740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006840" y="3063240"/>
            <a:ext cx="197510" cy="197510"/>
          </a:xfrm>
          <a:prstGeom prst="rect">
            <a:avLst/>
          </a:prstGeom>
          <a:solidFill>
            <a:srgbClr val="92929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226296" y="3063240"/>
            <a:ext cx="197510" cy="197510"/>
          </a:xfrm>
          <a:prstGeom prst="rect">
            <a:avLst/>
          </a:prstGeom>
          <a:solidFill>
            <a:srgbClr val="92929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445752" y="3063240"/>
            <a:ext cx="197510" cy="197510"/>
          </a:xfrm>
          <a:prstGeom prst="rect">
            <a:avLst/>
          </a:prstGeom>
          <a:solidFill>
            <a:srgbClr val="92929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665208" y="3063240"/>
            <a:ext cx="197510" cy="197510"/>
          </a:xfrm>
          <a:prstGeom prst="rect">
            <a:avLst/>
          </a:prstGeom>
          <a:solidFill>
            <a:srgbClr val="B9B9B9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4663" y="3063240"/>
            <a:ext cx="197510" cy="197510"/>
          </a:xfrm>
          <a:prstGeom prst="rect">
            <a:avLst/>
          </a:prstGeom>
          <a:solidFill>
            <a:srgbClr val="B9B9B9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104119" y="3063240"/>
            <a:ext cx="197510" cy="197510"/>
          </a:xfrm>
          <a:prstGeom prst="rect">
            <a:avLst/>
          </a:prstGeom>
          <a:solidFill>
            <a:srgbClr val="B9B9B9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323576" y="3063240"/>
            <a:ext cx="197510" cy="197510"/>
          </a:xfrm>
          <a:prstGeom prst="rect">
            <a:avLst/>
          </a:prstGeom>
          <a:solidFill>
            <a:srgbClr val="B9B9B9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006840" y="3282696"/>
            <a:ext cx="197510" cy="197510"/>
          </a:xfrm>
          <a:prstGeom prst="rect">
            <a:avLst/>
          </a:prstGeom>
          <a:solidFill>
            <a:srgbClr val="92929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226296" y="3282696"/>
            <a:ext cx="197510" cy="197510"/>
          </a:xfrm>
          <a:prstGeom prst="rect">
            <a:avLst/>
          </a:prstGeom>
          <a:solidFill>
            <a:srgbClr val="92929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445752" y="3282696"/>
            <a:ext cx="197510" cy="197510"/>
          </a:xfrm>
          <a:prstGeom prst="rect">
            <a:avLst/>
          </a:prstGeom>
          <a:solidFill>
            <a:srgbClr val="92929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665208" y="3282696"/>
            <a:ext cx="197510" cy="197510"/>
          </a:xfrm>
          <a:prstGeom prst="rect">
            <a:avLst/>
          </a:prstGeom>
          <a:solidFill>
            <a:srgbClr val="B9B9B9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9884663" y="3282696"/>
            <a:ext cx="197510" cy="197510"/>
          </a:xfrm>
          <a:prstGeom prst="rect">
            <a:avLst/>
          </a:prstGeom>
          <a:solidFill>
            <a:srgbClr val="B9B9B9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0104119" y="3282696"/>
            <a:ext cx="197510" cy="197510"/>
          </a:xfrm>
          <a:prstGeom prst="rect">
            <a:avLst/>
          </a:prstGeom>
          <a:solidFill>
            <a:srgbClr val="B9B9B9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0323576" y="3282696"/>
            <a:ext cx="197510" cy="197510"/>
          </a:xfrm>
          <a:prstGeom prst="rect">
            <a:avLst/>
          </a:prstGeom>
          <a:solidFill>
            <a:srgbClr val="B9B9B9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006840" y="3502152"/>
            <a:ext cx="197510" cy="197510"/>
          </a:xfrm>
          <a:prstGeom prst="rect">
            <a:avLst/>
          </a:prstGeom>
          <a:solidFill>
            <a:srgbClr val="92929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226296" y="3502152"/>
            <a:ext cx="197510" cy="197510"/>
          </a:xfrm>
          <a:prstGeom prst="rect">
            <a:avLst/>
          </a:prstGeom>
          <a:solidFill>
            <a:srgbClr val="92929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445752" y="3502152"/>
            <a:ext cx="197510" cy="197510"/>
          </a:xfrm>
          <a:prstGeom prst="rect">
            <a:avLst/>
          </a:prstGeom>
          <a:solidFill>
            <a:srgbClr val="92929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665208" y="3502152"/>
            <a:ext cx="197510" cy="197510"/>
          </a:xfrm>
          <a:prstGeom prst="rect">
            <a:avLst/>
          </a:prstGeom>
          <a:solidFill>
            <a:srgbClr val="B9B9B9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9884663" y="3502152"/>
            <a:ext cx="197510" cy="197510"/>
          </a:xfrm>
          <a:prstGeom prst="rect">
            <a:avLst/>
          </a:prstGeom>
          <a:solidFill>
            <a:srgbClr val="B9B9B9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104119" y="3502152"/>
            <a:ext cx="197510" cy="197510"/>
          </a:xfrm>
          <a:prstGeom prst="rect">
            <a:avLst/>
          </a:prstGeom>
          <a:solidFill>
            <a:srgbClr val="B9B9B9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0323576" y="3502152"/>
            <a:ext cx="197510" cy="197510"/>
          </a:xfrm>
          <a:prstGeom prst="rect">
            <a:avLst/>
          </a:prstGeom>
          <a:solidFill>
            <a:srgbClr val="B9B9B9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9006840" y="3721608"/>
            <a:ext cx="197510" cy="197510"/>
          </a:xfrm>
          <a:prstGeom prst="rect">
            <a:avLst/>
          </a:prstGeom>
          <a:solidFill>
            <a:srgbClr val="A3A3A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9226296" y="3721608"/>
            <a:ext cx="197510" cy="197510"/>
          </a:xfrm>
          <a:prstGeom prst="rect">
            <a:avLst/>
          </a:prstGeom>
          <a:solidFill>
            <a:srgbClr val="A3A3A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445752" y="3721608"/>
            <a:ext cx="197510" cy="197510"/>
          </a:xfrm>
          <a:prstGeom prst="rect">
            <a:avLst/>
          </a:prstGeom>
          <a:solidFill>
            <a:srgbClr val="A3A3A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665208" y="3721608"/>
            <a:ext cx="197510" cy="197510"/>
          </a:xfrm>
          <a:prstGeom prst="rect">
            <a:avLst/>
          </a:prstGeom>
          <a:solidFill>
            <a:srgbClr val="CACAC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884663" y="3721608"/>
            <a:ext cx="197510" cy="197510"/>
          </a:xfrm>
          <a:prstGeom prst="rect">
            <a:avLst/>
          </a:prstGeom>
          <a:solidFill>
            <a:srgbClr val="CACAC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0104119" y="3721608"/>
            <a:ext cx="197510" cy="197510"/>
          </a:xfrm>
          <a:prstGeom prst="rect">
            <a:avLst/>
          </a:prstGeom>
          <a:solidFill>
            <a:srgbClr val="CACAC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0323576" y="3721608"/>
            <a:ext cx="197510" cy="197510"/>
          </a:xfrm>
          <a:prstGeom prst="rect">
            <a:avLst/>
          </a:prstGeom>
          <a:solidFill>
            <a:srgbClr val="CACAC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9006840" y="3941064"/>
            <a:ext cx="197510" cy="197510"/>
          </a:xfrm>
          <a:prstGeom prst="rect">
            <a:avLst/>
          </a:prstGeom>
          <a:solidFill>
            <a:srgbClr val="A3A3A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9226296" y="3941064"/>
            <a:ext cx="197510" cy="197510"/>
          </a:xfrm>
          <a:prstGeom prst="rect">
            <a:avLst/>
          </a:prstGeom>
          <a:solidFill>
            <a:srgbClr val="A3A3A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9445752" y="3941064"/>
            <a:ext cx="197510" cy="197510"/>
          </a:xfrm>
          <a:prstGeom prst="rect">
            <a:avLst/>
          </a:prstGeom>
          <a:solidFill>
            <a:srgbClr val="A3A3A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9665208" y="3941064"/>
            <a:ext cx="197510" cy="197510"/>
          </a:xfrm>
          <a:prstGeom prst="rect">
            <a:avLst/>
          </a:prstGeom>
          <a:solidFill>
            <a:srgbClr val="CACAC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9884663" y="3941064"/>
            <a:ext cx="197510" cy="197510"/>
          </a:xfrm>
          <a:prstGeom prst="rect">
            <a:avLst/>
          </a:prstGeom>
          <a:solidFill>
            <a:srgbClr val="CACAC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0104119" y="3941064"/>
            <a:ext cx="197510" cy="197510"/>
          </a:xfrm>
          <a:prstGeom prst="rect">
            <a:avLst/>
          </a:prstGeom>
          <a:solidFill>
            <a:srgbClr val="CACAC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0323576" y="3941064"/>
            <a:ext cx="197510" cy="197510"/>
          </a:xfrm>
          <a:prstGeom prst="rect">
            <a:avLst/>
          </a:prstGeom>
          <a:solidFill>
            <a:srgbClr val="CACAC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006840" y="4160520"/>
            <a:ext cx="197510" cy="197510"/>
          </a:xfrm>
          <a:prstGeom prst="rect">
            <a:avLst/>
          </a:prstGeom>
          <a:solidFill>
            <a:srgbClr val="A3A3A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9226296" y="4160520"/>
            <a:ext cx="197510" cy="197510"/>
          </a:xfrm>
          <a:prstGeom prst="rect">
            <a:avLst/>
          </a:prstGeom>
          <a:solidFill>
            <a:srgbClr val="A3A3A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9445752" y="4160520"/>
            <a:ext cx="197510" cy="197510"/>
          </a:xfrm>
          <a:prstGeom prst="rect">
            <a:avLst/>
          </a:prstGeom>
          <a:solidFill>
            <a:srgbClr val="A3A3A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9665208" y="4160520"/>
            <a:ext cx="197510" cy="197510"/>
          </a:xfrm>
          <a:prstGeom prst="rect">
            <a:avLst/>
          </a:prstGeom>
          <a:solidFill>
            <a:srgbClr val="CACAC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9884663" y="4160520"/>
            <a:ext cx="197510" cy="197510"/>
          </a:xfrm>
          <a:prstGeom prst="rect">
            <a:avLst/>
          </a:prstGeom>
          <a:solidFill>
            <a:srgbClr val="CACAC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0104119" y="4160520"/>
            <a:ext cx="197510" cy="197510"/>
          </a:xfrm>
          <a:prstGeom prst="rect">
            <a:avLst/>
          </a:prstGeom>
          <a:solidFill>
            <a:srgbClr val="CACAC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0323576" y="4160520"/>
            <a:ext cx="197510" cy="197510"/>
          </a:xfrm>
          <a:prstGeom prst="rect">
            <a:avLst/>
          </a:prstGeom>
          <a:solidFill>
            <a:srgbClr val="CACAC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006840" y="4379976"/>
            <a:ext cx="197510" cy="197510"/>
          </a:xfrm>
          <a:prstGeom prst="rect">
            <a:avLst/>
          </a:prstGeom>
          <a:solidFill>
            <a:srgbClr val="A3A3A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226296" y="4379976"/>
            <a:ext cx="197510" cy="197510"/>
          </a:xfrm>
          <a:prstGeom prst="rect">
            <a:avLst/>
          </a:prstGeom>
          <a:solidFill>
            <a:srgbClr val="A3A3A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445752" y="4379976"/>
            <a:ext cx="197510" cy="197510"/>
          </a:xfrm>
          <a:prstGeom prst="rect">
            <a:avLst/>
          </a:prstGeom>
          <a:solidFill>
            <a:srgbClr val="A3A3A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9665208" y="4379976"/>
            <a:ext cx="197510" cy="197510"/>
          </a:xfrm>
          <a:prstGeom prst="rect">
            <a:avLst/>
          </a:prstGeom>
          <a:solidFill>
            <a:srgbClr val="CACAC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9884663" y="4379976"/>
            <a:ext cx="197510" cy="197510"/>
          </a:xfrm>
          <a:prstGeom prst="rect">
            <a:avLst/>
          </a:prstGeom>
          <a:solidFill>
            <a:srgbClr val="CACAC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0104119" y="4379976"/>
            <a:ext cx="197510" cy="197510"/>
          </a:xfrm>
          <a:prstGeom prst="rect">
            <a:avLst/>
          </a:prstGeom>
          <a:solidFill>
            <a:srgbClr val="CACAC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0323576" y="4379976"/>
            <a:ext cx="197510" cy="197510"/>
          </a:xfrm>
          <a:prstGeom prst="rect">
            <a:avLst/>
          </a:prstGeom>
          <a:solidFill>
            <a:srgbClr val="CACAC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549640" y="4553712"/>
            <a:ext cx="2606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1C2530"/>
                </a:solidFill>
                <a:latin typeface="Aptos Display"/>
              </a:rPr>
              <a:t>Desviación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822960" y="5257800"/>
            <a:ext cx="10515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822960" y="5257800"/>
            <a:ext cx="73152" cy="777240"/>
          </a:xfrm>
          <a:prstGeom prst="rect">
            <a:avLst/>
          </a:prstGeom>
          <a:solidFill>
            <a:srgbClr val="AA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051560" y="5422392"/>
            <a:ext cx="10104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Idea clave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51560" y="5852160"/>
            <a:ext cx="10104120" cy="27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Sin centrar, la primera dirección tiende a capturar el rostro promedio. Centrar libera el primer componente para capturar diferencias entre rostros.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4008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Aprendizaje No Supervisado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332720" y="6473952"/>
            <a:ext cx="1188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5E6D7D"/>
                </a:solidFill>
                <a:latin typeface="Aptos"/>
              </a:rPr>
              <a:t>Guía visual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DECISIÓN METODOLÓGICA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1C2530"/>
                </a:solidFill>
                <a:latin typeface="Aptos Display"/>
              </a:rPr>
              <a:t>Centrar casi siempre; estandarizar depende del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36576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5E6D7D"/>
                </a:solidFill>
                <a:latin typeface="Aptos Display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0749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73152" cy="1828800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47672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Centrar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4663440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Restar la media permite estudiar desviaciones respecto al promedio. En eigenfaces es esencial porque queremos capturar lo que diferencia cada cara.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0749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73152" cy="1828800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47672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Estandarizar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77440"/>
            <a:ext cx="4663440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Dividir por la desviación estándar es útil cuando las variables tienen escalas distintas. Si todos los píxeles ya comparten la misma escala de grises, puede no ser necesario.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2377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 Display"/>
              </a:rPr>
              <a:t>Regla práctica del curso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572000"/>
            <a:ext cx="24231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36592"/>
            <a:ext cx="2240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C2530"/>
                </a:solidFill>
                <a:latin typeface="Aptos Display"/>
              </a:rPr>
              <a:t>¿Las escalas difieren?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83280" y="4919472"/>
            <a:ext cx="1188720" cy="0"/>
          </a:xfrm>
          <a:prstGeom prst="line">
            <a:avLst/>
          </a:prstGeom>
          <a:ln w="19050">
            <a:solidFill>
              <a:srgbClr val="5E6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749039" y="4572000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C9469"/>
                </a:solidFill>
                <a:latin typeface="Aptos Display"/>
              </a:rPr>
              <a:t>Sí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4572000"/>
            <a:ext cx="2423160" cy="685800"/>
          </a:xfrm>
          <a:prstGeom prst="roundRect">
            <a:avLst/>
          </a:prstGeom>
          <a:solidFill>
            <a:srgbClr val="EBF4F9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4736592"/>
            <a:ext cx="2240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2C9469"/>
                </a:solidFill>
                <a:latin typeface="Aptos Display"/>
              </a:rPr>
              <a:t>Estandarizar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880360" y="5321808"/>
            <a:ext cx="0" cy="576072"/>
          </a:xfrm>
          <a:prstGeom prst="line">
            <a:avLst/>
          </a:prstGeom>
          <a:ln w="19050">
            <a:solidFill>
              <a:srgbClr val="5E6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148840" y="5504688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71429B"/>
                </a:solidFill>
                <a:latin typeface="Aptos Display"/>
              </a:rPr>
              <a:t>No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5806440"/>
            <a:ext cx="24231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83080" y="5952744"/>
            <a:ext cx="2240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71429B"/>
                </a:solidFill>
                <a:latin typeface="Aptos Display"/>
              </a:rPr>
              <a:t>Justificar no escalar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4251960"/>
            <a:ext cx="3840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06640" y="4251960"/>
            <a:ext cx="73152" cy="1508760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4416552"/>
            <a:ext cx="3429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Error frecuente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4846320"/>
            <a:ext cx="3429000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Aplicar estandarización automáticamente sin pensar en qué representa cada variable. En aprendizaje no supervisado, la decisión metodológica cambia la geometría del problema.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Aprendizaje No Supervisado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6473952"/>
            <a:ext cx="1188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5E6D7D"/>
                </a:solidFill>
                <a:latin typeface="Aptos"/>
              </a:rPr>
              <a:t>Guía visual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SVD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1C2530"/>
                </a:solidFill>
                <a:latin typeface="Aptos Display"/>
              </a:rPr>
              <a:t>Qué representa cada matriz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36576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5E6D7D"/>
                </a:solidFill>
                <a:latin typeface="Aptos Display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3657600" cy="960120"/>
          </a:xfrm>
          <a:prstGeom prst="roundRect">
            <a:avLst/>
          </a:prstGeom>
          <a:solidFill>
            <a:srgbClr val="EBF4F9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39" y="1801368"/>
            <a:ext cx="33832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C2530"/>
                </a:solidFill>
                <a:latin typeface="Aptos Display"/>
              </a:rPr>
              <a:t>Xc = U Σ Vᵀ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58568"/>
            <a:ext cx="3291840" cy="301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30" b="0">
                <a:solidFill>
                  <a:srgbClr val="5E6D7D"/>
                </a:solidFill>
                <a:latin typeface="Aptos"/>
              </a:rPr>
              <a:t>Factorización de la matriz centrada.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926080"/>
            <a:ext cx="33375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926080"/>
            <a:ext cx="73152" cy="2148840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90672"/>
            <a:ext cx="29260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U · coordenadas normalizadas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520440"/>
            <a:ext cx="2926079" cy="1399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Cada fila corresponde a una imagen. Sus columnas son ortonormales y describen direcciones en el espacio de observaciones.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926080"/>
            <a:ext cx="33375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926080"/>
            <a:ext cx="73152" cy="2148840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090672"/>
            <a:ext cx="29260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Σ · importancia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520440"/>
            <a:ext cx="2926079" cy="1399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Matriz diagonal. Sus valores singulares están ordenados de mayor a menor y cuantifican la relevancia de cada dirección.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926080"/>
            <a:ext cx="33375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926080"/>
            <a:ext cx="73152" cy="2148840"/>
          </a:xfrm>
          <a:prstGeom prst="rect">
            <a:avLst/>
          </a:prstGeom>
          <a:solidFill>
            <a:srgbClr val="AA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3090672"/>
            <a:ext cx="29260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Vᵀ · eigenfaces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520440"/>
            <a:ext cx="2926079" cy="1399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Cada fila puede reorganizarse como una imagen. Son patrones de variación comunes entre los rostros.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C2530"/>
                </a:solidFill>
                <a:latin typeface="Aptos Display"/>
              </a:rPr>
              <a:t>Lectura simple: patrones (V) + importancia (Σ) + cuánto usa cada imagen esos patrones (U).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Aprendizaje No Supervisado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473952"/>
            <a:ext cx="1188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5E6D7D"/>
                </a:solidFill>
                <a:latin typeface="Aptos"/>
              </a:rPr>
              <a:t>Guía visual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ECDDA"/>
                </a:solidFill>
                <a:latin typeface="Aptos Display"/>
              </a:rPr>
              <a:t>EIGENFACES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No son personas: son patrones de variación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36576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BECDDA"/>
                </a:solidFill>
                <a:latin typeface="Aptos Display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2331720" cy="2880360"/>
          </a:xfrm>
          <a:prstGeom prst="roundRect">
            <a:avLst/>
          </a:prstGeom>
          <a:solidFill>
            <a:srgbClr val="0A2D52"/>
          </a:solidFill>
          <a:ln w="12700">
            <a:solidFill>
              <a:srgbClr val="2A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62456" y="2194560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27048" y="2194560"/>
            <a:ext cx="148132" cy="148132"/>
          </a:xfrm>
          <a:prstGeom prst="rect">
            <a:avLst/>
          </a:prstGeom>
          <a:solidFill>
            <a:srgbClr val="E2E2E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91640" y="2194560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56232" y="2194560"/>
            <a:ext cx="148132" cy="148132"/>
          </a:xfrm>
          <a:prstGeom prst="rect">
            <a:avLst/>
          </a:prstGeom>
          <a:solidFill>
            <a:srgbClr val="BDBDBD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20824" y="2194560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85415" y="2194560"/>
            <a:ext cx="148132" cy="148132"/>
          </a:xfrm>
          <a:prstGeom prst="rect">
            <a:avLst/>
          </a:prstGeom>
          <a:solidFill>
            <a:srgbClr val="989898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50008" y="2194560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14600" y="2194560"/>
            <a:ext cx="148132" cy="148132"/>
          </a:xfrm>
          <a:prstGeom prst="rect">
            <a:avLst/>
          </a:prstGeom>
          <a:solidFill>
            <a:srgbClr val="73737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62456" y="2359152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27048" y="2359152"/>
            <a:ext cx="148132" cy="148132"/>
          </a:xfrm>
          <a:prstGeom prst="rect">
            <a:avLst/>
          </a:prstGeom>
          <a:solidFill>
            <a:srgbClr val="E2E2E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91640" y="2359152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56232" y="2359152"/>
            <a:ext cx="148132" cy="148132"/>
          </a:xfrm>
          <a:prstGeom prst="rect">
            <a:avLst/>
          </a:prstGeom>
          <a:solidFill>
            <a:srgbClr val="BDBDBD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20824" y="2359152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85415" y="2359152"/>
            <a:ext cx="148132" cy="148132"/>
          </a:xfrm>
          <a:prstGeom prst="rect">
            <a:avLst/>
          </a:prstGeom>
          <a:solidFill>
            <a:srgbClr val="989898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50008" y="2359152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14600" y="2359152"/>
            <a:ext cx="148132" cy="148132"/>
          </a:xfrm>
          <a:prstGeom prst="rect">
            <a:avLst/>
          </a:prstGeom>
          <a:solidFill>
            <a:srgbClr val="73737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62456" y="2523744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27048" y="2523744"/>
            <a:ext cx="148132" cy="148132"/>
          </a:xfrm>
          <a:prstGeom prst="rect">
            <a:avLst/>
          </a:prstGeom>
          <a:solidFill>
            <a:srgbClr val="E2E2E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91640" y="2523744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56232" y="2523744"/>
            <a:ext cx="148132" cy="148132"/>
          </a:xfrm>
          <a:prstGeom prst="rect">
            <a:avLst/>
          </a:prstGeom>
          <a:solidFill>
            <a:srgbClr val="BDBDBD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20824" y="2523744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85415" y="2523744"/>
            <a:ext cx="148132" cy="148132"/>
          </a:xfrm>
          <a:prstGeom prst="rect">
            <a:avLst/>
          </a:prstGeom>
          <a:solidFill>
            <a:srgbClr val="989898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50008" y="2523744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14600" y="2523744"/>
            <a:ext cx="148132" cy="148132"/>
          </a:xfrm>
          <a:prstGeom prst="rect">
            <a:avLst/>
          </a:prstGeom>
          <a:solidFill>
            <a:srgbClr val="73737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362456" y="2688336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527048" y="2688336"/>
            <a:ext cx="148132" cy="148132"/>
          </a:xfrm>
          <a:prstGeom prst="rect">
            <a:avLst/>
          </a:prstGeom>
          <a:solidFill>
            <a:srgbClr val="E2E2E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691640" y="2688336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856232" y="2688336"/>
            <a:ext cx="148132" cy="148132"/>
          </a:xfrm>
          <a:prstGeom prst="rect">
            <a:avLst/>
          </a:prstGeom>
          <a:solidFill>
            <a:srgbClr val="BDBDBD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20824" y="2688336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185415" y="2688336"/>
            <a:ext cx="148132" cy="148132"/>
          </a:xfrm>
          <a:prstGeom prst="rect">
            <a:avLst/>
          </a:prstGeom>
          <a:solidFill>
            <a:srgbClr val="989898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50008" y="2688336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14600" y="2688336"/>
            <a:ext cx="148132" cy="148132"/>
          </a:xfrm>
          <a:prstGeom prst="rect">
            <a:avLst/>
          </a:prstGeom>
          <a:solidFill>
            <a:srgbClr val="73737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362456" y="2852928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527048" y="2852928"/>
            <a:ext cx="148132" cy="148132"/>
          </a:xfrm>
          <a:prstGeom prst="rect">
            <a:avLst/>
          </a:prstGeom>
          <a:solidFill>
            <a:srgbClr val="E2E2E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691640" y="2852928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856232" y="2852928"/>
            <a:ext cx="148132" cy="148132"/>
          </a:xfrm>
          <a:prstGeom prst="rect">
            <a:avLst/>
          </a:prstGeom>
          <a:solidFill>
            <a:srgbClr val="BDBDBD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20824" y="2852928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185415" y="2852928"/>
            <a:ext cx="148132" cy="148132"/>
          </a:xfrm>
          <a:prstGeom prst="rect">
            <a:avLst/>
          </a:prstGeom>
          <a:solidFill>
            <a:srgbClr val="989898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350008" y="2852928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514600" y="2852928"/>
            <a:ext cx="148132" cy="148132"/>
          </a:xfrm>
          <a:prstGeom prst="rect">
            <a:avLst/>
          </a:prstGeom>
          <a:solidFill>
            <a:srgbClr val="73737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362456" y="3017520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527048" y="3017520"/>
            <a:ext cx="148132" cy="148132"/>
          </a:xfrm>
          <a:prstGeom prst="rect">
            <a:avLst/>
          </a:prstGeom>
          <a:solidFill>
            <a:srgbClr val="E2E2E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691640" y="3017520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856232" y="3017520"/>
            <a:ext cx="148132" cy="148132"/>
          </a:xfrm>
          <a:prstGeom prst="rect">
            <a:avLst/>
          </a:prstGeom>
          <a:solidFill>
            <a:srgbClr val="BDBDBD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020824" y="3017520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185415" y="3017520"/>
            <a:ext cx="148132" cy="148132"/>
          </a:xfrm>
          <a:prstGeom prst="rect">
            <a:avLst/>
          </a:prstGeom>
          <a:solidFill>
            <a:srgbClr val="989898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350008" y="3017520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514600" y="3017520"/>
            <a:ext cx="148132" cy="148132"/>
          </a:xfrm>
          <a:prstGeom prst="rect">
            <a:avLst/>
          </a:prstGeom>
          <a:solidFill>
            <a:srgbClr val="73737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362456" y="3182112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527048" y="3182112"/>
            <a:ext cx="148132" cy="148132"/>
          </a:xfrm>
          <a:prstGeom prst="rect">
            <a:avLst/>
          </a:prstGeom>
          <a:solidFill>
            <a:srgbClr val="E2E2E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691640" y="3182112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856232" y="3182112"/>
            <a:ext cx="148132" cy="148132"/>
          </a:xfrm>
          <a:prstGeom prst="rect">
            <a:avLst/>
          </a:prstGeom>
          <a:solidFill>
            <a:srgbClr val="BDBDBD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020824" y="3182112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185415" y="3182112"/>
            <a:ext cx="148132" cy="148132"/>
          </a:xfrm>
          <a:prstGeom prst="rect">
            <a:avLst/>
          </a:prstGeom>
          <a:solidFill>
            <a:srgbClr val="989898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350008" y="3182112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14600" y="3182112"/>
            <a:ext cx="148132" cy="148132"/>
          </a:xfrm>
          <a:prstGeom prst="rect">
            <a:avLst/>
          </a:prstGeom>
          <a:solidFill>
            <a:srgbClr val="73737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362456" y="3346704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527048" y="3346704"/>
            <a:ext cx="148132" cy="148132"/>
          </a:xfrm>
          <a:prstGeom prst="rect">
            <a:avLst/>
          </a:prstGeom>
          <a:solidFill>
            <a:srgbClr val="E2E2E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691640" y="3346704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856232" y="3346704"/>
            <a:ext cx="148132" cy="148132"/>
          </a:xfrm>
          <a:prstGeom prst="rect">
            <a:avLst/>
          </a:prstGeom>
          <a:solidFill>
            <a:srgbClr val="BDBDBD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020824" y="3346704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185415" y="3346704"/>
            <a:ext cx="148132" cy="148132"/>
          </a:xfrm>
          <a:prstGeom prst="rect">
            <a:avLst/>
          </a:prstGeom>
          <a:solidFill>
            <a:srgbClr val="989898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350008" y="3346704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514600" y="3346704"/>
            <a:ext cx="148132" cy="148132"/>
          </a:xfrm>
          <a:prstGeom prst="rect">
            <a:avLst/>
          </a:prstGeom>
          <a:solidFill>
            <a:srgbClr val="73737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51560" y="4096512"/>
            <a:ext cx="19659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Iluminación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657600" y="1828800"/>
            <a:ext cx="2331720" cy="2880360"/>
          </a:xfrm>
          <a:prstGeom prst="roundRect">
            <a:avLst/>
          </a:prstGeom>
          <a:solidFill>
            <a:srgbClr val="0A2D52"/>
          </a:solidFill>
          <a:ln w="12700">
            <a:solidFill>
              <a:srgbClr val="2A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151376" y="2194560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315968" y="2194560"/>
            <a:ext cx="148132" cy="148132"/>
          </a:xfrm>
          <a:prstGeom prst="rect">
            <a:avLst/>
          </a:prstGeom>
          <a:solidFill>
            <a:srgbClr val="E2E2E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480560" y="2194560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645152" y="2194560"/>
            <a:ext cx="148132" cy="148132"/>
          </a:xfrm>
          <a:prstGeom prst="rect">
            <a:avLst/>
          </a:prstGeom>
          <a:solidFill>
            <a:srgbClr val="BDBDBD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809744" y="2194560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974336" y="2194560"/>
            <a:ext cx="148132" cy="148132"/>
          </a:xfrm>
          <a:prstGeom prst="rect">
            <a:avLst/>
          </a:prstGeom>
          <a:solidFill>
            <a:srgbClr val="989898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138928" y="2194560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303520" y="2194560"/>
            <a:ext cx="148132" cy="148132"/>
          </a:xfrm>
          <a:prstGeom prst="rect">
            <a:avLst/>
          </a:prstGeom>
          <a:solidFill>
            <a:srgbClr val="73737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151376" y="2359152"/>
            <a:ext cx="148132" cy="148132"/>
          </a:xfrm>
          <a:prstGeom prst="rect">
            <a:avLst/>
          </a:prstGeom>
          <a:solidFill>
            <a:srgbClr val="E2E2E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315968" y="2359152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480560" y="2359152"/>
            <a:ext cx="148132" cy="148132"/>
          </a:xfrm>
          <a:prstGeom prst="rect">
            <a:avLst/>
          </a:prstGeom>
          <a:solidFill>
            <a:srgbClr val="E2E2E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45152" y="2359152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809744" y="2359152"/>
            <a:ext cx="148132" cy="148132"/>
          </a:xfrm>
          <a:prstGeom prst="rect">
            <a:avLst/>
          </a:prstGeom>
          <a:solidFill>
            <a:srgbClr val="BDBDBD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974336" y="2359152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138928" y="2359152"/>
            <a:ext cx="148132" cy="148132"/>
          </a:xfrm>
          <a:prstGeom prst="rect">
            <a:avLst/>
          </a:prstGeom>
          <a:solidFill>
            <a:srgbClr val="989898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303520" y="2359152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151376" y="2523744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315968" y="2523744"/>
            <a:ext cx="148132" cy="148132"/>
          </a:xfrm>
          <a:prstGeom prst="rect">
            <a:avLst/>
          </a:prstGeom>
          <a:solidFill>
            <a:srgbClr val="E2E2E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480560" y="2523744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645152" y="2523744"/>
            <a:ext cx="148132" cy="148132"/>
          </a:xfrm>
          <a:prstGeom prst="rect">
            <a:avLst/>
          </a:prstGeom>
          <a:solidFill>
            <a:srgbClr val="E2E2E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809744" y="2523744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974336" y="2523744"/>
            <a:ext cx="148132" cy="148132"/>
          </a:xfrm>
          <a:prstGeom prst="rect">
            <a:avLst/>
          </a:prstGeom>
          <a:solidFill>
            <a:srgbClr val="BDBDBD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138928" y="2523744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303520" y="2523744"/>
            <a:ext cx="148132" cy="148132"/>
          </a:xfrm>
          <a:prstGeom prst="rect">
            <a:avLst/>
          </a:prstGeom>
          <a:solidFill>
            <a:srgbClr val="989898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151376" y="2688336"/>
            <a:ext cx="148132" cy="148132"/>
          </a:xfrm>
          <a:prstGeom prst="rect">
            <a:avLst/>
          </a:prstGeom>
          <a:solidFill>
            <a:srgbClr val="BDBDBD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315968" y="2688336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480560" y="2688336"/>
            <a:ext cx="148132" cy="148132"/>
          </a:xfrm>
          <a:prstGeom prst="rect">
            <a:avLst/>
          </a:prstGeom>
          <a:solidFill>
            <a:srgbClr val="E2E2E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645152" y="2688336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809744" y="2688336"/>
            <a:ext cx="148132" cy="148132"/>
          </a:xfrm>
          <a:prstGeom prst="rect">
            <a:avLst/>
          </a:prstGeom>
          <a:solidFill>
            <a:srgbClr val="E2E2E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974336" y="2688336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138928" y="2688336"/>
            <a:ext cx="148132" cy="148132"/>
          </a:xfrm>
          <a:prstGeom prst="rect">
            <a:avLst/>
          </a:prstGeom>
          <a:solidFill>
            <a:srgbClr val="BDBDBD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303520" y="2688336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151376" y="2852928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315968" y="2852928"/>
            <a:ext cx="148132" cy="148132"/>
          </a:xfrm>
          <a:prstGeom prst="rect">
            <a:avLst/>
          </a:prstGeom>
          <a:solidFill>
            <a:srgbClr val="BDBDBD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480560" y="2852928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645152" y="2852928"/>
            <a:ext cx="148132" cy="148132"/>
          </a:xfrm>
          <a:prstGeom prst="rect">
            <a:avLst/>
          </a:prstGeom>
          <a:solidFill>
            <a:srgbClr val="E2E2E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809744" y="2852928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974336" y="2852928"/>
            <a:ext cx="148132" cy="148132"/>
          </a:xfrm>
          <a:prstGeom prst="rect">
            <a:avLst/>
          </a:prstGeom>
          <a:solidFill>
            <a:srgbClr val="E2E2E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138928" y="2852928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303520" y="2852928"/>
            <a:ext cx="148132" cy="148132"/>
          </a:xfrm>
          <a:prstGeom prst="rect">
            <a:avLst/>
          </a:prstGeom>
          <a:solidFill>
            <a:srgbClr val="BDBDBD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151376" y="3017520"/>
            <a:ext cx="148132" cy="148132"/>
          </a:xfrm>
          <a:prstGeom prst="rect">
            <a:avLst/>
          </a:prstGeom>
          <a:solidFill>
            <a:srgbClr val="989898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315968" y="3017520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480560" y="3017520"/>
            <a:ext cx="148132" cy="148132"/>
          </a:xfrm>
          <a:prstGeom prst="rect">
            <a:avLst/>
          </a:prstGeom>
          <a:solidFill>
            <a:srgbClr val="BDBDBD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645152" y="3017520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809744" y="3017520"/>
            <a:ext cx="148132" cy="148132"/>
          </a:xfrm>
          <a:prstGeom prst="rect">
            <a:avLst/>
          </a:prstGeom>
          <a:solidFill>
            <a:srgbClr val="E2E2E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974336" y="3017520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138928" y="3017520"/>
            <a:ext cx="148132" cy="148132"/>
          </a:xfrm>
          <a:prstGeom prst="rect">
            <a:avLst/>
          </a:prstGeom>
          <a:solidFill>
            <a:srgbClr val="E2E2E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303520" y="3017520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151376" y="3182112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315968" y="3182112"/>
            <a:ext cx="148132" cy="148132"/>
          </a:xfrm>
          <a:prstGeom prst="rect">
            <a:avLst/>
          </a:prstGeom>
          <a:solidFill>
            <a:srgbClr val="989898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480560" y="3182112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645152" y="3182112"/>
            <a:ext cx="148132" cy="148132"/>
          </a:xfrm>
          <a:prstGeom prst="rect">
            <a:avLst/>
          </a:prstGeom>
          <a:solidFill>
            <a:srgbClr val="BDBDBD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809744" y="3182112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974336" y="3182112"/>
            <a:ext cx="148132" cy="148132"/>
          </a:xfrm>
          <a:prstGeom prst="rect">
            <a:avLst/>
          </a:prstGeom>
          <a:solidFill>
            <a:srgbClr val="E2E2E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138928" y="3182112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303520" y="3182112"/>
            <a:ext cx="148132" cy="148132"/>
          </a:xfrm>
          <a:prstGeom prst="rect">
            <a:avLst/>
          </a:prstGeom>
          <a:solidFill>
            <a:srgbClr val="E2E2E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51376" y="3346704"/>
            <a:ext cx="148132" cy="148132"/>
          </a:xfrm>
          <a:prstGeom prst="rect">
            <a:avLst/>
          </a:prstGeom>
          <a:solidFill>
            <a:srgbClr val="737373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5968" y="3346704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80560" y="3346704"/>
            <a:ext cx="148132" cy="148132"/>
          </a:xfrm>
          <a:prstGeom prst="rect">
            <a:avLst/>
          </a:prstGeom>
          <a:solidFill>
            <a:srgbClr val="989898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45152" y="3346704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809744" y="3346704"/>
            <a:ext cx="148132" cy="148132"/>
          </a:xfrm>
          <a:prstGeom prst="rect">
            <a:avLst/>
          </a:prstGeom>
          <a:solidFill>
            <a:srgbClr val="BDBDBD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974336" y="3346704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138928" y="3346704"/>
            <a:ext cx="148132" cy="148132"/>
          </a:xfrm>
          <a:prstGeom prst="rect">
            <a:avLst/>
          </a:prstGeom>
          <a:solidFill>
            <a:srgbClr val="E2E2E2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303520" y="3346704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840480" y="4096512"/>
            <a:ext cx="19659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Orientación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446520" y="1828800"/>
            <a:ext cx="2331720" cy="2880360"/>
          </a:xfrm>
          <a:prstGeom prst="roundRect">
            <a:avLst/>
          </a:prstGeom>
          <a:solidFill>
            <a:srgbClr val="0A2D52"/>
          </a:solidFill>
          <a:ln w="12700">
            <a:solidFill>
              <a:srgbClr val="2A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940296" y="2194560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104888" y="2194560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269480" y="2194560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7434071" y="2194560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7598664" y="2194560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7763256" y="2194560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7927848" y="2194560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092440" y="2194560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940296" y="2359152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7104888" y="2359152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269480" y="2359152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7434071" y="2359152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7598664" y="2359152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763256" y="2359152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7927848" y="2359152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092440" y="2359152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940296" y="2523744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7104888" y="2523744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7269480" y="2523744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7434071" y="2523744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7598664" y="2523744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763256" y="2523744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7927848" y="2523744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8092440" y="2523744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40296" y="2688336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104888" y="2688336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269480" y="2688336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434071" y="2688336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598664" y="2688336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763256" y="2688336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927848" y="2688336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8092440" y="2688336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6940296" y="2852928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104888" y="2852928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269480" y="2852928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34071" y="2852928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98664" y="2852928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63256" y="2852928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27848" y="2852928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92440" y="2852928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6940296" y="3017520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104888" y="3017520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269480" y="3017520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7434071" y="3017520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7598664" y="3017520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7763256" y="3017520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7927848" y="3017520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092440" y="3017520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940296" y="3182112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104888" y="3182112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269480" y="3182112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434071" y="3182112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598664" y="3182112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7763256" y="3182112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927848" y="3182112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092440" y="3182112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6940296" y="3346704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7104888" y="3346704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7269480" y="3346704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7434071" y="3346704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7598664" y="3346704"/>
            <a:ext cx="148132" cy="148132"/>
          </a:xfrm>
          <a:prstGeom prst="rect">
            <a:avLst/>
          </a:prstGeom>
          <a:solidFill>
            <a:srgbClr val="85858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7763256" y="3346704"/>
            <a:ext cx="148132" cy="148132"/>
          </a:xfrm>
          <a:prstGeom prst="rect">
            <a:avLst/>
          </a:prstGeom>
          <a:solidFill>
            <a:srgbClr val="AAAAAA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7927848" y="3346704"/>
            <a:ext cx="148132" cy="148132"/>
          </a:xfrm>
          <a:prstGeom prst="rect">
            <a:avLst/>
          </a:prstGeom>
          <a:solidFill>
            <a:srgbClr val="CFCFCF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8092440" y="3346704"/>
            <a:ext cx="148132" cy="148132"/>
          </a:xfrm>
          <a:prstGeom prst="rect">
            <a:avLst/>
          </a:prstGeom>
          <a:solidFill>
            <a:srgbClr val="F5F5F5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6629400" y="4096512"/>
            <a:ext cx="19659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Anchura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9235439" y="1828800"/>
            <a:ext cx="2331720" cy="2880360"/>
          </a:xfrm>
          <a:prstGeom prst="roundRect">
            <a:avLst/>
          </a:prstGeom>
          <a:solidFill>
            <a:srgbClr val="0A2D52"/>
          </a:solidFill>
          <a:ln w="12700">
            <a:solidFill>
              <a:srgbClr val="2A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9729215" y="2194560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893807" y="2194560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10058399" y="2194560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10222991" y="2194560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10387583" y="2194560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10552175" y="2194560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10716767" y="2194560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10881359" y="2194560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9729215" y="2359152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9893807" y="2359152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0058399" y="2359152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10222991" y="2359152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10387583" y="2359152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10552175" y="2359152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10716767" y="2359152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10881359" y="2359152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729215" y="2523744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893807" y="2523744"/>
            <a:ext cx="148132" cy="148132"/>
          </a:xfrm>
          <a:prstGeom prst="rect">
            <a:avLst/>
          </a:prstGeom>
          <a:solidFill>
            <a:srgbClr val="868686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10058399" y="2523744"/>
            <a:ext cx="148132" cy="148132"/>
          </a:xfrm>
          <a:prstGeom prst="rect">
            <a:avLst/>
          </a:prstGeom>
          <a:solidFill>
            <a:srgbClr val="868686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10222991" y="2523744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10387583" y="2523744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10552175" y="2523744"/>
            <a:ext cx="148132" cy="148132"/>
          </a:xfrm>
          <a:prstGeom prst="rect">
            <a:avLst/>
          </a:prstGeom>
          <a:solidFill>
            <a:srgbClr val="868686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10716767" y="2523744"/>
            <a:ext cx="148132" cy="148132"/>
          </a:xfrm>
          <a:prstGeom prst="rect">
            <a:avLst/>
          </a:prstGeom>
          <a:solidFill>
            <a:srgbClr val="868686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0881359" y="2523744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729215" y="2688336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893807" y="2688336"/>
            <a:ext cx="148132" cy="148132"/>
          </a:xfrm>
          <a:prstGeom prst="rect">
            <a:avLst/>
          </a:prstGeom>
          <a:solidFill>
            <a:srgbClr val="868686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0058399" y="2688336"/>
            <a:ext cx="148132" cy="148132"/>
          </a:xfrm>
          <a:prstGeom prst="rect">
            <a:avLst/>
          </a:prstGeom>
          <a:solidFill>
            <a:srgbClr val="868686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0222991" y="2688336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10387583" y="2688336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10552175" y="2688336"/>
            <a:ext cx="148132" cy="148132"/>
          </a:xfrm>
          <a:prstGeom prst="rect">
            <a:avLst/>
          </a:prstGeom>
          <a:solidFill>
            <a:srgbClr val="868686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0716767" y="2688336"/>
            <a:ext cx="148132" cy="148132"/>
          </a:xfrm>
          <a:prstGeom prst="rect">
            <a:avLst/>
          </a:prstGeom>
          <a:solidFill>
            <a:srgbClr val="868686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10881359" y="2688336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729215" y="2852928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9893807" y="2852928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10058399" y="2852928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0222991" y="2852928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0387583" y="2852928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0552175" y="2852928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10716767" y="2852928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10881359" y="2852928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9729215" y="3017520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893807" y="3017520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0058399" y="3017520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0222991" y="3017520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10387583" y="3017520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10552175" y="3017520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10716767" y="3017520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10881359" y="3017520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729215" y="3182112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893807" y="3182112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10058399" y="3182112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10222991" y="3182112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10387583" y="3182112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10552175" y="3182112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10716767" y="3182112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0881359" y="3182112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9729215" y="3346704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9893807" y="3346704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10058399" y="3346704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0222991" y="3346704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10387583" y="3346704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10552175" y="3346704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10716767" y="3346704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10881359" y="3346704"/>
            <a:ext cx="148132" cy="148132"/>
          </a:xfrm>
          <a:prstGeom prst="rect">
            <a:avLst/>
          </a:prstGeom>
          <a:solidFill>
            <a:srgbClr val="D4D4D4"/>
          </a:solidFill>
          <a:ln w="5080">
            <a:solidFill>
              <a:srgbClr val="BE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9418319" y="4096512"/>
            <a:ext cx="19659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Display"/>
              </a:rPr>
              <a:t>Gafas / contraste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868680" y="5230368"/>
            <a:ext cx="104241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0">
                <a:solidFill>
                  <a:srgbClr val="DAE4EE"/>
                </a:solidFill>
                <a:latin typeface="Aptos"/>
              </a:rPr>
              <a:t>Cada eigenface resume una dirección donde los rostros difieren. Interpretarlas puede ser útil, pero no siempre será limpio o único.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64008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Aprendizaje No Supervisado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10332720" y="6473952"/>
            <a:ext cx="1188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5E6D7D"/>
                </a:solidFill>
                <a:latin typeface="Aptos"/>
              </a:rPr>
              <a:t>Guía visual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REPRESENTACIÓN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1C2530"/>
                </a:solidFill>
                <a:latin typeface="Aptos Display"/>
              </a:rPr>
              <a:t>Cada rostro = promedio + mezcla de eigenfaces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36576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5E6D7D"/>
                </a:solidFill>
                <a:latin typeface="Aptos Display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4663440" cy="1051560"/>
          </a:xfrm>
          <a:prstGeom prst="roundRect">
            <a:avLst/>
          </a:prstGeom>
          <a:solidFill>
            <a:srgbClr val="EBF4F9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92807"/>
            <a:ext cx="43891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C2530"/>
                </a:solidFill>
                <a:latin typeface="Aptos Display"/>
              </a:rPr>
              <a:t>xᵢ ≈ μ + zᵢ1v₁ + zᵢ2v₂ + … + zᵢkvₖ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50008"/>
            <a:ext cx="4297679" cy="3931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30" b="0">
                <a:solidFill>
                  <a:srgbClr val="5E6D7D"/>
                </a:solidFill>
                <a:latin typeface="Aptos"/>
              </a:rPr>
              <a:t>zᵢj = score: cuánto del patrón j necesita la imagen 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337560"/>
            <a:ext cx="1508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502152"/>
            <a:ext cx="1508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0A2D52"/>
                </a:solidFill>
                <a:latin typeface="Aptos Display"/>
              </a:rPr>
              <a:t>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22191"/>
            <a:ext cx="150876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5E6D7D"/>
                </a:solidFill>
                <a:latin typeface="Aptos"/>
              </a:rPr>
              <a:t>promedio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3611880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5E6D7D"/>
                </a:solidFill>
                <a:latin typeface="Aptos Display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3337560"/>
            <a:ext cx="1508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3502152"/>
            <a:ext cx="1508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6C7DD"/>
                </a:solidFill>
                <a:latin typeface="Aptos Display"/>
              </a:rPr>
              <a:t>v₁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822191"/>
            <a:ext cx="150876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5E6D7D"/>
                </a:solidFill>
                <a:latin typeface="Aptos"/>
              </a:rPr>
              <a:t>patrón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3611880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5E6D7D"/>
                </a:solidFill>
                <a:latin typeface="Aptos Display"/>
              </a:rPr>
              <a:t>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3337560"/>
            <a:ext cx="1508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3502152"/>
            <a:ext cx="1508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71429B"/>
                </a:solidFill>
                <a:latin typeface="Aptos Display"/>
              </a:rPr>
              <a:t>v₂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822191"/>
            <a:ext cx="150876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5E6D7D"/>
                </a:solidFill>
                <a:latin typeface="Aptos"/>
              </a:rPr>
              <a:t>patrón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3611880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5E6D7D"/>
                </a:solidFill>
                <a:latin typeface="Aptos Display"/>
              </a:rPr>
              <a:t>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3337560"/>
            <a:ext cx="1508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3502152"/>
            <a:ext cx="1508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5E6D7D"/>
                </a:solidFill>
                <a:latin typeface="Aptos Display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822191"/>
            <a:ext cx="150876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5E6D7D"/>
                </a:solidFill>
                <a:latin typeface="Apto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3611880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5E6D7D"/>
                </a:solidFill>
                <a:latin typeface="Aptos Display"/>
              </a:rPr>
              <a:t>+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3337560"/>
            <a:ext cx="1508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3502152"/>
            <a:ext cx="1508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EB892C"/>
                </a:solidFill>
                <a:latin typeface="Aptos Display"/>
              </a:rPr>
              <a:t>vₖ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822191"/>
            <a:ext cx="1508760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5E6D7D"/>
                </a:solidFill>
                <a:latin typeface="Aptos"/>
              </a:rPr>
              <a:t>patrón 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0" y="4572000"/>
            <a:ext cx="0" cy="822960"/>
          </a:xfrm>
          <a:prstGeom prst="line">
            <a:avLst/>
          </a:prstGeom>
          <a:ln w="25400">
            <a:solidFill>
              <a:srgbClr val="16C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37560" y="5349240"/>
            <a:ext cx="3657600" cy="731520"/>
          </a:xfrm>
          <a:prstGeom prst="roundRect">
            <a:avLst/>
          </a:prstGeom>
          <a:solidFill>
            <a:srgbClr val="0A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5532120"/>
            <a:ext cx="3291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Rostro reconstruido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800" y="4663440"/>
            <a:ext cx="3657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43800" y="4663440"/>
            <a:ext cx="73152" cy="1325880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4828031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No leas demasiado el signo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257800"/>
            <a:ext cx="324612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Cambiar el signo de una dirección solo rota la representación. Lo importante es la estructura relativa y la contribución a la reconstrucción.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Aprendizaje No Supervisado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6473952"/>
            <a:ext cx="1188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5E6D7D"/>
                </a:solidFill>
                <a:latin typeface="Aptos"/>
              </a:rPr>
              <a:t>Guía visual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CONEXIÓN MATEMÁTICA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1C2530"/>
                </a:solidFill>
                <a:latin typeface="Aptos Display"/>
              </a:rPr>
              <a:t>SVD contiene los ingredientes de PCA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36576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5E6D7D"/>
                </a:solidFill>
                <a:latin typeface="Aptos Display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45920"/>
            <a:ext cx="4572000" cy="914400"/>
          </a:xfrm>
          <a:prstGeom prst="roundRect">
            <a:avLst/>
          </a:prstGeom>
          <a:solidFill>
            <a:srgbClr val="EBF4F9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39" y="1755648"/>
            <a:ext cx="42976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C2530"/>
                </a:solidFill>
                <a:latin typeface="Aptos Display"/>
              </a:rPr>
              <a:t>XcᵀXc = V Σ² Vᵀ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12848"/>
            <a:ext cx="42062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30" b="0">
                <a:solidFill>
                  <a:srgbClr val="5E6D7D"/>
                </a:solidFill>
                <a:latin typeface="Aptos"/>
              </a:rPr>
              <a:t>Al usar UᵀU = I, la SVD produce la descomposición espectral de XcᵀXc.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645920"/>
            <a:ext cx="2743200" cy="914400"/>
          </a:xfrm>
          <a:prstGeom prst="roundRect">
            <a:avLst/>
          </a:prstGeom>
          <a:solidFill>
            <a:srgbClr val="EBF4F9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1755648"/>
            <a:ext cx="24688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C2530"/>
                </a:solidFill>
                <a:latin typeface="Aptos Display"/>
              </a:rPr>
              <a:t>λⱼ = σⱼ²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212848"/>
            <a:ext cx="2377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30" b="0">
                <a:solidFill>
                  <a:srgbClr val="5E6D7D"/>
                </a:solidFill>
                <a:latin typeface="Aptos"/>
              </a:rPr>
              <a:t>Los autovalores son los valores singulares al cuadrado.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97180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971800"/>
            <a:ext cx="73152" cy="1828800"/>
          </a:xfrm>
          <a:prstGeom prst="rect">
            <a:avLst/>
          </a:prstGeom>
          <a:solidFill>
            <a:srgbClr val="AA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136392"/>
            <a:ext cx="283463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566160"/>
            <a:ext cx="2834639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Sus columnas son autovectores de XcᵀXc. En PCA son las direcciones principales / loadings.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297180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53128" y="2971800"/>
            <a:ext cx="73152" cy="1828800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3136392"/>
            <a:ext cx="283463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Σ²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566160"/>
            <a:ext cx="2834639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Da los autovalores y, por tanto, la magnitud de varianza asociada a cada componente.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297180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2971800"/>
            <a:ext cx="73152" cy="1828800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1" y="3136392"/>
            <a:ext cx="283463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Varianza explicada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3566160"/>
            <a:ext cx="2834639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σⱼ² / Σσ² permite saber qué porcentaje de información aporta cada dirección.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57800"/>
            <a:ext cx="103327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C2530"/>
                </a:solidFill>
                <a:latin typeface="Aptos Display"/>
              </a:rPr>
              <a:t>SVD no es “otro PCA”: es una factorización algebraica más general que permite obtener PCA y muchas otras soluciones numéricas.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Aprendizaje No Supervisado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473952"/>
            <a:ext cx="1188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5E6D7D"/>
                </a:solidFill>
                <a:latin typeface="Aptos"/>
              </a:rPr>
              <a:t>Guía visual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REDUCCIÓN DE DIMENSIÓN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1C2530"/>
                </a:solidFill>
                <a:latin typeface="Aptos Display"/>
              </a:rPr>
              <a:t>¿Cuántas eigenfaces conservar?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36576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5E6D7D"/>
                </a:solidFill>
                <a:latin typeface="Aptos Display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4206240" cy="914400"/>
          </a:xfrm>
          <a:prstGeom prst="roundRect">
            <a:avLst/>
          </a:prstGeom>
          <a:solidFill>
            <a:srgbClr val="EBF4F9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55648"/>
            <a:ext cx="39319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1C2530"/>
                </a:solidFill>
                <a:latin typeface="Aptos Display"/>
              </a:rPr>
              <a:t>EVRⱼ = σⱼ² / Σℓ σℓ²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384047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30" b="0">
                <a:solidFill>
                  <a:srgbClr val="5E6D7D"/>
                </a:solidFill>
                <a:latin typeface="Aptos"/>
              </a:rPr>
              <a:t>Proporción de varianza explicada por la dirección j.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C2530"/>
                </a:solidFill>
                <a:latin typeface="Aptos Display"/>
              </a:rPr>
              <a:t>k =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2834640"/>
            <a:ext cx="7132320" cy="292608"/>
          </a:xfrm>
          <a:prstGeom prst="roundRect">
            <a:avLst/>
          </a:prstGeom>
          <a:solidFill>
            <a:srgbClr val="E1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20240" y="2834640"/>
            <a:ext cx="5705856" cy="292608"/>
          </a:xfrm>
          <a:prstGeom prst="round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81160" y="2807208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80.0%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47872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C2530"/>
                </a:solidFill>
                <a:latin typeface="Aptos Display"/>
              </a:rPr>
              <a:t>k = 66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3547872"/>
            <a:ext cx="7132320" cy="292608"/>
          </a:xfrm>
          <a:prstGeom prst="roundRect">
            <a:avLst/>
          </a:prstGeom>
          <a:solidFill>
            <a:srgbClr val="E1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20240" y="3547872"/>
            <a:ext cx="6419088" cy="292608"/>
          </a:xfrm>
          <a:prstGeom prst="round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3520440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90.0%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6110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C2530"/>
                </a:solidFill>
                <a:latin typeface="Aptos Display"/>
              </a:rPr>
              <a:t>k = 123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4261104"/>
            <a:ext cx="7132320" cy="292608"/>
          </a:xfrm>
          <a:prstGeom prst="roundRect">
            <a:avLst/>
          </a:prstGeom>
          <a:solidFill>
            <a:srgbClr val="E1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920240" y="4261104"/>
            <a:ext cx="6775703" cy="292608"/>
          </a:xfrm>
          <a:prstGeom prst="round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4233672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95.0%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74336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C2530"/>
                </a:solidFill>
                <a:latin typeface="Aptos Display"/>
              </a:rPr>
              <a:t>k = 200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4974336"/>
            <a:ext cx="7132320" cy="292608"/>
          </a:xfrm>
          <a:prstGeom prst="roundRect">
            <a:avLst/>
          </a:prstGeom>
          <a:solidFill>
            <a:srgbClr val="E1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920240" y="4974336"/>
            <a:ext cx="6982541" cy="292608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4946903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97.9%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4434840"/>
            <a:ext cx="16002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6920" y="4434840"/>
            <a:ext cx="73152" cy="1280160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4599431"/>
            <a:ext cx="1188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Cuidado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5029200"/>
            <a:ext cx="11887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Varianza explicada ≠ accuracy del clasificador.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Aprendizaje No Supervisado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6473952"/>
            <a:ext cx="1188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5E6D7D"/>
                </a:solidFill>
                <a:latin typeface="Aptos"/>
              </a:rPr>
              <a:t>Guía visual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RECONSTRUCCIÓN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1C2530"/>
                </a:solidFill>
                <a:latin typeface="Aptos Display"/>
              </a:rPr>
              <a:t>Más k → más detalle, pero más costo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36576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5E6D7D"/>
                </a:solidFill>
                <a:latin typeface="Aptos Display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920240" cy="33375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432" y="2240280"/>
            <a:ext cx="137160" cy="13716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35024" y="2240280"/>
            <a:ext cx="137160" cy="13716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99616" y="2240280"/>
            <a:ext cx="137160" cy="13716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64208" y="2240280"/>
            <a:ext cx="137160" cy="137160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0" y="2240280"/>
            <a:ext cx="137160" cy="13716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93391" y="2240280"/>
            <a:ext cx="137160" cy="13716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57984" y="2240280"/>
            <a:ext cx="137160" cy="13716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70432" y="2404872"/>
            <a:ext cx="137160" cy="13716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35024" y="2404872"/>
            <a:ext cx="137160" cy="137160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99616" y="2404872"/>
            <a:ext cx="137160" cy="137160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64208" y="2404872"/>
            <a:ext cx="137160" cy="137160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0" y="2404872"/>
            <a:ext cx="137160" cy="137160"/>
          </a:xfrm>
          <a:prstGeom prst="rect">
            <a:avLst/>
          </a:prstGeom>
          <a:solidFill>
            <a:srgbClr val="9D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93391" y="2404872"/>
            <a:ext cx="137160" cy="137160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57984" y="2404872"/>
            <a:ext cx="137160" cy="13716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70432" y="2569464"/>
            <a:ext cx="137160" cy="13716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35024" y="2569464"/>
            <a:ext cx="137160" cy="137160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499616" y="2569464"/>
            <a:ext cx="137160" cy="137160"/>
          </a:xfrm>
          <a:prstGeom prst="rect">
            <a:avLst/>
          </a:prstGeom>
          <a:solidFill>
            <a:srgbClr val="8B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64208" y="2569464"/>
            <a:ext cx="137160" cy="137160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28800" y="2569464"/>
            <a:ext cx="137160" cy="13716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93391" y="2569464"/>
            <a:ext cx="137160" cy="137160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57984" y="2569464"/>
            <a:ext cx="137160" cy="13716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70432" y="2734056"/>
            <a:ext cx="137160" cy="13716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35024" y="2734056"/>
            <a:ext cx="137160" cy="13716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99616" y="2734056"/>
            <a:ext cx="137160" cy="13716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64208" y="2734056"/>
            <a:ext cx="137160" cy="13716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0" y="2734056"/>
            <a:ext cx="137160" cy="13716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93391" y="2734056"/>
            <a:ext cx="137160" cy="137160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57984" y="2734056"/>
            <a:ext cx="137160" cy="137160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70432" y="2898648"/>
            <a:ext cx="137160" cy="137160"/>
          </a:xfrm>
          <a:prstGeom prst="rect">
            <a:avLst/>
          </a:prstGeom>
          <a:solidFill>
            <a:srgbClr val="ADA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35024" y="2898648"/>
            <a:ext cx="137160" cy="137160"/>
          </a:xfrm>
          <a:prstGeom prst="rect">
            <a:avLst/>
          </a:prstGeom>
          <a:solidFill>
            <a:srgbClr val="8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499616" y="2898648"/>
            <a:ext cx="137160" cy="137160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64208" y="2898648"/>
            <a:ext cx="137160" cy="13716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28800" y="2898648"/>
            <a:ext cx="137160" cy="137160"/>
          </a:xfrm>
          <a:prstGeom prst="rect">
            <a:avLst/>
          </a:prstGeom>
          <a:solidFill>
            <a:srgbClr val="7B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93391" y="2898648"/>
            <a:ext cx="137160" cy="137160"/>
          </a:xfrm>
          <a:prstGeom prst="rect">
            <a:avLst/>
          </a:prstGeom>
          <a:solidFill>
            <a:srgbClr val="8E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57984" y="2898648"/>
            <a:ext cx="137160" cy="137160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70432" y="3063240"/>
            <a:ext cx="137160" cy="137160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335024" y="3063240"/>
            <a:ext cx="137160" cy="137160"/>
          </a:xfrm>
          <a:prstGeom prst="rect">
            <a:avLst/>
          </a:prstGeom>
          <a:solidFill>
            <a:srgbClr val="939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499616" y="3063240"/>
            <a:ext cx="137160" cy="13716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664208" y="3063240"/>
            <a:ext cx="137160" cy="137160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828800" y="3063240"/>
            <a:ext cx="137160" cy="13716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993391" y="3063240"/>
            <a:ext cx="137160" cy="13716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157984" y="3063240"/>
            <a:ext cx="137160" cy="137160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70432" y="3227832"/>
            <a:ext cx="137160" cy="13716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335024" y="3227832"/>
            <a:ext cx="137160" cy="137160"/>
          </a:xfrm>
          <a:prstGeom prst="rect">
            <a:avLst/>
          </a:prstGeom>
          <a:solidFill>
            <a:srgbClr val="9D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499616" y="3227832"/>
            <a:ext cx="137160" cy="13716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664208" y="3227832"/>
            <a:ext cx="137160" cy="137160"/>
          </a:xfrm>
          <a:prstGeom prst="rect">
            <a:avLst/>
          </a:prstGeom>
          <a:solidFill>
            <a:srgbClr val="8383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828800" y="3227832"/>
            <a:ext cx="137160" cy="13716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993391" y="3227832"/>
            <a:ext cx="137160" cy="137160"/>
          </a:xfrm>
          <a:prstGeom prst="rect">
            <a:avLst/>
          </a:prstGeom>
          <a:solidFill>
            <a:srgbClr val="9D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157984" y="3227832"/>
            <a:ext cx="137160" cy="13716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70432" y="3392424"/>
            <a:ext cx="137160" cy="13716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335024" y="3392424"/>
            <a:ext cx="137160" cy="137160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499616" y="3392424"/>
            <a:ext cx="137160" cy="137160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664208" y="3392424"/>
            <a:ext cx="137160" cy="137160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828800" y="3392424"/>
            <a:ext cx="137160" cy="137160"/>
          </a:xfrm>
          <a:prstGeom prst="rect">
            <a:avLst/>
          </a:prstGeom>
          <a:solidFill>
            <a:srgbClr val="9D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993391" y="3392424"/>
            <a:ext cx="137160" cy="137160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157984" y="3392424"/>
            <a:ext cx="137160" cy="13716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70432" y="3557016"/>
            <a:ext cx="137160" cy="13716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335024" y="3557016"/>
            <a:ext cx="137160" cy="13716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499616" y="3557016"/>
            <a:ext cx="137160" cy="13716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664208" y="3557016"/>
            <a:ext cx="137160" cy="137160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828800" y="3557016"/>
            <a:ext cx="137160" cy="13716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993391" y="3557016"/>
            <a:ext cx="137160" cy="13716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157984" y="3557016"/>
            <a:ext cx="137160" cy="13716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7240" y="3977639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C2530"/>
                </a:solidFill>
                <a:latin typeface="Aptos Display"/>
              </a:rPr>
              <a:t>k = 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" y="4352544"/>
            <a:ext cx="1645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5E6D7D"/>
                </a:solidFill>
                <a:latin typeface="Aptos"/>
              </a:rPr>
              <a:t>muy borrosa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63240" y="1828800"/>
            <a:ext cx="1920240" cy="33375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456432" y="2240280"/>
            <a:ext cx="137160" cy="137160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621024" y="2240280"/>
            <a:ext cx="137160" cy="137160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785616" y="2240280"/>
            <a:ext cx="137160" cy="137160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950208" y="2240280"/>
            <a:ext cx="137160" cy="137160"/>
          </a:xfrm>
          <a:prstGeom prst="rect">
            <a:avLst/>
          </a:prstGeom>
          <a:solidFill>
            <a:srgbClr val="ADA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114800" y="2240280"/>
            <a:ext cx="137160" cy="13716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279392" y="2240280"/>
            <a:ext cx="137160" cy="137160"/>
          </a:xfrm>
          <a:prstGeom prst="rect">
            <a:avLst/>
          </a:prstGeom>
          <a:solidFill>
            <a:srgbClr val="B3B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443984" y="2240280"/>
            <a:ext cx="137160" cy="137160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456432" y="2404872"/>
            <a:ext cx="137160" cy="137160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621024" y="2404872"/>
            <a:ext cx="137160" cy="137160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785616" y="2404872"/>
            <a:ext cx="137160" cy="13716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950208" y="2404872"/>
            <a:ext cx="137160" cy="137160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114800" y="2404872"/>
            <a:ext cx="137160" cy="137160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279392" y="2404872"/>
            <a:ext cx="137160" cy="137160"/>
          </a:xfrm>
          <a:prstGeom prst="rect">
            <a:avLst/>
          </a:prstGeom>
          <a:solidFill>
            <a:srgbClr val="A9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443984" y="2404872"/>
            <a:ext cx="137160" cy="137160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456432" y="2569464"/>
            <a:ext cx="137160" cy="137160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621024" y="2569464"/>
            <a:ext cx="137160" cy="137160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785616" y="2569464"/>
            <a:ext cx="137160" cy="13716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950208" y="2569464"/>
            <a:ext cx="137160" cy="137160"/>
          </a:xfrm>
          <a:prstGeom prst="rect">
            <a:avLst/>
          </a:prstGeom>
          <a:solidFill>
            <a:srgbClr val="84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114800" y="2569464"/>
            <a:ext cx="137160" cy="137160"/>
          </a:xfrm>
          <a:prstGeom prst="rect">
            <a:avLst/>
          </a:prstGeom>
          <a:solidFill>
            <a:srgbClr val="87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279392" y="2569464"/>
            <a:ext cx="137160" cy="137160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443984" y="2569464"/>
            <a:ext cx="137160" cy="137160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456432" y="2734056"/>
            <a:ext cx="137160" cy="137160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621024" y="2734056"/>
            <a:ext cx="137160" cy="137160"/>
          </a:xfrm>
          <a:prstGeom prst="rect">
            <a:avLst/>
          </a:prstGeom>
          <a:solidFill>
            <a:srgbClr val="909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785616" y="2734056"/>
            <a:ext cx="137160" cy="13716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950208" y="2734056"/>
            <a:ext cx="137160" cy="13716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114800" y="2734056"/>
            <a:ext cx="137160" cy="137160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279392" y="2734056"/>
            <a:ext cx="137160" cy="137160"/>
          </a:xfrm>
          <a:prstGeom prst="rect">
            <a:avLst/>
          </a:prstGeom>
          <a:solidFill>
            <a:srgbClr val="8B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443984" y="2734056"/>
            <a:ext cx="137160" cy="137160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456432" y="2898648"/>
            <a:ext cx="137160" cy="13716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621024" y="2898648"/>
            <a:ext cx="137160" cy="137160"/>
          </a:xfrm>
          <a:prstGeom prst="rect">
            <a:avLst/>
          </a:prstGeom>
          <a:solidFill>
            <a:srgbClr val="8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785616" y="2898648"/>
            <a:ext cx="137160" cy="137160"/>
          </a:xfrm>
          <a:prstGeom prst="rect">
            <a:avLst/>
          </a:prstGeom>
          <a:solidFill>
            <a:srgbClr val="7B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950208" y="2898648"/>
            <a:ext cx="137160" cy="137160"/>
          </a:xfrm>
          <a:prstGeom prst="rect">
            <a:avLst/>
          </a:prstGeom>
          <a:solidFill>
            <a:srgbClr val="71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114800" y="2898648"/>
            <a:ext cx="137160" cy="13716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279392" y="2898648"/>
            <a:ext cx="137160" cy="13716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443984" y="2898648"/>
            <a:ext cx="137160" cy="137160"/>
          </a:xfrm>
          <a:prstGeom prst="rect">
            <a:avLst/>
          </a:prstGeom>
          <a:solidFill>
            <a:srgbClr val="ADA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456432" y="3063240"/>
            <a:ext cx="137160" cy="13716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621024" y="3063240"/>
            <a:ext cx="137160" cy="13716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785616" y="3063240"/>
            <a:ext cx="137160" cy="137160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950208" y="3063240"/>
            <a:ext cx="137160" cy="13716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114800" y="3063240"/>
            <a:ext cx="137160" cy="13716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279392" y="3063240"/>
            <a:ext cx="137160" cy="137160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443984" y="3063240"/>
            <a:ext cx="137160" cy="137160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3456432" y="3227832"/>
            <a:ext cx="137160" cy="13716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621024" y="3227832"/>
            <a:ext cx="137160" cy="137160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785616" y="3227832"/>
            <a:ext cx="137160" cy="137160"/>
          </a:xfrm>
          <a:prstGeom prst="rect">
            <a:avLst/>
          </a:prstGeom>
          <a:solidFill>
            <a:srgbClr val="84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950208" y="3227832"/>
            <a:ext cx="137160" cy="137160"/>
          </a:xfrm>
          <a:prstGeom prst="rect">
            <a:avLst/>
          </a:prstGeom>
          <a:solidFill>
            <a:srgbClr val="7D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114800" y="3227832"/>
            <a:ext cx="137160" cy="1371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279392" y="3227832"/>
            <a:ext cx="137160" cy="137160"/>
          </a:xfrm>
          <a:prstGeom prst="rect">
            <a:avLst/>
          </a:prstGeom>
          <a:solidFill>
            <a:srgbClr val="9D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443984" y="3227832"/>
            <a:ext cx="137160" cy="13716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456432" y="3392424"/>
            <a:ext cx="137160" cy="13716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621024" y="3392424"/>
            <a:ext cx="137160" cy="137160"/>
          </a:xfrm>
          <a:prstGeom prst="rect">
            <a:avLst/>
          </a:prstGeom>
          <a:solidFill>
            <a:srgbClr val="A9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5616" y="3392424"/>
            <a:ext cx="137160" cy="137160"/>
          </a:xfrm>
          <a:prstGeom prst="rect">
            <a:avLst/>
          </a:prstGeom>
          <a:solidFill>
            <a:srgbClr val="95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50208" y="3392424"/>
            <a:ext cx="137160" cy="13716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14800" y="3392424"/>
            <a:ext cx="137160" cy="137160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79392" y="3392424"/>
            <a:ext cx="137160" cy="137160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443984" y="3392424"/>
            <a:ext cx="137160" cy="137160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456432" y="3557016"/>
            <a:ext cx="137160" cy="137160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621024" y="3557016"/>
            <a:ext cx="137160" cy="137160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3785616" y="3557016"/>
            <a:ext cx="137160" cy="137160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950208" y="3557016"/>
            <a:ext cx="137160" cy="137160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114800" y="3557016"/>
            <a:ext cx="137160" cy="13716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279392" y="3557016"/>
            <a:ext cx="137160" cy="137160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43984" y="3557016"/>
            <a:ext cx="137160" cy="137160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063240" y="3977639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C2530"/>
                </a:solidFill>
                <a:latin typeface="Aptos Display"/>
              </a:rPr>
              <a:t>k = 25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200400" y="4352544"/>
            <a:ext cx="1645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5E6D7D"/>
                </a:solidFill>
                <a:latin typeface="Aptos"/>
              </a:rPr>
              <a:t>estructura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5349240" y="1828800"/>
            <a:ext cx="1920240" cy="33375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742431" y="2240280"/>
            <a:ext cx="137160" cy="137160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907023" y="2240280"/>
            <a:ext cx="137160" cy="13716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071616" y="2240280"/>
            <a:ext cx="137160" cy="137160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236207" y="2240280"/>
            <a:ext cx="137160" cy="137160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400799" y="2240280"/>
            <a:ext cx="137160" cy="13716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565392" y="2240280"/>
            <a:ext cx="137160" cy="13716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729983" y="2240280"/>
            <a:ext cx="137160" cy="137160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742431" y="2404872"/>
            <a:ext cx="137160" cy="137160"/>
          </a:xfrm>
          <a:prstGeom prst="rect">
            <a:avLst/>
          </a:prstGeom>
          <a:solidFill>
            <a:srgbClr val="A8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907023" y="2404872"/>
            <a:ext cx="137160" cy="13716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071616" y="2404872"/>
            <a:ext cx="137160" cy="137160"/>
          </a:xfrm>
          <a:prstGeom prst="rect">
            <a:avLst/>
          </a:prstGeom>
          <a:solidFill>
            <a:srgbClr val="9595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236207" y="2404872"/>
            <a:ext cx="137160" cy="137160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400799" y="2404872"/>
            <a:ext cx="137160" cy="13716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565392" y="2404872"/>
            <a:ext cx="137160" cy="137160"/>
          </a:xfrm>
          <a:prstGeom prst="rect">
            <a:avLst/>
          </a:prstGeom>
          <a:solidFill>
            <a:srgbClr val="A3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729983" y="2404872"/>
            <a:ext cx="137160" cy="13716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742431" y="2569464"/>
            <a:ext cx="137160" cy="13716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07023" y="2569464"/>
            <a:ext cx="137160" cy="137160"/>
          </a:xfrm>
          <a:prstGeom prst="rect">
            <a:avLst/>
          </a:prstGeom>
          <a:solidFill>
            <a:srgbClr val="9393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071616" y="2569464"/>
            <a:ext cx="137160" cy="137160"/>
          </a:xfrm>
          <a:prstGeom prst="rect">
            <a:avLst/>
          </a:prstGeom>
          <a:solidFill>
            <a:srgbClr val="89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36207" y="2569464"/>
            <a:ext cx="137160" cy="137160"/>
          </a:xfrm>
          <a:prstGeom prst="rect">
            <a:avLst/>
          </a:prstGeom>
          <a:solidFill>
            <a:srgbClr val="84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00799" y="2569464"/>
            <a:ext cx="137160" cy="137160"/>
          </a:xfrm>
          <a:prstGeom prst="rect">
            <a:avLst/>
          </a:prstGeom>
          <a:solidFill>
            <a:srgbClr val="82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65392" y="2569464"/>
            <a:ext cx="137160" cy="137160"/>
          </a:xfrm>
          <a:prstGeom prst="rect">
            <a:avLst/>
          </a:prstGeom>
          <a:solidFill>
            <a:srgbClr val="8E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729983" y="2569464"/>
            <a:ext cx="137160" cy="137160"/>
          </a:xfrm>
          <a:prstGeom prst="rect">
            <a:avLst/>
          </a:prstGeom>
          <a:solidFill>
            <a:srgbClr val="A9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5742431" y="2734056"/>
            <a:ext cx="137160" cy="137160"/>
          </a:xfrm>
          <a:prstGeom prst="rect">
            <a:avLst/>
          </a:prstGeom>
          <a:solidFill>
            <a:srgbClr val="A4A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5907023" y="2734056"/>
            <a:ext cx="137160" cy="137160"/>
          </a:xfrm>
          <a:prstGeom prst="rect">
            <a:avLst/>
          </a:prstGeom>
          <a:solidFill>
            <a:srgbClr val="8E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071616" y="2734056"/>
            <a:ext cx="137160" cy="13716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236207" y="2734056"/>
            <a:ext cx="137160" cy="137160"/>
          </a:xfrm>
          <a:prstGeom prst="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400799" y="2734056"/>
            <a:ext cx="137160" cy="13716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565392" y="2734056"/>
            <a:ext cx="137160" cy="137160"/>
          </a:xfrm>
          <a:prstGeom prst="rect">
            <a:avLst/>
          </a:prstGeom>
          <a:solidFill>
            <a:srgbClr val="84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729983" y="2734056"/>
            <a:ext cx="137160" cy="137160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5742431" y="2898648"/>
            <a:ext cx="137160" cy="13716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5907023" y="2898648"/>
            <a:ext cx="137160" cy="137160"/>
          </a:xfrm>
          <a:prstGeom prst="rect">
            <a:avLst/>
          </a:prstGeom>
          <a:solidFill>
            <a:srgbClr val="8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6071616" y="2898648"/>
            <a:ext cx="137160" cy="13716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6236207" y="2898648"/>
            <a:ext cx="137160" cy="13716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6400799" y="2898648"/>
            <a:ext cx="137160" cy="13716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565392" y="2898648"/>
            <a:ext cx="137160" cy="137160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729983" y="2898648"/>
            <a:ext cx="137160" cy="137160"/>
          </a:xfrm>
          <a:prstGeom prst="rect">
            <a:avLst/>
          </a:prstGeom>
          <a:solidFill>
            <a:srgbClr val="ADA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5742431" y="3063240"/>
            <a:ext cx="137160" cy="13716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5907023" y="3063240"/>
            <a:ext cx="137160" cy="13716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071616" y="3063240"/>
            <a:ext cx="137160" cy="13716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6236207" y="3063240"/>
            <a:ext cx="137160" cy="13716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6400799" y="3063240"/>
            <a:ext cx="137160" cy="137160"/>
          </a:xfrm>
          <a:prstGeom prst="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6565392" y="3063240"/>
            <a:ext cx="137160" cy="137160"/>
          </a:xfrm>
          <a:prstGeom prst="rect">
            <a:avLst/>
          </a:prstGeom>
          <a:solidFill>
            <a:srgbClr val="8F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6729983" y="3063240"/>
            <a:ext cx="137160" cy="137160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5742431" y="3227832"/>
            <a:ext cx="137160" cy="13716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5907023" y="3227832"/>
            <a:ext cx="137160" cy="137160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6071616" y="3227832"/>
            <a:ext cx="137160" cy="137160"/>
          </a:xfrm>
          <a:prstGeom prst="rect">
            <a:avLst/>
          </a:prstGeom>
          <a:solidFill>
            <a:srgbClr val="7D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6236207" y="3227832"/>
            <a:ext cx="137160" cy="13716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6400799" y="3227832"/>
            <a:ext cx="137160" cy="137160"/>
          </a:xfrm>
          <a:prstGeom prst="rect">
            <a:avLst/>
          </a:prstGeom>
          <a:solidFill>
            <a:srgbClr val="84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6565392" y="3227832"/>
            <a:ext cx="137160" cy="137160"/>
          </a:xfrm>
          <a:prstGeom prst="rect">
            <a:avLst/>
          </a:prstGeom>
          <a:solidFill>
            <a:srgbClr val="9D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729983" y="3227832"/>
            <a:ext cx="137160" cy="137160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742431" y="3392424"/>
            <a:ext cx="137160" cy="137160"/>
          </a:xfrm>
          <a:prstGeom prst="rect">
            <a:avLst/>
          </a:prstGeom>
          <a:solidFill>
            <a:srgbClr val="B3B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5907023" y="3392424"/>
            <a:ext cx="137160" cy="137160"/>
          </a:xfrm>
          <a:prstGeom prst="rect">
            <a:avLst/>
          </a:prstGeom>
          <a:solidFill>
            <a:srgbClr val="A3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6071616" y="3392424"/>
            <a:ext cx="137160" cy="137160"/>
          </a:xfrm>
          <a:prstGeom prst="rect">
            <a:avLst/>
          </a:prstGeom>
          <a:solidFill>
            <a:srgbClr val="8D8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6236207" y="3392424"/>
            <a:ext cx="137160" cy="137160"/>
          </a:xfrm>
          <a:prstGeom prst="rect">
            <a:avLst/>
          </a:prstGeom>
          <a:solidFill>
            <a:srgbClr val="8D8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6400799" y="3392424"/>
            <a:ext cx="137160" cy="137160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6565392" y="3392424"/>
            <a:ext cx="137160" cy="137160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6729983" y="3392424"/>
            <a:ext cx="137160" cy="137160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742431" y="3557016"/>
            <a:ext cx="137160" cy="137160"/>
          </a:xfrm>
          <a:prstGeom prst="rect">
            <a:avLst/>
          </a:prstGeom>
          <a:solidFill>
            <a:srgbClr val="ADA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907023" y="3557016"/>
            <a:ext cx="137160" cy="13716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6071616" y="3557016"/>
            <a:ext cx="137160" cy="137160"/>
          </a:xfrm>
          <a:prstGeom prst="rect">
            <a:avLst/>
          </a:prstGeom>
          <a:solidFill>
            <a:srgbClr val="A9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6236207" y="3557016"/>
            <a:ext cx="137160" cy="137160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6400799" y="3557016"/>
            <a:ext cx="137160" cy="13716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6565392" y="3557016"/>
            <a:ext cx="137160" cy="137160"/>
          </a:xfrm>
          <a:prstGeom prst="rect">
            <a:avLst/>
          </a:prstGeom>
          <a:solidFill>
            <a:srgbClr val="AFA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6729983" y="3557016"/>
            <a:ext cx="137160" cy="137160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5349240" y="3977639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C2530"/>
                </a:solidFill>
                <a:latin typeface="Aptos Display"/>
              </a:rPr>
              <a:t>k = 50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486400" y="4352544"/>
            <a:ext cx="1645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5E6D7D"/>
                </a:solidFill>
                <a:latin typeface="Aptos"/>
              </a:rPr>
              <a:t>reconocible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7635240" y="1828800"/>
            <a:ext cx="1920240" cy="33375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8028431" y="2240280"/>
            <a:ext cx="137160" cy="137160"/>
          </a:xfrm>
          <a:prstGeom prst="rect">
            <a:avLst/>
          </a:prstGeom>
          <a:solidFill>
            <a:srgbClr val="A9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8193023" y="2240280"/>
            <a:ext cx="137160" cy="137160"/>
          </a:xfrm>
          <a:prstGeom prst="rect">
            <a:avLst/>
          </a:prstGeom>
          <a:solidFill>
            <a:srgbClr val="9D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8357615" y="2240280"/>
            <a:ext cx="137160" cy="13716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8522208" y="2240280"/>
            <a:ext cx="137160" cy="137160"/>
          </a:xfrm>
          <a:prstGeom prst="rect">
            <a:avLst/>
          </a:prstGeom>
          <a:solidFill>
            <a:srgbClr val="A9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8686800" y="2240280"/>
            <a:ext cx="137160" cy="13716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8851392" y="2240280"/>
            <a:ext cx="137160" cy="137160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9015984" y="2240280"/>
            <a:ext cx="137160" cy="137160"/>
          </a:xfrm>
          <a:prstGeom prst="rect">
            <a:avLst/>
          </a:prstGeom>
          <a:solidFill>
            <a:srgbClr val="9F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8028431" y="2404872"/>
            <a:ext cx="137160" cy="13716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8193023" y="2404872"/>
            <a:ext cx="137160" cy="137160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8357615" y="2404872"/>
            <a:ext cx="137160" cy="137160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8522208" y="2404872"/>
            <a:ext cx="137160" cy="137160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8686800" y="2404872"/>
            <a:ext cx="137160" cy="137160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8851392" y="2404872"/>
            <a:ext cx="137160" cy="137160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015984" y="2404872"/>
            <a:ext cx="137160" cy="137160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8028431" y="2569464"/>
            <a:ext cx="137160" cy="137160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8193023" y="2569464"/>
            <a:ext cx="137160" cy="137160"/>
          </a:xfrm>
          <a:prstGeom prst="rect">
            <a:avLst/>
          </a:prstGeom>
          <a:solidFill>
            <a:srgbClr val="8D8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8357615" y="2569464"/>
            <a:ext cx="137160" cy="1371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8522208" y="2569464"/>
            <a:ext cx="137160" cy="137160"/>
          </a:xfrm>
          <a:prstGeom prst="rect">
            <a:avLst/>
          </a:prstGeom>
          <a:solidFill>
            <a:srgbClr val="8383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8686800" y="2569464"/>
            <a:ext cx="137160" cy="137160"/>
          </a:xfrm>
          <a:prstGeom prst="rect">
            <a:avLst/>
          </a:prstGeom>
          <a:solidFill>
            <a:srgbClr val="7D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8851392" y="2569464"/>
            <a:ext cx="137160" cy="137160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015984" y="2569464"/>
            <a:ext cx="137160" cy="137160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8028431" y="2734056"/>
            <a:ext cx="137160" cy="137160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8193023" y="2734056"/>
            <a:ext cx="137160" cy="13716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8357615" y="2734056"/>
            <a:ext cx="137160" cy="13716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8522208" y="2734056"/>
            <a:ext cx="137160" cy="137160"/>
          </a:xfrm>
          <a:prstGeom prst="rect">
            <a:avLst/>
          </a:prstGeom>
          <a:solidFill>
            <a:srgbClr val="71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8686800" y="2734056"/>
            <a:ext cx="137160" cy="137160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8851392" y="2734056"/>
            <a:ext cx="137160" cy="137160"/>
          </a:xfrm>
          <a:prstGeom prst="rect">
            <a:avLst/>
          </a:prstGeom>
          <a:solidFill>
            <a:srgbClr val="7B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015984" y="2734056"/>
            <a:ext cx="137160" cy="137160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8028431" y="2898648"/>
            <a:ext cx="137160" cy="137160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8193023" y="2898648"/>
            <a:ext cx="137160" cy="137160"/>
          </a:xfrm>
          <a:prstGeom prst="rect">
            <a:avLst/>
          </a:prstGeom>
          <a:solidFill>
            <a:srgbClr val="8E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8357615" y="2898648"/>
            <a:ext cx="137160" cy="13716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8522208" y="2898648"/>
            <a:ext cx="137160" cy="137160"/>
          </a:xfrm>
          <a:prstGeom prst="rect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8686800" y="2898648"/>
            <a:ext cx="137160" cy="137160"/>
          </a:xfrm>
          <a:prstGeom prst="rect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8851392" y="2898648"/>
            <a:ext cx="137160" cy="13716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9015984" y="2898648"/>
            <a:ext cx="137160" cy="137160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8028431" y="3063240"/>
            <a:ext cx="137160" cy="137160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8193023" y="3063240"/>
            <a:ext cx="137160" cy="137160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8357615" y="3063240"/>
            <a:ext cx="137160" cy="13716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8522208" y="3063240"/>
            <a:ext cx="137160" cy="137160"/>
          </a:xfrm>
          <a:prstGeom prst="rect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8686800" y="3063240"/>
            <a:ext cx="137160" cy="137160"/>
          </a:xfrm>
          <a:prstGeom prst="rect">
            <a:avLst/>
          </a:prstGeom>
          <a:solidFill>
            <a:srgbClr val="6C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8851392" y="3063240"/>
            <a:ext cx="137160" cy="137160"/>
          </a:xfrm>
          <a:prstGeom prst="rect">
            <a:avLst/>
          </a:prstGeom>
          <a:solidFill>
            <a:srgbClr val="8D8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015984" y="3063240"/>
            <a:ext cx="137160" cy="137160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8028431" y="3227832"/>
            <a:ext cx="137160" cy="13716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8193023" y="3227832"/>
            <a:ext cx="137160" cy="137160"/>
          </a:xfrm>
          <a:prstGeom prst="rect">
            <a:avLst/>
          </a:prstGeom>
          <a:solidFill>
            <a:srgbClr val="94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8357615" y="3227832"/>
            <a:ext cx="137160" cy="137160"/>
          </a:xfrm>
          <a:prstGeom prst="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8522208" y="3227832"/>
            <a:ext cx="137160" cy="13716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8686800" y="3227832"/>
            <a:ext cx="137160" cy="137160"/>
          </a:xfrm>
          <a:prstGeom prst="rect">
            <a:avLst/>
          </a:prstGeom>
          <a:solidFill>
            <a:srgbClr val="81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8851392" y="3227832"/>
            <a:ext cx="137160" cy="137160"/>
          </a:xfrm>
          <a:prstGeom prst="rect">
            <a:avLst/>
          </a:prstGeom>
          <a:solidFill>
            <a:srgbClr val="9D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015984" y="3227832"/>
            <a:ext cx="137160" cy="13716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8028431" y="3392424"/>
            <a:ext cx="137160" cy="137160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8193023" y="3392424"/>
            <a:ext cx="137160" cy="137160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8357615" y="3392424"/>
            <a:ext cx="137160" cy="137160"/>
          </a:xfrm>
          <a:prstGeom prst="rect">
            <a:avLst/>
          </a:prstGeom>
          <a:solidFill>
            <a:srgbClr val="84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8522208" y="3392424"/>
            <a:ext cx="137160" cy="137160"/>
          </a:xfrm>
          <a:prstGeom prst="rect">
            <a:avLst/>
          </a:prstGeom>
          <a:solidFill>
            <a:srgbClr val="87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8686800" y="3392424"/>
            <a:ext cx="137160" cy="137160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8851392" y="3392424"/>
            <a:ext cx="137160" cy="137160"/>
          </a:xfrm>
          <a:prstGeom prst="rect">
            <a:avLst/>
          </a:prstGeom>
          <a:solidFill>
            <a:srgbClr val="ADA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9015984" y="3392424"/>
            <a:ext cx="137160" cy="13716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8028431" y="3557016"/>
            <a:ext cx="137160" cy="137160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8193023" y="3557016"/>
            <a:ext cx="137160" cy="137160"/>
          </a:xfrm>
          <a:prstGeom prst="rect">
            <a:avLst/>
          </a:prstGeom>
          <a:solidFill>
            <a:srgbClr val="9D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8357615" y="3557016"/>
            <a:ext cx="137160" cy="137160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8522208" y="3557016"/>
            <a:ext cx="137160" cy="13716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8686800" y="3557016"/>
            <a:ext cx="137160" cy="13716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8851392" y="3557016"/>
            <a:ext cx="137160" cy="137160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015984" y="3557016"/>
            <a:ext cx="137160" cy="13716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7635240" y="3977639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C2530"/>
                </a:solidFill>
                <a:latin typeface="Aptos Display"/>
              </a:rPr>
              <a:t>k = 123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7772400" y="4352544"/>
            <a:ext cx="1645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5E6D7D"/>
                </a:solidFill>
                <a:latin typeface="Aptos"/>
              </a:rPr>
              <a:t>alta fidelidad</a:t>
            </a:r>
          </a:p>
        </p:txBody>
      </p:sp>
      <p:sp>
        <p:nvSpPr>
          <p:cNvPr id="270" name="Rounded Rectangle 269"/>
          <p:cNvSpPr/>
          <p:nvPr/>
        </p:nvSpPr>
        <p:spPr>
          <a:xfrm>
            <a:off x="9921240" y="1828800"/>
            <a:ext cx="1920240" cy="33375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10314432" y="2240280"/>
            <a:ext cx="137160" cy="137160"/>
          </a:xfrm>
          <a:prstGeom prst="rect">
            <a:avLst/>
          </a:prstGeom>
          <a:solidFill>
            <a:srgbClr val="A9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10479024" y="2240280"/>
            <a:ext cx="137160" cy="137160"/>
          </a:xfrm>
          <a:prstGeom prst="rect">
            <a:avLst/>
          </a:prstGeom>
          <a:solidFill>
            <a:srgbClr val="9D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10643615" y="2240280"/>
            <a:ext cx="137160" cy="13716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10808208" y="2240280"/>
            <a:ext cx="137160" cy="137160"/>
          </a:xfrm>
          <a:prstGeom prst="rect">
            <a:avLst/>
          </a:prstGeom>
          <a:solidFill>
            <a:srgbClr val="A9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10972800" y="2240280"/>
            <a:ext cx="137160" cy="13716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11137392" y="2240280"/>
            <a:ext cx="137160" cy="137160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11301984" y="2240280"/>
            <a:ext cx="137160" cy="137160"/>
          </a:xfrm>
          <a:prstGeom prst="rect">
            <a:avLst/>
          </a:prstGeom>
          <a:solidFill>
            <a:srgbClr val="9F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0314432" y="2404872"/>
            <a:ext cx="137160" cy="13716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10479024" y="2404872"/>
            <a:ext cx="137160" cy="137160"/>
          </a:xfrm>
          <a:prstGeom prst="rect">
            <a:avLst/>
          </a:prstGeom>
          <a:solidFill>
            <a:srgbClr val="979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0643615" y="2404872"/>
            <a:ext cx="137160" cy="137160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0808208" y="2404872"/>
            <a:ext cx="137160" cy="137160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10972800" y="2404872"/>
            <a:ext cx="137160" cy="137160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1137392" y="2404872"/>
            <a:ext cx="137160" cy="137160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11301984" y="2404872"/>
            <a:ext cx="137160" cy="137160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0314432" y="2569464"/>
            <a:ext cx="137160" cy="137160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10479024" y="2569464"/>
            <a:ext cx="137160" cy="137160"/>
          </a:xfrm>
          <a:prstGeom prst="rect">
            <a:avLst/>
          </a:prstGeom>
          <a:solidFill>
            <a:srgbClr val="8D8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10643615" y="2569464"/>
            <a:ext cx="137160" cy="1371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10808208" y="2569464"/>
            <a:ext cx="137160" cy="137160"/>
          </a:xfrm>
          <a:prstGeom prst="rect">
            <a:avLst/>
          </a:prstGeom>
          <a:solidFill>
            <a:srgbClr val="8383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10972800" y="2569464"/>
            <a:ext cx="137160" cy="137160"/>
          </a:xfrm>
          <a:prstGeom prst="rect">
            <a:avLst/>
          </a:prstGeom>
          <a:solidFill>
            <a:srgbClr val="7D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11137392" y="2569464"/>
            <a:ext cx="137160" cy="137160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1301984" y="2569464"/>
            <a:ext cx="137160" cy="137160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0314432" y="2734056"/>
            <a:ext cx="137160" cy="137160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0479024" y="2734056"/>
            <a:ext cx="137160" cy="13716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0643615" y="2734056"/>
            <a:ext cx="137160" cy="13716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0808208" y="2734056"/>
            <a:ext cx="137160" cy="137160"/>
          </a:xfrm>
          <a:prstGeom prst="rect">
            <a:avLst/>
          </a:prstGeom>
          <a:solidFill>
            <a:srgbClr val="71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972800" y="2734056"/>
            <a:ext cx="137160" cy="137160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1137392" y="2734056"/>
            <a:ext cx="137160" cy="137160"/>
          </a:xfrm>
          <a:prstGeom prst="rect">
            <a:avLst/>
          </a:prstGeom>
          <a:solidFill>
            <a:srgbClr val="7B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1301984" y="2734056"/>
            <a:ext cx="137160" cy="137160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0314432" y="2898648"/>
            <a:ext cx="137160" cy="137160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0479024" y="2898648"/>
            <a:ext cx="137160" cy="137160"/>
          </a:xfrm>
          <a:prstGeom prst="rect">
            <a:avLst/>
          </a:prstGeom>
          <a:solidFill>
            <a:srgbClr val="8E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0643615" y="2898648"/>
            <a:ext cx="137160" cy="13716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0808208" y="2898648"/>
            <a:ext cx="137160" cy="137160"/>
          </a:xfrm>
          <a:prstGeom prst="rect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0972800" y="2898648"/>
            <a:ext cx="137160" cy="137160"/>
          </a:xfrm>
          <a:prstGeom prst="rect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1137392" y="2898648"/>
            <a:ext cx="137160" cy="13716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1301984" y="2898648"/>
            <a:ext cx="137160" cy="137160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0314432" y="3063240"/>
            <a:ext cx="137160" cy="137160"/>
          </a:xfrm>
          <a:prstGeom prst="rect">
            <a:avLst/>
          </a:prstGeom>
          <a:solidFill>
            <a:srgbClr val="AE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0479024" y="3063240"/>
            <a:ext cx="137160" cy="137160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0643615" y="3063240"/>
            <a:ext cx="137160" cy="13716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0808208" y="3063240"/>
            <a:ext cx="137160" cy="137160"/>
          </a:xfrm>
          <a:prstGeom prst="rect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0972800" y="3063240"/>
            <a:ext cx="137160" cy="137160"/>
          </a:xfrm>
          <a:prstGeom prst="rect">
            <a:avLst/>
          </a:prstGeom>
          <a:solidFill>
            <a:srgbClr val="6C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1137392" y="3063240"/>
            <a:ext cx="137160" cy="137160"/>
          </a:xfrm>
          <a:prstGeom prst="rect">
            <a:avLst/>
          </a:prstGeom>
          <a:solidFill>
            <a:srgbClr val="8D8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1301984" y="3063240"/>
            <a:ext cx="137160" cy="137160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0314432" y="3227832"/>
            <a:ext cx="137160" cy="13716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0479024" y="3227832"/>
            <a:ext cx="137160" cy="137160"/>
          </a:xfrm>
          <a:prstGeom prst="rect">
            <a:avLst/>
          </a:prstGeom>
          <a:solidFill>
            <a:srgbClr val="94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0643615" y="3227832"/>
            <a:ext cx="137160" cy="137160"/>
          </a:xfrm>
          <a:prstGeom prst="rect">
            <a:avLst/>
          </a:pr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0808208" y="3227832"/>
            <a:ext cx="137160" cy="13716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0972800" y="3227832"/>
            <a:ext cx="137160" cy="137160"/>
          </a:xfrm>
          <a:prstGeom prst="rect">
            <a:avLst/>
          </a:prstGeom>
          <a:solidFill>
            <a:srgbClr val="81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1137392" y="3227832"/>
            <a:ext cx="137160" cy="137160"/>
          </a:xfrm>
          <a:prstGeom prst="rect">
            <a:avLst/>
          </a:prstGeom>
          <a:solidFill>
            <a:srgbClr val="9D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1301984" y="3227832"/>
            <a:ext cx="137160" cy="13716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0314432" y="3392424"/>
            <a:ext cx="137160" cy="137160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0479024" y="3392424"/>
            <a:ext cx="137160" cy="137160"/>
          </a:xfrm>
          <a:prstGeom prst="rect">
            <a:avLst/>
          </a:prstGeom>
          <a:solidFill>
            <a:srgbClr val="9C9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0643615" y="3392424"/>
            <a:ext cx="137160" cy="137160"/>
          </a:xfrm>
          <a:prstGeom prst="rect">
            <a:avLst/>
          </a:prstGeom>
          <a:solidFill>
            <a:srgbClr val="84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0808208" y="3392424"/>
            <a:ext cx="137160" cy="137160"/>
          </a:xfrm>
          <a:prstGeom prst="rect">
            <a:avLst/>
          </a:prstGeom>
          <a:solidFill>
            <a:srgbClr val="87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0972800" y="3392424"/>
            <a:ext cx="137160" cy="137160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1137392" y="3392424"/>
            <a:ext cx="137160" cy="137160"/>
          </a:xfrm>
          <a:prstGeom prst="rect">
            <a:avLst/>
          </a:prstGeom>
          <a:solidFill>
            <a:srgbClr val="ADA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1301984" y="3392424"/>
            <a:ext cx="137160" cy="13716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0314432" y="3557016"/>
            <a:ext cx="137160" cy="137160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10479024" y="3557016"/>
            <a:ext cx="137160" cy="137160"/>
          </a:xfrm>
          <a:prstGeom prst="rect">
            <a:avLst/>
          </a:prstGeom>
          <a:solidFill>
            <a:srgbClr val="9D9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0643615" y="3557016"/>
            <a:ext cx="137160" cy="137160"/>
          </a:xfrm>
          <a:prstGeom prst="rect">
            <a:avLst/>
          </a:prstGeom>
          <a:solidFill>
            <a:srgbClr val="A2A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10808208" y="3557016"/>
            <a:ext cx="137160" cy="13716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10972800" y="3557016"/>
            <a:ext cx="137160" cy="137160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1137392" y="3557016"/>
            <a:ext cx="137160" cy="137160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1301984" y="3557016"/>
            <a:ext cx="137160" cy="13716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9921240" y="3977639"/>
            <a:ext cx="1920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C2530"/>
                </a:solidFill>
                <a:latin typeface="Aptos Display"/>
              </a:rPr>
              <a:t>k = 250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10058400" y="4352544"/>
            <a:ext cx="1645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5E6D7D"/>
                </a:solidFill>
                <a:latin typeface="Aptos"/>
              </a:rPr>
              <a:t>casi completa</a:t>
            </a:r>
          </a:p>
        </p:txBody>
      </p:sp>
      <p:sp>
        <p:nvSpPr>
          <p:cNvPr id="336" name="Rounded Rectangle 335"/>
          <p:cNvSpPr/>
          <p:nvPr/>
        </p:nvSpPr>
        <p:spPr>
          <a:xfrm>
            <a:off x="868680" y="5486400"/>
            <a:ext cx="10424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868680" y="5486400"/>
            <a:ext cx="73152" cy="658368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1097280" y="5650992"/>
            <a:ext cx="10012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Interpretación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1097280" y="6080760"/>
            <a:ext cx="10012680" cy="-91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La reconstrucción sirve para estudiar compresión y fidelidad visual. El k óptimo para clasificación puede ser distinto.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64008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Aprendizaje No Supervisado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10332720" y="6473952"/>
            <a:ext cx="1188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5E6D7D"/>
                </a:solidFill>
                <a:latin typeface="Aptos"/>
              </a:rPr>
              <a:t>Guía visual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ECDDA"/>
                </a:solidFill>
                <a:latin typeface="Aptos Display"/>
              </a:rPr>
              <a:t>VALIDACIÓN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Evitar leakage: train aprende, test solo recibe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36576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BECDDA"/>
                </a:solidFill>
                <a:latin typeface="Aptos Display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6C7DD"/>
                </a:solidFill>
                <a:latin typeface="Aptos Display"/>
              </a:rPr>
              <a:t>TRAIN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1691640" cy="914400"/>
          </a:xfrm>
          <a:prstGeom prst="roundRect">
            <a:avLst/>
          </a:prstGeom>
          <a:solidFill>
            <a:srgbClr val="0A2D52"/>
          </a:solidFill>
          <a:ln w="12700">
            <a:solidFill>
              <a:srgbClr val="32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74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6C7DD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359152"/>
            <a:ext cx="12344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 Display"/>
              </a:rPr>
              <a:t>Calcular μ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32888" y="2697480"/>
            <a:ext cx="365760" cy="0"/>
          </a:xfrm>
          <a:prstGeom prst="line">
            <a:avLst/>
          </a:prstGeom>
          <a:ln w="19050">
            <a:solidFill>
              <a:srgbClr val="8CA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71800" y="2240280"/>
            <a:ext cx="1691640" cy="914400"/>
          </a:xfrm>
          <a:prstGeom prst="roundRect">
            <a:avLst/>
          </a:prstGeom>
          <a:solidFill>
            <a:srgbClr val="0A2D52"/>
          </a:solidFill>
          <a:ln w="12700">
            <a:solidFill>
              <a:srgbClr val="32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2377440"/>
            <a:ext cx="274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6C7DD"/>
                </a:solidFill>
                <a:latin typeface="Aptos Dis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2359152"/>
            <a:ext cx="12344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 Display"/>
              </a:rPr>
              <a:t>Centrar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81728" y="2697480"/>
            <a:ext cx="365760" cy="0"/>
          </a:xfrm>
          <a:prstGeom prst="line">
            <a:avLst/>
          </a:prstGeom>
          <a:ln w="19050">
            <a:solidFill>
              <a:srgbClr val="8CA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20640" y="2240280"/>
            <a:ext cx="1691640" cy="914400"/>
          </a:xfrm>
          <a:prstGeom prst="roundRect">
            <a:avLst/>
          </a:prstGeom>
          <a:solidFill>
            <a:srgbClr val="0A2D52"/>
          </a:solidFill>
          <a:ln w="12700">
            <a:solidFill>
              <a:srgbClr val="32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2377440"/>
            <a:ext cx="274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6C7DD"/>
                </a:solidFill>
                <a:latin typeface="Aptos Display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8112" y="2359152"/>
            <a:ext cx="12344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 Display"/>
              </a:rPr>
              <a:t>Aprender V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30568" y="2697480"/>
            <a:ext cx="365760" cy="0"/>
          </a:xfrm>
          <a:prstGeom prst="line">
            <a:avLst/>
          </a:prstGeom>
          <a:ln w="19050">
            <a:solidFill>
              <a:srgbClr val="8CA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269480" y="2240280"/>
            <a:ext cx="1691640" cy="914400"/>
          </a:xfrm>
          <a:prstGeom prst="roundRect">
            <a:avLst/>
          </a:prstGeom>
          <a:solidFill>
            <a:srgbClr val="0A2D52"/>
          </a:solidFill>
          <a:ln w="12700">
            <a:solidFill>
              <a:srgbClr val="32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2377440"/>
            <a:ext cx="274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6C7DD"/>
                </a:solidFill>
                <a:latin typeface="Aptos Display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2" y="2359152"/>
            <a:ext cx="12344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 Display"/>
              </a:rPr>
              <a:t>Proyectar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79408" y="2697480"/>
            <a:ext cx="365760" cy="0"/>
          </a:xfrm>
          <a:prstGeom prst="line">
            <a:avLst/>
          </a:prstGeom>
          <a:ln w="19050">
            <a:solidFill>
              <a:srgbClr val="8CA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418320" y="2240280"/>
            <a:ext cx="1691640" cy="914400"/>
          </a:xfrm>
          <a:prstGeom prst="roundRect">
            <a:avLst/>
          </a:prstGeom>
          <a:solidFill>
            <a:srgbClr val="0A2D52"/>
          </a:solidFill>
          <a:ln w="12700">
            <a:solidFill>
              <a:srgbClr val="32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2377440"/>
            <a:ext cx="274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6C7DD"/>
                </a:solidFill>
                <a:latin typeface="Aptos Display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65792" y="2359152"/>
            <a:ext cx="12344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 Display"/>
              </a:rPr>
              <a:t>Entrenar clasificador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749039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F4C031"/>
                </a:solidFill>
                <a:latin typeface="Aptos Display"/>
              </a:rPr>
              <a:t>TEST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251960"/>
            <a:ext cx="1691640" cy="914400"/>
          </a:xfrm>
          <a:prstGeom prst="roundRect">
            <a:avLst/>
          </a:prstGeom>
          <a:solidFill>
            <a:srgbClr val="103659"/>
          </a:solidFill>
          <a:ln w="12700">
            <a:solidFill>
              <a:srgbClr val="32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389120"/>
            <a:ext cx="274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4C031"/>
                </a:solidFill>
                <a:latin typeface="Aptos Display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4370832"/>
            <a:ext cx="12344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 Display"/>
              </a:rPr>
              <a:t>Usar μ_train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532888" y="4709160"/>
            <a:ext cx="365760" cy="0"/>
          </a:xfrm>
          <a:prstGeom prst="line">
            <a:avLst/>
          </a:prstGeom>
          <a:ln w="19050">
            <a:solidFill>
              <a:srgbClr val="8CA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971800" y="4251960"/>
            <a:ext cx="1691640" cy="914400"/>
          </a:xfrm>
          <a:prstGeom prst="roundRect">
            <a:avLst/>
          </a:prstGeom>
          <a:solidFill>
            <a:srgbClr val="103659"/>
          </a:solidFill>
          <a:ln w="12700">
            <a:solidFill>
              <a:srgbClr val="32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63240" y="4389120"/>
            <a:ext cx="274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4C031"/>
                </a:solidFill>
                <a:latin typeface="Aptos Display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19272" y="4370832"/>
            <a:ext cx="12344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 Display"/>
              </a:rPr>
              <a:t>Centrar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681728" y="4709160"/>
            <a:ext cx="365760" cy="0"/>
          </a:xfrm>
          <a:prstGeom prst="line">
            <a:avLst/>
          </a:prstGeom>
          <a:ln w="19050">
            <a:solidFill>
              <a:srgbClr val="8CA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120640" y="4251960"/>
            <a:ext cx="1691640" cy="914400"/>
          </a:xfrm>
          <a:prstGeom prst="roundRect">
            <a:avLst/>
          </a:prstGeom>
          <a:solidFill>
            <a:srgbClr val="103659"/>
          </a:solidFill>
          <a:ln w="12700">
            <a:solidFill>
              <a:srgbClr val="32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2080" y="4389120"/>
            <a:ext cx="274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4C031"/>
                </a:solidFill>
                <a:latin typeface="Aptos Display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68112" y="4370832"/>
            <a:ext cx="12344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 Display"/>
              </a:rPr>
              <a:t>Usar V_train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830568" y="4709160"/>
            <a:ext cx="365760" cy="0"/>
          </a:xfrm>
          <a:prstGeom prst="line">
            <a:avLst/>
          </a:prstGeom>
          <a:ln w="19050">
            <a:solidFill>
              <a:srgbClr val="8CA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269480" y="4251960"/>
            <a:ext cx="1691640" cy="914400"/>
          </a:xfrm>
          <a:prstGeom prst="roundRect">
            <a:avLst/>
          </a:prstGeom>
          <a:solidFill>
            <a:srgbClr val="103659"/>
          </a:solidFill>
          <a:ln w="12700">
            <a:solidFill>
              <a:srgbClr val="32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20" y="4389120"/>
            <a:ext cx="274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4C031"/>
                </a:solidFill>
                <a:latin typeface="Aptos Display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16952" y="4370832"/>
            <a:ext cx="12344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 Display"/>
              </a:rPr>
              <a:t>Proyectar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979408" y="4709160"/>
            <a:ext cx="365760" cy="0"/>
          </a:xfrm>
          <a:prstGeom prst="line">
            <a:avLst/>
          </a:prstGeom>
          <a:ln w="19050">
            <a:solidFill>
              <a:srgbClr val="8CA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418320" y="4251960"/>
            <a:ext cx="1691640" cy="914400"/>
          </a:xfrm>
          <a:prstGeom prst="roundRect">
            <a:avLst/>
          </a:prstGeom>
          <a:solidFill>
            <a:srgbClr val="103659"/>
          </a:solidFill>
          <a:ln w="12700">
            <a:solidFill>
              <a:srgbClr val="32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0" y="4389120"/>
            <a:ext cx="274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4C031"/>
                </a:solidFill>
                <a:latin typeface="Aptos Display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65792" y="4370832"/>
            <a:ext cx="12344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 Display"/>
              </a:rPr>
              <a:t>Evaluar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715000"/>
            <a:ext cx="10424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E2EBF3"/>
                </a:solidFill>
                <a:latin typeface="Aptos Display"/>
              </a:rPr>
              <a:t>Nunca recalcular media, eigenfaces o escalas con test: eso “filtra” información del futuro y sobreestima el desempeño.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Aprendizaje No Supervisado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20" y="6473952"/>
            <a:ext cx="1188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5E6D7D"/>
                </a:solidFill>
                <a:latin typeface="Aptos"/>
              </a:rPr>
              <a:t>Guía visual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EVALUACIÓN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1C2530"/>
                </a:solidFill>
                <a:latin typeface="Aptos Display"/>
              </a:rPr>
              <a:t>En datos desbalanceados, accuracy puede engañar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36576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5E6D7D"/>
                </a:solidFill>
                <a:latin typeface="Aptos Display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 Display"/>
              </a:rPr>
              <a:t>Matriz de confusión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331720"/>
            <a:ext cx="1143000" cy="804672"/>
          </a:xfrm>
          <a:prstGeom prst="roundRect">
            <a:avLst/>
          </a:prstGeom>
          <a:solidFill>
            <a:srgbClr val="EBF4F9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32888"/>
            <a:ext cx="1143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2C9469"/>
                </a:solidFill>
                <a:latin typeface="Aptos Display"/>
              </a:rPr>
              <a:t>TN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2331720"/>
            <a:ext cx="1143000" cy="804672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2532888"/>
            <a:ext cx="1143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CD4C4C"/>
                </a:solidFill>
                <a:latin typeface="Aptos Display"/>
              </a:rPr>
              <a:t>FP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337560"/>
            <a:ext cx="1143000" cy="804672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38728"/>
            <a:ext cx="1143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CD4C4C"/>
                </a:solidFill>
                <a:latin typeface="Aptos Display"/>
              </a:rPr>
              <a:t>FN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3337560"/>
            <a:ext cx="1143000" cy="804672"/>
          </a:xfrm>
          <a:prstGeom prst="roundRect">
            <a:avLst/>
          </a:prstGeom>
          <a:solidFill>
            <a:srgbClr val="E5F7E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3538728"/>
            <a:ext cx="1143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2C9469"/>
                </a:solidFill>
                <a:latin typeface="Aptos Display"/>
              </a:rPr>
              <a:t>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743200"/>
            <a:ext cx="274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5E6D7D"/>
                </a:solidFill>
                <a:latin typeface="Aptos Display"/>
              </a:rPr>
              <a:t>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199339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5E6D7D"/>
                </a:solidFill>
                <a:latin typeface="Aptos Display"/>
              </a:rPr>
              <a:t>Predicho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1965960"/>
            <a:ext cx="2240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965960"/>
            <a:ext cx="73152" cy="1325880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2130552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2560320"/>
            <a:ext cx="182880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(TP+TN)/Total
Útil si las clases están balanceadas.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965960"/>
            <a:ext cx="2240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1965960"/>
            <a:ext cx="73152" cy="1325880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130552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Precision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560320"/>
            <a:ext cx="182880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TP/(TP+FP)
¿Cuántos positivos predichos eran realmente positivos?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1965960"/>
            <a:ext cx="2240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78240" y="1965960"/>
            <a:ext cx="73152" cy="1325880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2130552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Recall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560320"/>
            <a:ext cx="1828800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TP/(TP+FN)
¿Cuántos positivos reales logré detectar?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12080" y="3886200"/>
            <a:ext cx="4526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0" y="3886200"/>
            <a:ext cx="73152" cy="1417320"/>
          </a:xfrm>
          <a:prstGeom prst="rect">
            <a:avLst/>
          </a:prstGeom>
          <a:solidFill>
            <a:srgbClr val="AA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40680" y="4050791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F1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4480560"/>
            <a:ext cx="4114800" cy="6675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Media armónica de precision y recall. Penaliza fuertemente cuando una es alta y la otra baja.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440680"/>
            <a:ext cx="3931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1">
                <a:solidFill>
                  <a:srgbClr val="1C2530"/>
                </a:solidFill>
                <a:latin typeface="Aptos Display"/>
              </a:rPr>
              <a:t>Caso típico del taller: pocos rostros objetivo frente a muchos “no objetivo” → prioriza precision, recall y F1.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Aprendizaje No Supervisado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6473952"/>
            <a:ext cx="1188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5E6D7D"/>
                </a:solidFill>
                <a:latin typeface="Aptos"/>
              </a:rPr>
              <a:t>Guía visual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DECISIÓN DE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1C2530"/>
                </a:solidFill>
                <a:latin typeface="Aptos Display"/>
              </a:rPr>
              <a:t>El costo del error define qué métrica importa más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36576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5E6D7D"/>
                </a:solidFill>
                <a:latin typeface="Aptos Display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1206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73152" cy="1874519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01952"/>
            <a:ext cx="470915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Falso positivo (FP)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4709159" cy="11247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El sistema dice “es la persona autorizada”, pero no lo es. En control de acceso puede implicar permitir la entrada a alguien incorrecto.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1206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73152" cy="1874519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01952"/>
            <a:ext cx="470915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Falso negativo (FN)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31720"/>
            <a:ext cx="4709159" cy="11247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La persona sí está autorizada, pero el sistema no la reconoce. Puede requerir verificación manual, sin necesariamente comprometer seguridad.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14800"/>
            <a:ext cx="2926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 Display"/>
              </a:rPr>
              <a:t>Ejemplo de recomendación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572000"/>
            <a:ext cx="10469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800600"/>
            <a:ext cx="100126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C2530"/>
                </a:solidFill>
                <a:latin typeface="Aptos Display"/>
              </a:rPr>
              <a:t>Si el costo de un falso positivo es alto, conviene privilegiar precision incluso si eso reduce recall. La elección de k y del umbral debe justificar ese trade-off.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Aprendizaje No Supervisado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73952"/>
            <a:ext cx="1188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5E6D7D"/>
                </a:solidFill>
                <a:latin typeface="Aptos"/>
              </a:rPr>
              <a:t>Guía visual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SELECCIÓN DE 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1C2530"/>
                </a:solidFill>
                <a:latin typeface="Aptos Display"/>
              </a:rPr>
              <a:t>No existe un único “k correcto”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36576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5E6D7D"/>
                </a:solidFill>
                <a:latin typeface="Aptos Display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606040" cy="324612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2039112"/>
            <a:ext cx="347472" cy="347472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2029968"/>
            <a:ext cx="1737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 Display"/>
              </a:rPr>
              <a:t>Reconstrucción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21488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E6D7D"/>
                </a:solidFill>
                <a:latin typeface="Aptos"/>
              </a:rPr>
              <a:t>¿Cuánta varianza conservo?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977639"/>
            <a:ext cx="1965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60520"/>
            <a:ext cx="1783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30" b="1">
                <a:solidFill>
                  <a:srgbClr val="16C7DD"/>
                </a:solidFill>
                <a:latin typeface="Aptos Display"/>
              </a:rPr>
              <a:t>EVR acumulada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8728" y="1874519"/>
            <a:ext cx="2606040" cy="324612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03320" y="2039112"/>
            <a:ext cx="347472" cy="347472"/>
          </a:xfrm>
          <a:prstGeom prst="ellipse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51376" y="2029968"/>
            <a:ext cx="1737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 Display"/>
              </a:rPr>
              <a:t>Clasificación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788920"/>
            <a:ext cx="21488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E6D7D"/>
                </a:solidFill>
                <a:latin typeface="Aptos"/>
              </a:rPr>
              <a:t>¿Qué k maximiza desempeño?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58768" y="3977639"/>
            <a:ext cx="1965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0208" y="4160520"/>
            <a:ext cx="1783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30" b="1">
                <a:solidFill>
                  <a:srgbClr val="71429B"/>
                </a:solidFill>
                <a:latin typeface="Aptos Display"/>
              </a:rPr>
              <a:t>F1 / recall / precision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1874519"/>
            <a:ext cx="2606040" cy="324612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56248" y="2039112"/>
            <a:ext cx="347472" cy="347472"/>
          </a:xfrm>
          <a:prstGeom prst="ellipse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04304" y="2029968"/>
            <a:ext cx="1737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 Display"/>
              </a:rPr>
              <a:t>Operación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788920"/>
            <a:ext cx="21488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E6D7D"/>
                </a:solidFill>
                <a:latin typeface="Aptos"/>
              </a:rPr>
              <a:t>¿Qué costo computacional tolero?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11696" y="3977639"/>
            <a:ext cx="1965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4160520"/>
            <a:ext cx="1783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30" b="1">
                <a:solidFill>
                  <a:srgbClr val="F4C031"/>
                </a:solidFill>
                <a:latin typeface="Aptos Display"/>
              </a:rPr>
              <a:t>memoria / tiempo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44584" y="1874519"/>
            <a:ext cx="2606040" cy="324612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09176" y="2039112"/>
            <a:ext cx="347472" cy="347472"/>
          </a:xfrm>
          <a:prstGeom prst="ellipse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57232" y="2029968"/>
            <a:ext cx="1737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C2530"/>
                </a:solidFill>
                <a:latin typeface="Aptos Display"/>
              </a:rPr>
              <a:t>Riesgo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3184" y="2788920"/>
            <a:ext cx="21488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5E6D7D"/>
                </a:solidFill>
                <a:latin typeface="Aptos"/>
              </a:rPr>
              <a:t>¿Qué error es más costoso?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64624" y="3977639"/>
            <a:ext cx="1965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56063" y="4160520"/>
            <a:ext cx="1783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30" b="1">
                <a:solidFill>
                  <a:srgbClr val="CD4C4C"/>
                </a:solidFill>
                <a:latin typeface="Aptos Display"/>
              </a:rPr>
              <a:t>FP vs FN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50992"/>
            <a:ext cx="10515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C2530"/>
                </a:solidFill>
                <a:latin typeface="Aptos Display"/>
              </a:rPr>
              <a:t>La recomendación final debe combinar evidencia técnica + costo de implementación + consecuencia del error.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Aprendizaje No Supervisado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473952"/>
            <a:ext cx="1188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5E6D7D"/>
                </a:solidFill>
                <a:latin typeface="Aptos"/>
              </a:rPr>
              <a:t>Guía visual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ECDDA"/>
                </a:solidFill>
                <a:latin typeface="Aptos Display"/>
              </a:rPr>
              <a:t>APLICACIÓN AL CURSO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Cómo usar esto en el Taller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36576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BECDDA"/>
                </a:solidFill>
                <a:latin typeface="Aptos Display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14600" cy="1600200"/>
          </a:xfrm>
          <a:prstGeom prst="roundRect">
            <a:avLst/>
          </a:prstGeom>
          <a:solidFill>
            <a:srgbClr val="0A2D52"/>
          </a:solidFill>
          <a:ln w="12700">
            <a:solidFill>
              <a:srgbClr val="30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" y="1901952"/>
            <a:ext cx="347472" cy="347472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65960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9202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 Display"/>
              </a:rPr>
              <a:t>Filtrar imágenes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2084831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D3E1ED"/>
                </a:solidFill>
                <a:latin typeface="Aptos"/>
              </a:rPr>
              <a:t>Usar individuos con suficiente número de fotos para evitar un conjunto inmanejable.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737360"/>
            <a:ext cx="2514600" cy="1600200"/>
          </a:xfrm>
          <a:prstGeom prst="roundRect">
            <a:avLst/>
          </a:prstGeom>
          <a:solidFill>
            <a:srgbClr val="0A2D52"/>
          </a:solidFill>
          <a:ln w="12700">
            <a:solidFill>
              <a:srgbClr val="30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21608" y="1901952"/>
            <a:ext cx="347472" cy="347472"/>
          </a:xfrm>
          <a:prstGeom prst="ellipse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8" y="1965960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19202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 Display"/>
              </a:rPr>
              <a:t>Separar train/test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395728"/>
            <a:ext cx="2084831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D3E1ED"/>
                </a:solidFill>
                <a:latin typeface="Aptos"/>
              </a:rPr>
              <a:t>Antes de calcular cualquier promedio o eigenface.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737360"/>
            <a:ext cx="2514600" cy="1600200"/>
          </a:xfrm>
          <a:prstGeom prst="roundRect">
            <a:avLst/>
          </a:prstGeom>
          <a:solidFill>
            <a:srgbClr val="0A2D52"/>
          </a:solidFill>
          <a:ln w="12700">
            <a:solidFill>
              <a:srgbClr val="30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56248" y="1901952"/>
            <a:ext cx="347472" cy="347472"/>
          </a:xfrm>
          <a:prstGeom prst="ellipse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1965960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2592" y="19202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 Display"/>
              </a:rPr>
              <a:t>Centrar con train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395728"/>
            <a:ext cx="2084831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D3E1ED"/>
                </a:solidFill>
                <a:latin typeface="Aptos"/>
              </a:rPr>
              <a:t>Resto promedio solo aprendido en entrenamiento.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737360"/>
            <a:ext cx="2514600" cy="1600200"/>
          </a:xfrm>
          <a:prstGeom prst="roundRect">
            <a:avLst/>
          </a:prstGeom>
          <a:solidFill>
            <a:srgbClr val="0A2D52"/>
          </a:solidFill>
          <a:ln w="12700">
            <a:solidFill>
              <a:srgbClr val="30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90888" y="1901952"/>
            <a:ext cx="347472" cy="347472"/>
          </a:xfrm>
          <a:prstGeom prst="ellipse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90888" y="1965960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7232" y="19202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 Display"/>
              </a:rPr>
              <a:t>SVD del train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6608" y="2395728"/>
            <a:ext cx="2084831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D3E1ED"/>
                </a:solidFill>
                <a:latin typeface="Aptos"/>
              </a:rPr>
              <a:t>Obtener eigenfaces y scores sin mirar test.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840479"/>
            <a:ext cx="2514600" cy="1600200"/>
          </a:xfrm>
          <a:prstGeom prst="roundRect">
            <a:avLst/>
          </a:prstGeom>
          <a:solidFill>
            <a:srgbClr val="0A2D52"/>
          </a:solidFill>
          <a:ln w="12700">
            <a:solidFill>
              <a:srgbClr val="30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86968" y="4005071"/>
            <a:ext cx="347472" cy="347472"/>
          </a:xfrm>
          <a:prstGeom prst="ellipse">
            <a:avLst/>
          </a:prstGeom>
          <a:solidFill>
            <a:srgbClr val="AA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4069079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2" y="4023359"/>
            <a:ext cx="1645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 Display"/>
              </a:rPr>
              <a:t>Probar varios 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498847"/>
            <a:ext cx="2084831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D3E1ED"/>
                </a:solidFill>
                <a:latin typeface="Aptos"/>
              </a:rPr>
              <a:t>Comparar reconstrucción y desempeño.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66160" y="3840479"/>
            <a:ext cx="2514600" cy="1600200"/>
          </a:xfrm>
          <a:prstGeom prst="roundRect">
            <a:avLst/>
          </a:prstGeom>
          <a:solidFill>
            <a:srgbClr val="0A2D52"/>
          </a:solidFill>
          <a:ln w="12700">
            <a:solidFill>
              <a:srgbClr val="30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721608" y="4005071"/>
            <a:ext cx="347472" cy="347472"/>
          </a:xfrm>
          <a:prstGeom prst="ellipse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21608" y="4069079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87952" y="4023359"/>
            <a:ext cx="1645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 Display"/>
              </a:rPr>
              <a:t>Clasificar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67328" y="4498847"/>
            <a:ext cx="2084831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D3E1ED"/>
                </a:solidFill>
                <a:latin typeface="Aptos"/>
              </a:rPr>
              <a:t>Usar scores como predictores.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840479"/>
            <a:ext cx="2514600" cy="1600200"/>
          </a:xfrm>
          <a:prstGeom prst="roundRect">
            <a:avLst/>
          </a:prstGeom>
          <a:solidFill>
            <a:srgbClr val="0A2D52"/>
          </a:solidFill>
          <a:ln w="12700">
            <a:solidFill>
              <a:srgbClr val="30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556248" y="4005071"/>
            <a:ext cx="347472" cy="347472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4069079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2592" y="4023359"/>
            <a:ext cx="1645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 Display"/>
              </a:rPr>
              <a:t>Evaluar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1968" y="4498847"/>
            <a:ext cx="2084831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D3E1ED"/>
                </a:solidFill>
                <a:latin typeface="Aptos"/>
              </a:rPr>
              <a:t>Precision, recall, F1 + matriz de confusión.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35440" y="3840479"/>
            <a:ext cx="2514600" cy="1600200"/>
          </a:xfrm>
          <a:prstGeom prst="roundRect">
            <a:avLst/>
          </a:prstGeom>
          <a:solidFill>
            <a:srgbClr val="0A2D52"/>
          </a:solidFill>
          <a:ln w="12700">
            <a:solidFill>
              <a:srgbClr val="304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390888" y="4005071"/>
            <a:ext cx="347472" cy="347472"/>
          </a:xfrm>
          <a:prstGeom prst="ellipse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90888" y="4069079"/>
            <a:ext cx="34747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57232" y="4023359"/>
            <a:ext cx="1645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 Display"/>
              </a:rPr>
              <a:t>Recomendar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36608" y="4498847"/>
            <a:ext cx="2084831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50" b="0">
                <a:solidFill>
                  <a:srgbClr val="D3E1ED"/>
                </a:solidFill>
                <a:latin typeface="Aptos"/>
              </a:rPr>
              <a:t>Justificar k y umbral según costo de FP/FN.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Aprendizaje No Supervisado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2720" y="6473952"/>
            <a:ext cx="1188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5E6D7D"/>
                </a:solidFill>
                <a:latin typeface="Aptos"/>
              </a:rPr>
              <a:t>Guía visual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1C2530"/>
                </a:solidFill>
                <a:latin typeface="Aptos Display"/>
              </a:rPr>
              <a:t>Qué evitar en el notebook y el video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36576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5E6D7D"/>
                </a:solidFill>
                <a:latin typeface="Aptos Display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383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73152" cy="1600200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01952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No centrar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2971800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La primera dirección captura el promedio en lugar de las diferencias.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79" y="1737360"/>
            <a:ext cx="3383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79" y="1737360"/>
            <a:ext cx="73152" cy="1600200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1901952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Estandarizar sin justificar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331720"/>
            <a:ext cx="2971800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Puede cambiar innecesariamente la geometría si todos los píxeles comparten escala.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19" y="1737360"/>
            <a:ext cx="3383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19" y="1737360"/>
            <a:ext cx="73152" cy="1600200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9" y="1901952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Leakage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2331720"/>
            <a:ext cx="2971800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Aprender media/eigenfaces con test infla artificialmente el rendimiento.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40479"/>
            <a:ext cx="3383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840479"/>
            <a:ext cx="73152" cy="1600200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005071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Confundir varianza con 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434840"/>
            <a:ext cx="2971800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Conservar 95% de varianza no garantiza 95% de clasificación.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79" y="3840479"/>
            <a:ext cx="3383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26279" y="3840479"/>
            <a:ext cx="73152" cy="1600200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79" y="4005071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Usar solo 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4434840"/>
            <a:ext cx="2971800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Con clases desbalanceadas puede parecer excelente aunque nunca detecte la clase objetivo.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19" y="3840479"/>
            <a:ext cx="3383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19" y="3840479"/>
            <a:ext cx="73152" cy="1600200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19" y="4005071"/>
            <a:ext cx="2971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Interpretar signos como bueno/malo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9" y="4434840"/>
            <a:ext cx="2971800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El signo de una eigenface es una orientación, no una valoración.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Aprendizaje No Supervisado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6473952"/>
            <a:ext cx="1188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5E6D7D"/>
                </a:solidFill>
                <a:latin typeface="Aptos"/>
              </a:rPr>
              <a:t>Guía visual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QUIZ DE REPASO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1C2530"/>
                </a:solidFill>
                <a:latin typeface="Aptos Display"/>
              </a:rPr>
              <a:t>Preguntas 1–5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36576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5E6D7D"/>
                </a:solidFill>
                <a:latin typeface="Aptos Display"/>
              </a:rPr>
              <a:t>20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691640"/>
            <a:ext cx="411480" cy="411480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73936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73352"/>
            <a:ext cx="54864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¿Qué propiedad distingue a PC1?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645920"/>
            <a:ext cx="42976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1746504"/>
            <a:ext cx="3931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30" b="0">
                <a:solidFill>
                  <a:srgbClr val="5E6D7D"/>
                </a:solidFill>
                <a:latin typeface="Aptos"/>
              </a:rPr>
              <a:t>Maximiza la varianza entre todas las combinaciones lineales permitidas.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587752"/>
            <a:ext cx="411480" cy="411480"/>
          </a:xfrm>
          <a:prstGeom prst="ellipse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7004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69464"/>
            <a:ext cx="54864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¿Qué representa Vᵀ en el ejemplo facial?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542032"/>
            <a:ext cx="42976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642616"/>
            <a:ext cx="3931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30" b="0">
                <a:solidFill>
                  <a:srgbClr val="5E6D7D"/>
                </a:solidFill>
                <a:latin typeface="Aptos"/>
              </a:rPr>
              <a:t>Patrones de variación que pueden reorganizarse como eigenfaces.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483864"/>
            <a:ext cx="411480" cy="411480"/>
          </a:xfrm>
          <a:prstGeom prst="ellipse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6616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465576"/>
            <a:ext cx="54864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¿Por qué centrar antes de SVD?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3438144"/>
            <a:ext cx="42976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3538728"/>
            <a:ext cx="3931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30" b="0">
                <a:solidFill>
                  <a:srgbClr val="5E6D7D"/>
                </a:solidFill>
                <a:latin typeface="Aptos"/>
              </a:rPr>
              <a:t>Para que los patrones describan desviaciones respecto al rostro promedio.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379976"/>
            <a:ext cx="411480" cy="411480"/>
          </a:xfrm>
          <a:prstGeom prst="ellipse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6227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361688"/>
            <a:ext cx="54864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¿Cuál es la relación entre λ y σ?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4334256"/>
            <a:ext cx="42976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4434840"/>
            <a:ext cx="3931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30" b="0">
                <a:solidFill>
                  <a:srgbClr val="5E6D7D"/>
                </a:solidFill>
                <a:latin typeface="Aptos"/>
              </a:rPr>
              <a:t>λj = σj².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5276088"/>
            <a:ext cx="411480" cy="411480"/>
          </a:xfrm>
          <a:prstGeom prst="ellipse">
            <a:avLst/>
          </a:prstGeom>
          <a:solidFill>
            <a:srgbClr val="AA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358383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257800"/>
            <a:ext cx="54864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¿Varianza explicada = accuracy?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5230368"/>
            <a:ext cx="42976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5330951"/>
            <a:ext cx="3931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30" b="0">
                <a:solidFill>
                  <a:srgbClr val="5E6D7D"/>
                </a:solidFill>
                <a:latin typeface="Aptos"/>
              </a:rPr>
              <a:t>No. Son objetivos distintos.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Aprendizaje No Supervisado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473952"/>
            <a:ext cx="1188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5E6D7D"/>
                </a:solidFill>
                <a:latin typeface="Aptos"/>
              </a:rPr>
              <a:t>Guía visual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QUIZ DE REPASO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1C2530"/>
                </a:solidFill>
                <a:latin typeface="Aptos Display"/>
              </a:rPr>
              <a:t>Preguntas 6–10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36576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5E6D7D"/>
                </a:solidFill>
                <a:latin typeface="Aptos Display"/>
              </a:rPr>
              <a:t>21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691640"/>
            <a:ext cx="411480" cy="411480"/>
          </a:xfrm>
          <a:prstGeom prst="ellipse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73936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73352"/>
            <a:ext cx="54864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¿Qué es un score en eigenfaces?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645920"/>
            <a:ext cx="4297680" cy="56692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1746504"/>
            <a:ext cx="3931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30" b="0">
                <a:solidFill>
                  <a:srgbClr val="5E6D7D"/>
                </a:solidFill>
                <a:latin typeface="Aptos"/>
              </a:rPr>
              <a:t>La coordenada que indica cuánto de una eigenface usa una imagen.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587752"/>
            <a:ext cx="411480" cy="411480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70048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69464"/>
            <a:ext cx="54864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¿Qué sucede si recalculas eigenfaces con test?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542032"/>
            <a:ext cx="4297680" cy="56692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642616"/>
            <a:ext cx="3931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30" b="0">
                <a:solidFill>
                  <a:srgbClr val="5E6D7D"/>
                </a:solidFill>
                <a:latin typeface="Aptos"/>
              </a:rPr>
              <a:t>Hay leakage; el desempeño deja de ser una evaluación limpia.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483864"/>
            <a:ext cx="411480" cy="411480"/>
          </a:xfrm>
          <a:prstGeom prst="ellipse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66160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465576"/>
            <a:ext cx="54864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¿Qué métrica revisar si la clase positiva es escasa?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3438144"/>
            <a:ext cx="4297680" cy="56692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3538728"/>
            <a:ext cx="3931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30" b="0">
                <a:solidFill>
                  <a:srgbClr val="5E6D7D"/>
                </a:solidFill>
                <a:latin typeface="Aptos"/>
              </a:rPr>
              <a:t>Precision, recall y F1, no solo accuracy.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379976"/>
            <a:ext cx="411480" cy="411480"/>
          </a:xfrm>
          <a:prstGeom prst="ellipse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6227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361688"/>
            <a:ext cx="54864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¿Qué implica aumentar k?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4334256"/>
            <a:ext cx="4297680" cy="56692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4434840"/>
            <a:ext cx="3931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30" b="0">
                <a:solidFill>
                  <a:srgbClr val="5E6D7D"/>
                </a:solidFill>
                <a:latin typeface="Aptos"/>
              </a:rPr>
              <a:t>Más información y costo; no siempre mejor clasificación.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5276088"/>
            <a:ext cx="411480" cy="411480"/>
          </a:xfrm>
          <a:prstGeom prst="ellipse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358383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257800"/>
            <a:ext cx="54864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C2530"/>
                </a:solidFill>
                <a:latin typeface="Aptos Display"/>
              </a:rPr>
              <a:t>¿Qué distingue un FP de un FN?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5230368"/>
            <a:ext cx="4297680" cy="56692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5330951"/>
            <a:ext cx="3931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30" b="0">
                <a:solidFill>
                  <a:srgbClr val="5E6D7D"/>
                </a:solidFill>
                <a:latin typeface="Aptos"/>
              </a:rPr>
              <a:t>FP acepta incorrectamente; FN rechaza incorrectamente.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Aprendizaje No Supervisado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473952"/>
            <a:ext cx="1188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5E6D7D"/>
                </a:solidFill>
                <a:latin typeface="Aptos"/>
              </a:rPr>
              <a:t>Guía visual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MINI TALLER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1C2530"/>
                </a:solidFill>
                <a:latin typeface="Aptos Display"/>
              </a:rPr>
              <a:t>Decidir entre k = 25, 50 y 100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36576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5E6D7D"/>
                </a:solidFill>
                <a:latin typeface="Aptos Display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69494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640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C2530"/>
                </a:solidFill>
                <a:latin typeface="Aptos Display"/>
              </a:rPr>
              <a:t>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20240"/>
            <a:ext cx="1325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C2530"/>
                </a:solidFill>
                <a:latin typeface="Aptos Display"/>
              </a:rPr>
              <a:t>Var. explicada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920240"/>
            <a:ext cx="1005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C2530"/>
                </a:solidFill>
                <a:latin typeface="Aptos Display"/>
              </a:rPr>
              <a:t>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92024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C2530"/>
                </a:solidFill>
                <a:latin typeface="Aptos Display"/>
              </a:rPr>
              <a:t>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920240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C2530"/>
                </a:solidFill>
                <a:latin typeface="Aptos Display"/>
              </a:rPr>
              <a:t>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59" y="192024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C2530"/>
                </a:solidFill>
                <a:latin typeface="Aptos Display"/>
              </a:rPr>
              <a:t>Costo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487168"/>
            <a:ext cx="603503" cy="502920"/>
          </a:xfrm>
          <a:prstGeom prst="rect">
            <a:avLst/>
          </a:prstGeom>
          <a:solidFill>
            <a:srgbClr val="EB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596896"/>
            <a:ext cx="603503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1C2530"/>
                </a:solidFill>
                <a:latin typeface="Aptos Display"/>
              </a:rPr>
              <a:t>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0" y="2487168"/>
            <a:ext cx="1289304" cy="502920"/>
          </a:xfrm>
          <a:prstGeom prst="rect">
            <a:avLst/>
          </a:prstGeom>
          <a:solidFill>
            <a:srgbClr val="EB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2596896"/>
            <a:ext cx="128930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1C2530"/>
                </a:solidFill>
                <a:latin typeface="Aptos"/>
              </a:rPr>
              <a:t>83%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2487168"/>
            <a:ext cx="969264" cy="502920"/>
          </a:xfrm>
          <a:prstGeom prst="rect">
            <a:avLst/>
          </a:prstGeom>
          <a:solidFill>
            <a:srgbClr val="EB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2596896"/>
            <a:ext cx="96926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1C2530"/>
                </a:solidFill>
                <a:latin typeface="Aptos"/>
              </a:rPr>
              <a:t>0.86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77639" y="2487168"/>
            <a:ext cx="877824" cy="502920"/>
          </a:xfrm>
          <a:prstGeom prst="rect">
            <a:avLst/>
          </a:prstGeom>
          <a:solidFill>
            <a:srgbClr val="EB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39" y="2596896"/>
            <a:ext cx="87782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1C2530"/>
                </a:solidFill>
                <a:latin typeface="Aptos"/>
              </a:rPr>
              <a:t>0.55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2487168"/>
            <a:ext cx="694944" cy="502920"/>
          </a:xfrm>
          <a:prstGeom prst="rect">
            <a:avLst/>
          </a:prstGeom>
          <a:solidFill>
            <a:srgbClr val="EB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2596896"/>
            <a:ext cx="69494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71429B"/>
                </a:solidFill>
                <a:latin typeface="Aptos Display"/>
              </a:rPr>
              <a:t>0.67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59" y="2487168"/>
            <a:ext cx="877824" cy="502920"/>
          </a:xfrm>
          <a:prstGeom prst="rect">
            <a:avLst/>
          </a:prstGeom>
          <a:solidFill>
            <a:srgbClr val="EB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59" y="2596896"/>
            <a:ext cx="87782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1C2530"/>
                </a:solidFill>
                <a:latin typeface="Aptos"/>
              </a:rPr>
              <a:t>Bajo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3172968"/>
            <a:ext cx="603503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282696"/>
            <a:ext cx="603503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1C2530"/>
                </a:solidFill>
                <a:latin typeface="Aptos Display"/>
              </a:rPr>
              <a:t>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0" y="3172968"/>
            <a:ext cx="1289304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0" y="3282696"/>
            <a:ext cx="128930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1C2530"/>
                </a:solidFill>
                <a:latin typeface="Aptos"/>
              </a:rPr>
              <a:t>90%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71800" y="3172968"/>
            <a:ext cx="969264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71800" y="3282696"/>
            <a:ext cx="96926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1C2530"/>
                </a:solidFill>
                <a:latin typeface="Aptos"/>
              </a:rPr>
              <a:t>0.95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77639" y="3172968"/>
            <a:ext cx="877824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77639" y="3282696"/>
            <a:ext cx="87782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1C2530"/>
                </a:solidFill>
                <a:latin typeface="Aptos"/>
              </a:rPr>
              <a:t>0.72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3172968"/>
            <a:ext cx="694944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92040" y="3282696"/>
            <a:ext cx="69494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71429B"/>
                </a:solidFill>
                <a:latin typeface="Aptos Display"/>
              </a:rPr>
              <a:t>0.82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23559" y="3172968"/>
            <a:ext cx="877824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3559" y="3282696"/>
            <a:ext cx="87782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1C2530"/>
                </a:solidFill>
                <a:latin typeface="Aptos"/>
              </a:rPr>
              <a:t>Medio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" y="3858768"/>
            <a:ext cx="603503" cy="502920"/>
          </a:xfrm>
          <a:prstGeom prst="rect">
            <a:avLst/>
          </a:prstGeom>
          <a:solidFill>
            <a:srgbClr val="EB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3968496"/>
            <a:ext cx="603503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1C2530"/>
                </a:solidFill>
                <a:latin typeface="Aptos Display"/>
              </a:rPr>
              <a:t>100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0" y="3858768"/>
            <a:ext cx="1289304" cy="502920"/>
          </a:xfrm>
          <a:prstGeom prst="rect">
            <a:avLst/>
          </a:prstGeom>
          <a:solidFill>
            <a:srgbClr val="EB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45920" y="3968496"/>
            <a:ext cx="128930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1C2530"/>
                </a:solidFill>
                <a:latin typeface="Aptos"/>
              </a:rPr>
              <a:t>95%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71800" y="3858768"/>
            <a:ext cx="969264" cy="502920"/>
          </a:xfrm>
          <a:prstGeom prst="rect">
            <a:avLst/>
          </a:prstGeom>
          <a:solidFill>
            <a:srgbClr val="EB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71800" y="3968496"/>
            <a:ext cx="96926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1C2530"/>
                </a:solidFill>
                <a:latin typeface="Aptos"/>
              </a:rPr>
              <a:t>0.93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77639" y="3858768"/>
            <a:ext cx="877824" cy="502920"/>
          </a:xfrm>
          <a:prstGeom prst="rect">
            <a:avLst/>
          </a:prstGeom>
          <a:solidFill>
            <a:srgbClr val="EB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77639" y="3968496"/>
            <a:ext cx="87782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1C2530"/>
                </a:solidFill>
                <a:latin typeface="Aptos"/>
              </a:rPr>
              <a:t>0.82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92040" y="3858768"/>
            <a:ext cx="694944" cy="502920"/>
          </a:xfrm>
          <a:prstGeom prst="rect">
            <a:avLst/>
          </a:prstGeom>
          <a:solidFill>
            <a:srgbClr val="EB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92040" y="3968496"/>
            <a:ext cx="69494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71429B"/>
                </a:solidFill>
                <a:latin typeface="Aptos Display"/>
              </a:rPr>
              <a:t>0.87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23559" y="3858768"/>
            <a:ext cx="877824" cy="502920"/>
          </a:xfrm>
          <a:prstGeom prst="rect">
            <a:avLst/>
          </a:prstGeom>
          <a:solidFill>
            <a:srgbClr val="EB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23559" y="3968496"/>
            <a:ext cx="87782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0">
                <a:solidFill>
                  <a:srgbClr val="1C2530"/>
                </a:solidFill>
                <a:latin typeface="Aptos"/>
              </a:rPr>
              <a:t>Alto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01000" y="1783080"/>
            <a:ext cx="3246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01000" y="1783080"/>
            <a:ext cx="73152" cy="1280160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0" y="1947672"/>
            <a:ext cx="283463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Pregunta 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2377440"/>
            <a:ext cx="2834639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¿Qué k escogerías si el costo de un falso positivo es muy alto?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01000" y="3246120"/>
            <a:ext cx="3246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01000" y="3246120"/>
            <a:ext cx="73152" cy="1280160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0" y="3410712"/>
            <a:ext cx="283463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C2530"/>
                </a:solidFill>
                <a:latin typeface="Aptos Display"/>
              </a:rPr>
              <a:t>Pregunta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3840480"/>
            <a:ext cx="2834639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70" b="0">
                <a:solidFill>
                  <a:srgbClr val="5E6D7D"/>
                </a:solidFill>
                <a:latin typeface="Aptos"/>
              </a:rPr>
              <a:t>¿Qué información adicional pedirías antes de recomendar una opción?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" y="5303520"/>
            <a:ext cx="103327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80" b="1">
                <a:solidFill>
                  <a:srgbClr val="1C2530"/>
                </a:solidFill>
                <a:latin typeface="Aptos Display"/>
              </a:rPr>
              <a:t>Solución orientativa: k=50 puede ser razonable si se privilegia precision y se quiere controlar costo. Si el objetivo es detectar más positivos y el costo computacional lo permite, k=100 mejora F1 y recall.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Aprendizaje No Supervisado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32720" y="6473952"/>
            <a:ext cx="1188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5E6D7D"/>
                </a:solidFill>
                <a:latin typeface="Aptos"/>
              </a:rPr>
              <a:t>Guía visual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ECDDA"/>
                </a:solidFill>
                <a:latin typeface="Aptos Display"/>
              </a:rPr>
              <a:t>RESUMEN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SVD + Eigenfaces en una sola página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36576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BECDDA"/>
                </a:solidFill>
                <a:latin typeface="Aptos Display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2606040" cy="1463040"/>
          </a:xfrm>
          <a:prstGeom prst="roundRect">
            <a:avLst/>
          </a:prstGeom>
          <a:solidFill>
            <a:srgbClr val="0A2D52"/>
          </a:solidFill>
          <a:ln w="12700">
            <a:solidFill>
              <a:srgbClr val="2E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1837944"/>
            <a:ext cx="365760" cy="365760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11095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856232"/>
            <a:ext cx="1737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 Display"/>
              </a:rPr>
              <a:t>Matriz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50008"/>
            <a:ext cx="2103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D4E1ED"/>
                </a:solidFill>
                <a:latin typeface="Aptos"/>
              </a:rPr>
              <a:t>X: imágenes × píxeles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691640"/>
            <a:ext cx="2606040" cy="1463040"/>
          </a:xfrm>
          <a:prstGeom prst="roundRect">
            <a:avLst/>
          </a:prstGeom>
          <a:solidFill>
            <a:srgbClr val="0A2D52"/>
          </a:solidFill>
          <a:ln w="12700">
            <a:solidFill>
              <a:srgbClr val="2E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30752" y="1837944"/>
            <a:ext cx="365760" cy="365760"/>
          </a:xfrm>
          <a:prstGeom prst="ellipse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1911095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1856232"/>
            <a:ext cx="1737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 Display"/>
              </a:rPr>
              <a:t>Centrar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350008"/>
            <a:ext cx="2103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D4E1ED"/>
                </a:solidFill>
                <a:latin typeface="Aptos"/>
              </a:rPr>
              <a:t>Xc = X − μtrain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691640"/>
            <a:ext cx="2606040" cy="1463040"/>
          </a:xfrm>
          <a:prstGeom prst="roundRect">
            <a:avLst/>
          </a:prstGeom>
          <a:solidFill>
            <a:srgbClr val="0A2D52"/>
          </a:solidFill>
          <a:ln w="12700">
            <a:solidFill>
              <a:srgbClr val="2E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11112" y="1837944"/>
            <a:ext cx="365760" cy="365760"/>
          </a:xfrm>
          <a:prstGeom prst="ellipse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1911095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8312" y="1856232"/>
            <a:ext cx="1737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 Display"/>
              </a:rPr>
              <a:t>Descomponer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350008"/>
            <a:ext cx="2103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D4E1ED"/>
                </a:solidFill>
                <a:latin typeface="Aptos"/>
              </a:rPr>
              <a:t>Xc = UΣVᵀ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1691640"/>
            <a:ext cx="2606040" cy="1463040"/>
          </a:xfrm>
          <a:prstGeom prst="roundRect">
            <a:avLst/>
          </a:prstGeom>
          <a:solidFill>
            <a:srgbClr val="0A2D52"/>
          </a:solidFill>
          <a:ln w="12700">
            <a:solidFill>
              <a:srgbClr val="2E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1472" y="1837944"/>
            <a:ext cx="365760" cy="365760"/>
          </a:xfrm>
          <a:prstGeom prst="ellipse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91472" y="1911095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1856232"/>
            <a:ext cx="1737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 Display"/>
              </a:rPr>
              <a:t>Interpretar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2350008"/>
            <a:ext cx="2103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D4E1ED"/>
                </a:solidFill>
                <a:latin typeface="Aptos"/>
              </a:rPr>
              <a:t>V → eigenfaces; UΣ → scores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703320"/>
            <a:ext cx="2606040" cy="1463040"/>
          </a:xfrm>
          <a:prstGeom prst="roundRect">
            <a:avLst/>
          </a:prstGeom>
          <a:solidFill>
            <a:srgbClr val="0A2D52"/>
          </a:solidFill>
          <a:ln w="12700">
            <a:solidFill>
              <a:srgbClr val="2E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0392" y="3849624"/>
            <a:ext cx="365760" cy="365760"/>
          </a:xfrm>
          <a:prstGeom prst="ellipse">
            <a:avLst/>
          </a:prstGeom>
          <a:solidFill>
            <a:srgbClr val="AA4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3922776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7592" y="3867912"/>
            <a:ext cx="1737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 Display"/>
              </a:rPr>
              <a:t>Reducir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4361688"/>
            <a:ext cx="2103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D4E1ED"/>
                </a:solidFill>
                <a:latin typeface="Aptos"/>
              </a:rPr>
              <a:t>Conservar k direcciones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66160" y="3703320"/>
            <a:ext cx="2606040" cy="1463040"/>
          </a:xfrm>
          <a:prstGeom prst="roundRect">
            <a:avLst/>
          </a:prstGeom>
          <a:solidFill>
            <a:srgbClr val="0A2D52"/>
          </a:solidFill>
          <a:ln w="12700">
            <a:solidFill>
              <a:srgbClr val="2E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730752" y="3849624"/>
            <a:ext cx="365760" cy="365760"/>
          </a:xfrm>
          <a:prstGeom prst="ellipse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30752" y="3922776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87952" y="3867912"/>
            <a:ext cx="1737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 Display"/>
              </a:rPr>
              <a:t>Reconstruir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67328" y="4361688"/>
            <a:ext cx="2103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D4E1ED"/>
                </a:solidFill>
                <a:latin typeface="Aptos"/>
              </a:rPr>
              <a:t>μ + scores·eigenfaces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46520" y="3703320"/>
            <a:ext cx="2606040" cy="1463040"/>
          </a:xfrm>
          <a:prstGeom prst="roundRect">
            <a:avLst/>
          </a:prstGeom>
          <a:solidFill>
            <a:srgbClr val="0A2D52"/>
          </a:solidFill>
          <a:ln w="12700">
            <a:solidFill>
              <a:srgbClr val="2E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611112" y="3849624"/>
            <a:ext cx="365760" cy="365760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11112" y="3922776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68312" y="3867912"/>
            <a:ext cx="1737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 Display"/>
              </a:rPr>
              <a:t>Clasificar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47688" y="4361688"/>
            <a:ext cx="2103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D4E1ED"/>
                </a:solidFill>
                <a:latin typeface="Aptos"/>
              </a:rPr>
              <a:t>scores → modelo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26880" y="3703320"/>
            <a:ext cx="2606040" cy="1463040"/>
          </a:xfrm>
          <a:prstGeom prst="roundRect">
            <a:avLst/>
          </a:prstGeom>
          <a:solidFill>
            <a:srgbClr val="0A2D52"/>
          </a:solidFill>
          <a:ln w="12700">
            <a:solidFill>
              <a:srgbClr val="2E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491472" y="3849624"/>
            <a:ext cx="365760" cy="365760"/>
          </a:xfrm>
          <a:prstGeom prst="ellipse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91472" y="3922776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8672" y="3867912"/>
            <a:ext cx="1737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 Display"/>
              </a:rPr>
              <a:t>Evaluar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28048" y="4361688"/>
            <a:ext cx="2103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D4E1ED"/>
                </a:solidFill>
                <a:latin typeface="Aptos"/>
              </a:rPr>
              <a:t>precision · recall · F1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897880"/>
            <a:ext cx="10515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 Display"/>
              </a:rPr>
              <a:t>Regla de oro: separar bien train/test y justificar cada decisión en función del problema real.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473952"/>
            <a:ext cx="5029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E6D7D"/>
                </a:solidFill>
                <a:latin typeface="Aptos"/>
              </a:rPr>
              <a:t>MIID 4303 · Aprendizaje No Supervisado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20" y="6473952"/>
            <a:ext cx="1188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>
                <a:solidFill>
                  <a:srgbClr val="5E6D7D"/>
                </a:solidFill>
                <a:latin typeface="Aptos"/>
              </a:rPr>
              <a:t>Guía visual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8961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5E6D7D"/>
                </a:solidFill>
                <a:latin typeface="Aptos Display"/>
              </a:rPr>
              <a:t>CHECKLIST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67512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800" b="1">
                <a:solidFill>
                  <a:srgbClr val="1C2530"/>
                </a:solidFill>
                <a:latin typeface="Aptos Display"/>
              </a:rPr>
              <a:t>¿Estoy listo para el taller y el quiz?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36576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5E6D7D"/>
                </a:solidFill>
                <a:latin typeface="Aptos Display"/>
              </a:rPr>
              <a:t>24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19072"/>
            <a:ext cx="310896" cy="310896"/>
          </a:xfrm>
          <a:prstGeom prst="ellipse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92224"/>
            <a:ext cx="310896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91640"/>
            <a:ext cx="4572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0">
                <a:solidFill>
                  <a:srgbClr val="1C2530"/>
                </a:solidFill>
                <a:latin typeface="Aptos"/>
              </a:rPr>
              <a:t>Entiendo por qué PCA maximiza varianza.</a:t>
            </a:r>
          </a:p>
        </p:txBody>
      </p:sp>
      <p:sp>
        <p:nvSpPr>
          <p:cNvPr id="9" name="Oval 8"/>
          <p:cNvSpPr/>
          <p:nvPr/>
        </p:nvSpPr>
        <p:spPr>
          <a:xfrm>
            <a:off x="6309360" y="1719072"/>
            <a:ext cx="310896" cy="310896"/>
          </a:xfrm>
          <a:prstGeom prst="ellipse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92224"/>
            <a:ext cx="310896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691640"/>
            <a:ext cx="4572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1">
                <a:solidFill>
                  <a:srgbClr val="1C2530"/>
                </a:solidFill>
                <a:latin typeface="Aptos Display"/>
              </a:rPr>
              <a:t>Puedo explicar X = UΣVᵀ y las dimensiones.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432303"/>
            <a:ext cx="310896" cy="310896"/>
          </a:xfrm>
          <a:prstGeom prst="ellipse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05456"/>
            <a:ext cx="310896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04872"/>
            <a:ext cx="4572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0">
                <a:solidFill>
                  <a:srgbClr val="1C2530"/>
                </a:solidFill>
                <a:latin typeface="Aptos"/>
              </a:rPr>
              <a:t>Sé qué representa una eigenface.</a:t>
            </a:r>
          </a:p>
        </p:txBody>
      </p:sp>
      <p:sp>
        <p:nvSpPr>
          <p:cNvPr id="15" name="Oval 14"/>
          <p:cNvSpPr/>
          <p:nvPr/>
        </p:nvSpPr>
        <p:spPr>
          <a:xfrm>
            <a:off x="6309360" y="2432303"/>
            <a:ext cx="310896" cy="310896"/>
          </a:xfrm>
          <a:prstGeom prst="ellipse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505456"/>
            <a:ext cx="310896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404872"/>
            <a:ext cx="4572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0">
                <a:solidFill>
                  <a:srgbClr val="1C2530"/>
                </a:solidFill>
                <a:latin typeface="Aptos"/>
              </a:rPr>
              <a:t>Puedo explicar por qué centrar es clave.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3145536"/>
            <a:ext cx="310896" cy="310896"/>
          </a:xfrm>
          <a:prstGeom prst="ellipse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18688"/>
            <a:ext cx="310896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18104"/>
            <a:ext cx="4572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0">
                <a:solidFill>
                  <a:srgbClr val="1C2530"/>
                </a:solidFill>
                <a:latin typeface="Aptos"/>
              </a:rPr>
              <a:t>Distingo centrar de estandarizar.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3145536"/>
            <a:ext cx="310896" cy="310896"/>
          </a:xfrm>
          <a:prstGeom prst="ellipse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218688"/>
            <a:ext cx="310896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118104"/>
            <a:ext cx="4572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0">
                <a:solidFill>
                  <a:srgbClr val="1C2530"/>
                </a:solidFill>
                <a:latin typeface="Aptos"/>
              </a:rPr>
              <a:t>Sé que λ = σ².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3858768"/>
            <a:ext cx="310896" cy="310896"/>
          </a:xfrm>
          <a:prstGeom prst="ellipse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931920"/>
            <a:ext cx="310896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831335"/>
            <a:ext cx="4572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0">
                <a:solidFill>
                  <a:srgbClr val="1C2530"/>
                </a:solidFill>
                <a:latin typeface="Aptos"/>
              </a:rPr>
              <a:t>Puedo calcular varianza explicada.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3858768"/>
            <a:ext cx="310896" cy="310896"/>
          </a:xfrm>
          <a:prstGeom prst="ellipse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931920"/>
            <a:ext cx="310896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831335"/>
            <a:ext cx="4572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0">
                <a:solidFill>
                  <a:srgbClr val="1C2530"/>
                </a:solidFill>
                <a:latin typeface="Aptos"/>
              </a:rPr>
              <a:t>Entiendo reconstrucción vs clasificación.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" y="4572000"/>
            <a:ext cx="310896" cy="310896"/>
          </a:xfrm>
          <a:prstGeom prst="ellipse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645152"/>
            <a:ext cx="310896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544568"/>
            <a:ext cx="4572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1">
                <a:solidFill>
                  <a:srgbClr val="1C2530"/>
                </a:solidFill>
                <a:latin typeface="Aptos Display"/>
              </a:rPr>
              <a:t>Evito leakage entre train y test.</a:t>
            </a:r>
          </a:p>
        </p:txBody>
      </p:sp>
      <p:sp>
        <p:nvSpPr>
          <p:cNvPr id="33" name="Oval 32"/>
          <p:cNvSpPr/>
          <p:nvPr/>
        </p:nvSpPr>
        <p:spPr>
          <a:xfrm>
            <a:off x="6309360" y="4572000"/>
            <a:ext cx="310896" cy="310896"/>
          </a:xfrm>
          <a:prstGeom prst="ellipse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645152"/>
            <a:ext cx="310896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544568"/>
            <a:ext cx="4572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1">
                <a:solidFill>
                  <a:srgbClr val="1C2530"/>
                </a:solidFill>
                <a:latin typeface="Aptos Display"/>
              </a:rPr>
              <a:t>Uso precision, recall y F1 con desbalance.</a:t>
            </a:r>
          </a:p>
        </p:txBody>
      </p:sp>
      <p:sp>
        <p:nvSpPr>
          <p:cNvPr id="36" name="Oval 35"/>
          <p:cNvSpPr/>
          <p:nvPr/>
        </p:nvSpPr>
        <p:spPr>
          <a:xfrm>
            <a:off x="822960" y="5285232"/>
            <a:ext cx="310896" cy="310896"/>
          </a:xfrm>
          <a:prstGeom prst="ellipse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358384"/>
            <a:ext cx="310896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257800"/>
            <a:ext cx="4572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0">
                <a:solidFill>
                  <a:srgbClr val="1C2530"/>
                </a:solidFill>
                <a:latin typeface="Aptos"/>
              </a:rPr>
              <a:t>Puedo explicar FP y FN en contexto.</a:t>
            </a:r>
          </a:p>
        </p:txBody>
      </p:sp>
      <p:sp>
        <p:nvSpPr>
          <p:cNvPr id="39" name="Oval 38"/>
          <p:cNvSpPr/>
          <p:nvPr/>
        </p:nvSpPr>
        <p:spPr>
          <a:xfrm>
            <a:off x="6309360" y="5285232"/>
            <a:ext cx="310896" cy="310896"/>
          </a:xfrm>
          <a:prstGeom prst="ellipse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5358384"/>
            <a:ext cx="310896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5257800"/>
            <a:ext cx="4572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20" b="0">
                <a:solidFill>
                  <a:srgbClr val="1C2530"/>
                </a:solidFill>
                <a:latin typeface="Aptos"/>
              </a:rPr>
              <a:t>Puedo justificar el k recomendado.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" y="6062472"/>
            <a:ext cx="10424160" cy="420624"/>
          </a:xfrm>
          <a:prstGeom prst="roundRect">
            <a:avLst/>
          </a:prstGeom>
          <a:solidFill>
            <a:srgbClr val="EB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6144768"/>
            <a:ext cx="103327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71429B"/>
                </a:solidFill>
                <a:latin typeface="Aptos Display"/>
              </a:rPr>
              <a:t>Si puedes explicar estos 12 puntos sin leer el código, tienes la estructura conceptual que el profesor está buscando.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88720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6C7DD"/>
                </a:solidFill>
                <a:latin typeface="Aptos Display"/>
              </a:rPr>
              <a:t>MIID 4303 · MÓDULO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98755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La SVD convierte miles de píxeles
en unas pocas direcciones útiles.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98755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D3E1ED"/>
                </a:solidFill>
                <a:latin typeface="Aptos"/>
              </a:rPr>
              <a:t>El valor del análisis aparece cuando esas direcciones se transforman en una decisión defendible: cuántas conservar, cómo evaluar y qué errores aceptar.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892040"/>
            <a:ext cx="9966960" cy="1005840"/>
          </a:xfrm>
          <a:prstGeom prst="roundRect">
            <a:avLst/>
          </a:prstGeom>
          <a:solidFill>
            <a:srgbClr val="0A2D52"/>
          </a:solidFill>
          <a:ln w="12700">
            <a:solidFill>
              <a:srgbClr val="2B4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5102352"/>
            <a:ext cx="94183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F4C031"/>
                </a:solidFill>
                <a:latin typeface="Aptos Display"/>
              </a:rPr>
              <a:t>Del álgebra lineal → a la representación → al modelo → a la recomendación.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17920"/>
            <a:ext cx="5029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A6BED3"/>
                </a:solidFill>
                <a:latin typeface="Aptos"/>
              </a:rPr>
              <a:t>Guía construida a partir de la sesión sincrónica cargada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