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C1D6"/>
                </a:solidFill>
                <a:latin typeface="Aptos Display"/>
              </a:rPr>
              <a:t>MIID 4303 · 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Sistemas de
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E2ED"/>
                </a:solidFill>
                <a:latin typeface="Aptos"/>
              </a:rPr>
              <a:t>De las elecciones pasadas y el contenido de los productos a recomendaciones personalizadas.</a:t>
            </a:r>
          </a:p>
        </p:txBody>
      </p:sp>
      <p:sp>
        <p:nvSpPr>
          <p:cNvPr id="5" name="Oval 4"/>
          <p:cNvSpPr/>
          <p:nvPr/>
        </p:nvSpPr>
        <p:spPr>
          <a:xfrm>
            <a:off x="8321040" y="3840480"/>
            <a:ext cx="384048" cy="384048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3657600"/>
            <a:ext cx="384048" cy="384048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5120640"/>
            <a:ext cx="384048" cy="384048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4937760"/>
            <a:ext cx="384048" cy="384048"/>
          </a:xfrm>
          <a:prstGeom prst="ellipse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8686800" y="3840480"/>
            <a:ext cx="1188720" cy="182880"/>
          </a:xfrm>
          <a:prstGeom prst="line">
            <a:avLst/>
          </a:prstGeom>
          <a:ln w="25400">
            <a:solidFill>
              <a:srgbClr val="82A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49640" y="4160520"/>
            <a:ext cx="365760" cy="914400"/>
          </a:xfrm>
          <a:prstGeom prst="line">
            <a:avLst/>
          </a:prstGeom>
          <a:ln w="25400">
            <a:solidFill>
              <a:srgbClr val="82A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12680" y="4023360"/>
            <a:ext cx="457200" cy="914400"/>
          </a:xfrm>
          <a:prstGeom prst="line">
            <a:avLst/>
          </a:prstGeom>
          <a:ln w="25400">
            <a:solidFill>
              <a:srgbClr val="82A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098280" y="5120640"/>
            <a:ext cx="1280160" cy="91440"/>
          </a:xfrm>
          <a:prstGeom prst="line">
            <a:avLst/>
          </a:prstGeom>
          <a:ln w="25400">
            <a:solidFill>
              <a:srgbClr val="82A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897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BD30"/>
                </a:solidFill>
                <a:latin typeface="Aptos Display"/>
              </a:rPr>
              <a:t>Filtrado colaborativo · Canasta de compra · Reglas de asociación · Filtrado por contenido ·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RUTA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Qué construye este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recomendar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52728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51760" y="1874519"/>
            <a:ext cx="457200" cy="45720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Colaborativo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usuarios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26279" y="1874519"/>
            <a:ext cx="457200" cy="457200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Canasta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asociaciones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01767" y="2103120"/>
            <a:ext cx="941832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799" y="1874519"/>
            <a:ext cx="457200" cy="457200"/>
          </a:xfrm>
          <a:prstGeom prst="ellipse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Contenido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similitud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76288" y="2103120"/>
            <a:ext cx="941831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75319" y="1874519"/>
            <a:ext cx="457200" cy="457200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Texto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NLP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50807" y="2103120"/>
            <a:ext cx="941833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149840" y="1874519"/>
            <a:ext cx="457200" cy="457200"/>
          </a:xfrm>
          <a:prstGeom prst="ellipse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99339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1C2733"/>
                </a:solidFill>
                <a:latin typeface="Aptos Display"/>
              </a:rPr>
              <a:t>Combinar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816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7C"/>
                </a:solidFill>
                <a:latin typeface="Aptos"/>
              </a:rPr>
              <a:t>en práctica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84048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840480"/>
            <a:ext cx="64008" cy="146304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3977640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Pregunta central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389120"/>
            <a:ext cx="4754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¿Qué producto, película, canción o restaurante debería recomendar a este usuario?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404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840480"/>
            <a:ext cx="64008" cy="146304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397764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Dos fuentes de señal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389120"/>
            <a:ext cx="47091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Comportamiento de usuarios + características o contenido de los elementos.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CONCEPTO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Dos familias básicas de recomendadores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9659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Filtrado colaborativo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Usa las elecciones pasadas del individuo y las elecciones de otras personas para predecir elecciones futuras.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9659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Filtrado basado en contenido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Usa similitudes entre los propios elementos: productos, canciones, restaurantes, películas, etc.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469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0740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El video hace una distinción pedagógica entre ambos enfoques, pero aclara que en la práctica suelen combinarse para generar recomendaciones más precisas.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FILTRADO COLABORATIVO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Aprender de personas con comportamientos parecidos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Tu historial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Qué películas, productos u otros elementos elegiste anteriormente.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002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Usuarios similares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Qué eligieron otras personas cuyo comportamiento se parece al tuyo.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002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Predicción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Qué elección futura podría ser relevante para 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ECFDC"/>
                </a:solidFill>
                <a:latin typeface="Aptos Display"/>
              </a:rPr>
              <a:t>Ejemplo del 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434840"/>
            <a:ext cx="9189720" cy="10058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645152"/>
            <a:ext cx="8732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Netflix: dadas las películas que viste y las elecciones de personas similares a ti, ¿qué película debería recomendarte esta noche?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No es solo para películas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192024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659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77440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“Comprados juntos habitualmente”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1828800"/>
            <a:ext cx="64008" cy="192024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9659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Descubrimiento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377440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“Podrían interesarte”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828800"/>
            <a:ext cx="64008" cy="192024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9659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Productos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377440"/>
            <a:ext cx="29718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Cualquier tipo de producto puede ser recomendado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Ventaja conceptual: el filtrado colaborativo puede funcionar sin que la computadora tenga que comprender semánticamente qué es el producto.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5074920"/>
            <a:ext cx="8001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5074920"/>
            <a:ext cx="64008" cy="77724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5212080"/>
            <a:ext cx="7635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Ejemplo del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5623559"/>
            <a:ext cx="76352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Puede recomendar elementos complejos como carne o vino sin “entender” carne o vino.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CONTRASTE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¿Podría resolverse como aprendizaje supervisado?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874519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Sí, conceptualmente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video plantea miles de regresiones logísticas con LASSO: una por producto, usando la elección de otros productos como predictores.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874519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Problema práctico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enfoque puede requerir recursos computacionales masivos cuando existen muchos productos.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10469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9884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 Display"/>
              </a:rPr>
              <a:t>Esto motiva un enfoque no supervisado computacionalmente más factible: el Análisis de Canasta de Compra.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CANASTA DE COMPRA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Buscar reglas de asociación eficientemente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Transacciones o elecciones de productos.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002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Búsqueda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Combinaciones de productos que aparecen conjuntamente con frecuencia.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0020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002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Una compra modifica sustancialmente la probabilidad de otra.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ECFDC"/>
                </a:solidFill>
                <a:latin typeface="Aptos Display"/>
              </a:rPr>
              <a:t>Intuición probabilística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4526280"/>
            <a:ext cx="8183879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4727448"/>
            <a:ext cx="7726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Regla A → B cuando P(B | A) es alta y, crucialmente, mucho mayor que P(B).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Carne → vino: asociación vs. popularidad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82880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Existe asociación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Si comprar carne hace que la probabilidad de comprar vino aumente de forma importante, aparece una regla carne → vino.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82880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No existe asociación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Si el vino se compra mucho independientemente de la carne, P(vino) ya es alta y la carne no hace la diferencia.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10469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Punto conceptual de examen: una alta probabilidad condicional por sí sola no basta; debe compararse con la probabilidad no condicional.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Canasta de compra vs.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9659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Parecido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09159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Ambos buscan estructura y agrupaciones frecuentes sin una respuesta observada que supervise el análisis.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9659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Diferencias del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709159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En canasta, los grupos suelen contener pocos productos y el orden de los ítems importa al calcular probabilidades.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733"/>
                </a:solidFill>
                <a:latin typeface="Aptos Display"/>
              </a:rPr>
              <a:t>No son equivalentes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846320"/>
            <a:ext cx="9098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5047488"/>
            <a:ext cx="8641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733"/>
                </a:solidFill>
                <a:latin typeface="Aptos Display"/>
              </a:rPr>
              <a:t>Clustering agrupa observaciones por similitud; las reglas de asociación estudian coocurrencia y dependencia direccional entre ítems.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FILTRADO POR 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Recomendar a partir de similitud entre elementos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45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459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Productos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Características y descripciones del artículo.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45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459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Opiniones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Comentarios y reseñas de usuarios.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45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459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 Display"/>
              </a:rPr>
              <a:t>Similitud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D7E4EE"/>
                </a:solidFill>
                <a:latin typeface="Aptos"/>
              </a:rPr>
              <a:t>Comparar elementos entre sí para identificar alternativas relacionadas.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51960"/>
            <a:ext cx="941832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4805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Ejemplos del video: similitud entre dos productos, dos canciones o dos restaurantes.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PUENTE HACIA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El contenido escrito debe convertirse en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19" y="3063240"/>
            <a:ext cx="15087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3273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C7C"/>
                </a:solidFill>
                <a:latin typeface="Aptos Display"/>
              </a:rPr>
              <a:t>Descripción / opinión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2103120"/>
            <a:ext cx="164592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66160" y="1874519"/>
            <a:ext cx="457200" cy="45720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42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Procesamiento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39" y="3063240"/>
            <a:ext cx="15087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273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C7C"/>
                </a:solidFill>
                <a:latin typeface="Aptos Display"/>
              </a:rPr>
              <a:t>Representación computable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103120"/>
            <a:ext cx="164592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55079" y="1874519"/>
            <a:ext cx="457200" cy="457200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542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Análisis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9" y="3063240"/>
            <a:ext cx="15087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1" y="3273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C7C"/>
                </a:solidFill>
                <a:latin typeface="Aptos Display"/>
              </a:rPr>
              <a:t>Sintaxis + semántica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7999" y="2103120"/>
            <a:ext cx="164592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3999" y="1874519"/>
            <a:ext cx="457200" cy="457200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2542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Recomendación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79" y="3063240"/>
            <a:ext cx="15087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1" y="3273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C7C"/>
                </a:solidFill>
                <a:latin typeface="Aptos Display"/>
              </a:rPr>
              <a:t>Similitud / temas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63440"/>
            <a:ext cx="10469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663440"/>
            <a:ext cx="64008" cy="100584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800600"/>
            <a:ext cx="10104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Definición del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12079"/>
            <a:ext cx="101041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procesamiento de lenguaje natural explora el análisis sintáctico y semántico del lenguaje natural y brinda herramientas para analizar textos.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EJEMPLO DE 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Recomendar restaurantes a partir de reseñas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60020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Puntaje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Valoración cuantitativa del establecimiento.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60020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Comentarios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Texto escrito por usuarios sobre su experiencia.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60020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Temas subyacentes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reseña puede hablar de aspectos diferentes que no están explícitamente estructurados.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29768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526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C1D6"/>
                </a:solidFill>
                <a:latin typeface="Aptos Display"/>
              </a:rPr>
              <a:t>Familia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29768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4526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F439B"/>
                </a:solidFill>
                <a:latin typeface="Aptos Display"/>
              </a:rPr>
              <a:t>Calidad de comida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29768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5262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D30"/>
                </a:solidFill>
                <a:latin typeface="Aptos Display"/>
              </a:rPr>
              <a:t>Servicio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C2733"/>
                </a:solidFill>
                <a:latin typeface="Aptos Display"/>
              </a:rPr>
              <a:t>El video anticipa que el análisis de texto permitirá extraer información útil de esos temas para sistemas de recomendación.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Colaborativo vs. contenido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Señal principal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71907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Elecciones de usuarios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00200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7190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Características / texto del ítem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Pregunta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13432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43230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¿Qué eligieron personas similares?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313432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4323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¿Qué elementos se parecen?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72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Necesita comprender contenido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026664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14553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No necesariamente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026664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14553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Sí, debe representarlo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856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Ejemplo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739896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8587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Películas vistas / compras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739896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587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Descripciones / reseñas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98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Fortaleza destacada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453128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572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Recomienda sin entender el producto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4453128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572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Aprovecha información del propio elemento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Práctica real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5166360"/>
            <a:ext cx="365760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52852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Aptos Display"/>
              </a:rPr>
              <a:t>Puede combinarse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5166360"/>
            <a:ext cx="3840480" cy="5029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52852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Puede combinarse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RUTA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Cómo plantear un recomendador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16916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733"/>
                </a:solidFill>
                <a:latin typeface="Aptos Display"/>
              </a:rPr>
              <a:t>Definir usuario
y objetivo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304288"/>
            <a:ext cx="123444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63240" y="2057400"/>
            <a:ext cx="502920" cy="50292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1945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80360"/>
            <a:ext cx="16916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1546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733"/>
                </a:solidFill>
                <a:latin typeface="Aptos Display"/>
              </a:rPr>
              <a:t>Identificar
señales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" y="2304288"/>
            <a:ext cx="123444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880360"/>
            <a:ext cx="16916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1546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733"/>
                </a:solidFill>
                <a:latin typeface="Aptos Display"/>
              </a:rPr>
              <a:t>Elegir enfoque
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60" y="2304288"/>
            <a:ext cx="123444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43800" y="2057400"/>
            <a:ext cx="502920" cy="502920"/>
          </a:xfrm>
          <a:prstGeom prst="ellipse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1945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880360"/>
            <a:ext cx="16916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1546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733"/>
                </a:solidFill>
                <a:latin typeface="Aptos Display"/>
              </a:rPr>
              <a:t>Generar
candidatos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92440" y="2304288"/>
            <a:ext cx="1234440" cy="0"/>
          </a:xfrm>
          <a:prstGeom prst="line">
            <a:avLst/>
          </a:prstGeom>
          <a:ln w="254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84080" y="2057400"/>
            <a:ext cx="502920" cy="502920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880360"/>
            <a:ext cx="169164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1546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733"/>
                </a:solidFill>
                <a:latin typeface="Aptos Display"/>
              </a:rPr>
              <a:t>Interpretar y
combinar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709160"/>
            <a:ext cx="64008" cy="9601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84632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Colaborativo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257800"/>
            <a:ext cx="4709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información central está en patrones de comportamiento.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091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709160"/>
            <a:ext cx="64008" cy="9601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46320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Contenido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257800"/>
            <a:ext cx="4709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La información central está en características, descripciones y opiniones.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Qué no debes confundir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50876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Popularidad ≠ asociación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Que B sea frecuente no implica que A → B sea una regla útil.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737360"/>
            <a:ext cx="64008" cy="15087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Colaborativo ≠ contenido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7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Uno explota comportamiento; el otro similitud de elementos.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7373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737360"/>
            <a:ext cx="64008" cy="150876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Canasta ≠ clustering idéntico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86000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El video marca diferencias en tamaño de grupos y orden de ítems.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64008" cy="150876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Alta P(B|A) no basta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Hay que contrastarla con P(B).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3703320"/>
            <a:ext cx="64008" cy="15087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7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Texto ≠ dato directo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Debe transformarse a información que la computadora pueda procesar.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703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3703320"/>
            <a:ext cx="64008" cy="150876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Aptos Display"/>
              </a:rPr>
              <a:t>Dos enfoques ≠ excluyentes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251959"/>
            <a:ext cx="30175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5B6C7C"/>
                </a:solidFill>
                <a:latin typeface="Aptos"/>
              </a:rPr>
              <a:t>En la práctica pueden combinarse para mejorar precisión.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PREPÁRATE PARA EL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10 preguntas del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642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65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627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Dos familias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27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Colaborativo y basado en contenido.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6642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465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1627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Colaborativo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27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Usa elecciones propias y de personas similares.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5786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2542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Ejemplo Netflix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542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Recomendar una película según historial y usuarios similares.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5786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609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2542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Alternativa supervisada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542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Miles de regresiones logísticas con LASSO.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4930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753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Problema de esa alternativa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Recursos computacionales masivos.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34930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5753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Canasta de compra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Busca reglas de asociación eficientemente.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4074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897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4370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Regla A →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370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P(B|A) alta y mucho mayor que P(B).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4074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4897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370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Ventaja colaborativo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370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No necesita comprender el contenido del producto.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" y="5321808"/>
            <a:ext cx="320040" cy="32004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041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" y="5285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Contenido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5285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Se basa en similitudes entre elementos.</a:t>
            </a:r>
          </a:p>
        </p:txBody>
      </p:sp>
      <p:sp>
        <p:nvSpPr>
          <p:cNvPr id="42" name="Oval 41"/>
          <p:cNvSpPr/>
          <p:nvPr/>
        </p:nvSpPr>
        <p:spPr>
          <a:xfrm>
            <a:off x="6309360" y="5321808"/>
            <a:ext cx="320040" cy="32004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404104"/>
            <a:ext cx="320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5285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C2733"/>
                </a:solidFill>
                <a:latin typeface="Aptos Display"/>
              </a:rPr>
              <a:t>NLP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285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5B6C7C"/>
                </a:solidFill>
                <a:latin typeface="Aptos"/>
              </a:rPr>
              <a:t>Permite analizar texto sintáctica y semánticamente.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MINI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Razona como diseñador de recomendadores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6537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C2733"/>
                </a:solidFill>
                <a:latin typeface="Aptos Display"/>
              </a:rPr>
              <a:t>Usuarios que compran pasta suelen comprar salsa mucho más que el promedio.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39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15C1D6"/>
                </a:solidFill>
                <a:latin typeface="Aptos Display"/>
              </a:rPr>
              <a:t>Asociación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73736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C7C"/>
                </a:solidFill>
                <a:latin typeface="Aptos"/>
              </a:rPr>
              <a:t>Evaluar una regla pasta → salsa.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8269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C2733"/>
                </a:solidFill>
                <a:latin typeface="Aptos Display"/>
              </a:rPr>
              <a:t>Quieres recomendar canciones usando historial de usuarios parecidos.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08960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6F439B"/>
                </a:solidFill>
                <a:latin typeface="Aptos Display"/>
              </a:rPr>
              <a:t>Colaborativo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15468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C7C"/>
                </a:solidFill>
                <a:latin typeface="Aptos"/>
              </a:rPr>
              <a:t>La señal principal es comportamiento de usuarios.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001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72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C2733"/>
                </a:solidFill>
                <a:latin typeface="Aptos Display"/>
              </a:rPr>
              <a:t>Quieres recomendar restaurantes por reseñas sobre servicio y comida.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526280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663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F2BD30"/>
                </a:solidFill>
                <a:latin typeface="Aptos Display"/>
              </a:rPr>
              <a:t>Contenido +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720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C7C"/>
                </a:solidFill>
                <a:latin typeface="Aptos"/>
              </a:rPr>
              <a:t>La señal está en texto y características del elemento.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733"/>
                </a:solidFill>
                <a:latin typeface="Aptos Display"/>
              </a:rPr>
              <a:t>Pregunta guía: ¿la información útil está en las relaciones entre usuarios y elecciones, o en el contenido de los propios ítems?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Semana 5 en 5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C1D6"/>
                </a:solidFill>
                <a:latin typeface="Aptos Display"/>
              </a:rPr>
              <a:t>RECOMENDADOR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Predice qué elemento sugerir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F439B"/>
                </a:solidFill>
                <a:latin typeface="Aptos Display"/>
              </a:rPr>
              <a:t>COLABORATIVO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Historial + usuarios similares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105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2BD30"/>
                </a:solidFill>
                <a:latin typeface="Aptos Display"/>
              </a:rPr>
              <a:t>CANASTA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128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Coocurrencia eficiente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88530"/>
                </a:solidFill>
                <a:latin typeface="Aptos Display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P(B|A) &gt;&gt; P(B)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9669"/>
                </a:solidFill>
                <a:latin typeface="Aptos Display"/>
              </a:rPr>
              <a:t>VENTAJA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No necesita entender producto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06324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2278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C1D6"/>
                </a:solidFill>
                <a:latin typeface="Aptos Display"/>
              </a:rPr>
              <a:t>CONTENIDO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63016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Similitud entre ítems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F439B"/>
                </a:solidFill>
                <a:latin typeface="Aptos Display"/>
              </a:rPr>
              <a:t>FUENTES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Descripciones + opiniones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2BD30"/>
                </a:solidFill>
                <a:latin typeface="Aptos Display"/>
              </a:rPr>
              <a:t>NLP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Analizar lenguaje natural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480560"/>
            <a:ext cx="342900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64515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A4848"/>
                </a:solidFill>
                <a:latin typeface="Aptos Display"/>
              </a:rPr>
              <a:t>PRÁCTICA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04748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Aptos Display"/>
              </a:rPr>
              <a:t>Combinar enfoques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89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Idea esencial: recomendar = explotar patrones de comportamiento, similitud de contenido o ambos.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CHECKLIST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733"/>
                </a:solidFill>
                <a:latin typeface="Aptos Display"/>
              </a:rPr>
              <a:t>¿Entendí el video de Semana 5?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642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Puedo definir qué es un sistema de recomendación.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>
                <a:solidFill>
                  <a:srgbClr val="1C2733"/>
                </a:solidFill>
                <a:latin typeface="Aptos Display"/>
              </a:rPr>
              <a:t>Diferencio filtrado colaborativo y basado en contenido.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04872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7744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Puedo explicar el ejemplo de Netflix.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404872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78024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37744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Entiendo por qué el enfoque supervisado propuesto sería costoso.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118103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6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9067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Puedo definir Análisis de Canasta de Compra.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118103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91256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9067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>
                <a:solidFill>
                  <a:srgbClr val="1C2733"/>
                </a:solidFill>
                <a:latin typeface="Aptos Display"/>
              </a:rPr>
              <a:t>Entiendo qué es una regla de asociación.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831336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04488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8039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>
                <a:solidFill>
                  <a:srgbClr val="1C2733"/>
                </a:solidFill>
                <a:latin typeface="Aptos Display"/>
              </a:rPr>
              <a:t>Puedo explicar por qué P(B|A) debe compararse con P(B).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831336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04488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8039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Entiendo el ejemplo carne → vino.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544568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17720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51713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>
                <a:solidFill>
                  <a:srgbClr val="1C2733"/>
                </a:solidFill>
                <a:latin typeface="Aptos Display"/>
              </a:rPr>
              <a:t>Puedo relacionar canasta de compra con clustering sin confundirlos.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17720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51713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Puedo explicar la ventaja del filtrado colaborativo.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25780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3095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23036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>
                <a:solidFill>
                  <a:srgbClr val="1C2733"/>
                </a:solidFill>
                <a:latin typeface="Aptos Display"/>
              </a:rPr>
              <a:t>Sé por qué el filtrado por contenido conduce al análisis de texto.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5257800"/>
            <a:ext cx="292608" cy="292608"/>
          </a:xfrm>
          <a:prstGeom prst="ellipse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30952"/>
            <a:ext cx="292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23036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1C2733"/>
                </a:solidFill>
                <a:latin typeface="Aptos"/>
              </a:rPr>
              <a:t>Puedo explicar el papel del NLP en las próximas semanas.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6053328"/>
            <a:ext cx="10378440" cy="43891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153912"/>
            <a:ext cx="10149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F439B"/>
                </a:solidFill>
                <a:latin typeface="Aptos Display"/>
              </a:rPr>
              <a:t>Fuente principal: transcripción del video de Semana 5 cargada por el estudiante.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