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C1D6"/>
                </a:solidFill>
                <a:latin typeface="Aptos Display"/>
              </a:rPr>
              <a:t>MIID 4303 · 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 Display"/>
              </a:rPr>
              <a:t>Sistemas de Recomendación
Filtrado colaborativo, SVD y pruebas A/B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5E2ED"/>
                </a:solidFill>
                <a:latin typeface="Aptos"/>
              </a:rPr>
              <a:t>Cómo convertir consumo, ratings y similitudes en predicciones; y cómo validar si una recomendación realmente funciona.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663440"/>
            <a:ext cx="1874519" cy="658368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6460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2BD30"/>
                </a:solidFill>
                <a:latin typeface="Aptos Display"/>
              </a:rPr>
              <a:t>POPULARIDAD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4663440"/>
            <a:ext cx="1874519" cy="658368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486460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5C1D6"/>
                </a:solidFill>
                <a:latin typeface="Aptos Display"/>
              </a:rPr>
              <a:t>COSENO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4663440"/>
            <a:ext cx="1874519" cy="658368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486460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F439B"/>
                </a:solidFill>
                <a:latin typeface="Aptos Display"/>
              </a:rPr>
              <a:t>FACTORES LATENTES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4663440"/>
            <a:ext cx="1874519" cy="658368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486460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E88530"/>
                </a:solidFill>
                <a:latin typeface="Aptos Display"/>
              </a:rPr>
              <a:t>ASOCIACIÓN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4663440"/>
            <a:ext cx="1874519" cy="658368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486460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B9669"/>
                </a:solidFill>
                <a:latin typeface="Aptos Display"/>
              </a:rPr>
              <a:t>A/B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BD30"/>
                </a:solidFill>
                <a:latin typeface="Aptos Display"/>
              </a:rPr>
              <a:t>Guía de estudio visual · basada en la sesión sincrónica de Semana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Cinco enfoques que aparecen en la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1 · Popularidad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Recomendar lo más visto o lo mejor calificado.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2 · Similitud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Buscar usuarios parecidos mediante coseno.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3 · Factores latentes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Factorizar la matriz y descubrir dimensiones ocultas.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4 · Asociación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Usar consumos conjuntos de una canasta.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5 · Experimentación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Comparar alternativas con pruebas A/B.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86400"/>
            <a:ext cx="10469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650992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La clase insiste en que no existe un algoritmo perfecto: se comparan pros, contras, costo y desempeño real.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Por qué recomendar importa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Preferencias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recomendación intenta reconstruir preferencias no observables de los individuos.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Ventas y consumo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El docente destaca que una parte relevante del consumo de grandes plataformas proviene de recomendaciones.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Decisión empresarial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El problema práctico es qué sugerir para aumentar compra, consumo o tiempo de uso.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86400"/>
            <a:ext cx="10469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50992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La recomendación es una decisión de negocio, no solamente un ejercicio algorítmico.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La matriz usuario–ítem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Filas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Usuarios.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Columnas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Películas, productos u otros ítems.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Celdas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Rating, conteo, click, vista o ausencia de información.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Escala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En plataformas grandes, estas matrices son enormes.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Poca densidad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mayoría de combinaciones usuario–ítem están vacías.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Clave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El tratamiento de los vacíos cambia el resultado.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El problema más importante: ¿qué significa un 0?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No le gustó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El usuario consumió y asignó una valoración muy baja.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No lo vio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No existe evidencia de preferencia.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Aún no lo vio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Puede ser precisamente lo que queremos predecir.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Codificación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0, −1, −9 o missing no son decisiones inocentes.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Coseno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Puede tratar 0 como un valor real y alterar similitudes.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SVD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codificación puede cambiar el rango y la reconstrucción.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650992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Idea de máxima importancia para el taller: antes del algoritmo, define semánticamente qué representa cada valor.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Popularidad simple y ponderada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Popularidad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Cuenta cuántas personas consumieron el ítem.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Rating medio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Puede recomendar por valoración promedio entre quienes calificaron.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Dispersión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media sola puede ocultar desacuerdo; la clase propone mirar dispersión.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Dilema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Alien: mucha audiencia, rating bajo. Titanic: menos audiencia, rating alto.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No hay respuesta obvia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elección depende del objetivo y de cómo se evalúe.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Estadísticos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Media = primer momento; dispersión = segundo momento.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El bucle de retroalimentación de la popularidad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Recomiendo lo más visto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Los ítems populares aparecen más.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Se ven todavía más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exposición aumenta su consumo.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Catálogo oculto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Otros ítems pierden oportunidad de ser descubiertos.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86400"/>
            <a:ext cx="10469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50992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La popularidad funciona y es barata, pero puede reforzarse a sí misma y reducir diversidad.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FILTRADO COLABORATIVO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Similitud coseno: pensar usuarios como vectores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37560" cy="14630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6304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 Display"/>
              </a:rPr>
              <a:t>Vector de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D7E4EE"/>
                </a:solidFill>
                <a:latin typeface="Aptos"/>
              </a:rPr>
              <a:t>Cada fila de ratings se interpreta como un vector en un espacio de ítems.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337560" cy="14630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37360"/>
            <a:ext cx="64008" cy="146304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74519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 Display"/>
              </a:rPr>
              <a:t>Ángulo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67712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D7E4EE"/>
                </a:solidFill>
                <a:latin typeface="Aptos"/>
              </a:rPr>
              <a:t>Vectores con direcciones parecidas representan patrones de consumo parecidos.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37360"/>
            <a:ext cx="3337560" cy="14630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737360"/>
            <a:ext cx="64008" cy="146304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 Display"/>
              </a:rPr>
              <a:t>Recomendación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67712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D7E4EE"/>
                </a:solidFill>
                <a:latin typeface="Aptos"/>
              </a:rPr>
              <a:t>Usar ratings de vecinos similares para estimar preferencias faltantes.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931920"/>
            <a:ext cx="8503920" cy="105156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4187952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cos(A,B) = (A · B) / (||A|| ||B||)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BD30"/>
                </a:solidFill>
                <a:latin typeface="Aptos Display"/>
              </a:rPr>
              <a:t>cos = 1 → misma dirección · cos = 0 → ortogonales · cos = −1 → direcciones opuestas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La geometría detrás de la similitud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Misma dirección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Multiplicar un vector por una constante no cambia su dirección.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Ejemplo de clase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[1,1,1,0,0], [3,3,3,0,0], [5,5,5,0,0] tienen coseno 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Consecuencia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El algoritmo puede declarar usuarios idénticamente similares aunque difieran en intensidad de gusto.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86400"/>
            <a:ext cx="10469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50992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La similitud coseno privilegia patrón/dirección y no magnitud.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Cuando “misma dirección” no significa mismo gusto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Juan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Puede puntuar las mismas películas con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Puede puntuar esas mismas películas con 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Coseno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Los trata como perfectamente similares.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Lección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métrica captura una noción específica de similitud; no toda la información relevante.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Juicio analítico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Hay que conocer las fallas del algoritmo antes de confiar en sus recomendaciones.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No existe perfección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clase propone comparar varias estrategias.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Ponderar ratings por similitud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Vecinos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Encuentra usuarios cercanos al usuario objetivo.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Peso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Usuarios más similares pesan más en la predicción.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valoración del vecino aporta dirección sobre cuánto recomendar.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86400"/>
            <a:ext cx="10469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50992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Esto reincorpora parte de la información de intensidad que el coseno, por sí solo, puede ignorar.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Matriz poco densa y ausencia de vecinos útiles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Un usuario puede habitar un espacio de consumo sin solapamiento con otros.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Ejemplo Inés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Solo consume películas románticas; no comparte información con quienes califican ciencia ficción.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Resultado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similitud puede no tener nada útil que decir sobre ciertos ítems.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Escala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En catálogos enormes, esta situación es muy probable.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Motivación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Necesitamos otra representación que aproveche estructura global.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Paso siguiente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Embeddings y factores latentes.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Usuarios e ítems en un espacio latente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2733"/>
                </a:solidFill>
                <a:latin typeface="Aptos Display"/>
              </a:rPr>
              <a:t>Objetivo: transformar la matriz observada en coordenadas donde usuarios e ítems “vivan” en el mismo espacio conceptual.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4800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560320"/>
            <a:ext cx="64008" cy="105156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97479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Niños ↔ adultos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090672"/>
            <a:ext cx="4434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dimensión latente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60320"/>
            <a:ext cx="4800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560320"/>
            <a:ext cx="64008" cy="105156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697479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Culto ↔ taquilla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3090672"/>
            <a:ext cx="4434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dimensión latente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77639"/>
            <a:ext cx="4800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977639"/>
            <a:ext cx="64008" cy="105156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1480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Usuario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507992"/>
            <a:ext cx="4434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coordenadas de preferencia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77639"/>
            <a:ext cx="4800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977639"/>
            <a:ext cx="64008" cy="105156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411480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Película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507992"/>
            <a:ext cx="4434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coordenadas de atributos implícitos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F439B"/>
                </a:solidFill>
                <a:latin typeface="Aptos Display"/>
              </a:rPr>
              <a:t>Estas dimensiones no se etiquetan manualmente: emergen del patrón de consumo.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FACTORIZACIÓN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A ≈ P Q mediante SVD truncada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12344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5C1D6"/>
                </a:solidFill>
                <a:latin typeface="Aptos Display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usuario × ítem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2926080" cy="12344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212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F439B"/>
                </a:solidFill>
                <a:latin typeface="Aptos Display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700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usuario × factores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2926080" cy="12344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212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BD30"/>
                </a:solidFill>
                <a:latin typeface="Aptos Display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6700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factores × ítem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4892040" cy="11887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886200"/>
            <a:ext cx="64008" cy="11887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023360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 Display"/>
              </a:rPr>
              <a:t>SVD truncada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416552"/>
            <a:ext cx="4526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D7E4EE"/>
                </a:solidFill>
                <a:latin typeface="Aptos"/>
              </a:rPr>
              <a:t>Entre matrices de rango K, la clase retoma que la SVD truncada ofrece la mejor aproximación bajo el criterio estudiado.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886200"/>
            <a:ext cx="4892040" cy="118872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886200"/>
            <a:ext cx="64008" cy="11887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023360"/>
            <a:ext cx="4526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 Display"/>
              </a:rPr>
              <a:t>Construcción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416552"/>
            <a:ext cx="4526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D7E4EE"/>
                </a:solidFill>
                <a:latin typeface="Aptos"/>
              </a:rPr>
              <a:t>Se reparten los valores singulares entre P y Q para reconstruir la aproximación de 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Qué descubren los factores latentes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Sin etiquetas previas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No hace falta decirle al modelo qué película es infantil, adulta, de culto o taquillera.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Patrones emergentes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factorización puede organizar usuarios e ítems según patrones de consumo.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Interpretación opcional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En la práctica puede haber muchos factores y no siempre se interpretan.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Peso informativo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Los valores singulares reflejan cuánto aporta cada factor.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Conexión PCA/SVD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Las direcciones principales reaparecen aquí como conceptos o factores latentes.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Clustering implícito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Mapear al espacio latente también agrupa usuarios e ítems.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El rango mide información genuina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Dependencia lineal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Usuarios que son reescalamientos de otros no aportan nuevas direcciones.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Rango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En el ejemplo simple, dos dimensiones bastan para representar toda la información.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Valores singulares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Solo tantos valores singulares no nulos como rango efectivo.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Compresión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Si K alcanza el rango, la reconstrucción puede ser exacta.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Menor 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Si K es menor, aparece error de reconstrucción.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Uso del 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Ese error se convierte en una fuente de predicción.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Reducir dimensión genera predicciones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Reconstrucción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SVD de menor rango aproxima los ratings observados.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Suavizado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Valores atípicos respecto al patrón latente pueden acercarse al patrón dominante.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Celdas vacías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reconstrucción asigna valores donde antes había 0/vacío.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Recomendación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Esos valores reconstruidos pueden ordenarse como candidatos.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Ejemplo Inés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A diferencia del coseno, la factorización puede producir señales para ítems no vistos.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Advertencia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semántica del 0 sigue siendo decisiva.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Canasta de compra: soporte, confianza y lift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Soporte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¿Qué tan frecuente aparecen X e Y juntos?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Confianza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Entre transacciones con X, ¿qué fracción también contiene 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¿La coocurrencia supera lo esperado bajo independencia?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Lift =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asociación observada es compatible con independencia.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Lift &gt;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presencia de X se asocia positivamente con 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Uso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Promociones, disposición de productos y recomendaciones.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650992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La clase usa el ejemplo clásico carne → vino y transacciones de supermercado.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Offline: train/test y error de predicción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Dividir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Entrenamiento y prueba, como en aprendizaje supervisado.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Métricas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RMSE o MAE sobre ratings conocidos.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Limitación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Solo evalúa aciertos sobre elementos que ya fueron consumidos/calificados.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86400"/>
            <a:ext cx="10469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50992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El objetivo real suele ser recomendar lo desconocido; por eso la evaluación offline no resuelve todo.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Online: pruebas A/B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Aleatorizar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Dividir usuarios en grupos comparables.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Tratamiento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Mostrar una estrategia de recomendación.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Tratamiento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Mostrar otra estrategia, orden o diseño.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Medir conducta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Clicks, consumo, engagement, compra o ingreso.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Aprender causalmente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Comparar resultados para saber qué alternativa funciona mejor.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Iterar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Las plataformas prueban continuamente distintas formas de mostrar recomendaciones.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650992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Idea central de cierre: si no sabemos a priori cuál algoritmo funciona, lo probamos con usuarios reales.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Precisión vs. costo de implementación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Más complejo ≠ mejor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Una mejora algorítmica puede no justificar su costo computacional.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Netflix Prize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La clase usa el caso como ejemplo del trade-off entre mejora y costo de implementación.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Navaja de Occam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Preferir la solución más sencilla que sea suficientemente buena.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Popularidad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Puede seguir siendo competitiva por costo, robustez y facilidad.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Factores latentes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Pueden mejorar personalización, pero exigen más infraestructura.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64008" cy="1417320"/>
          </a:xfrm>
          <a:prstGeom prst="rect">
            <a:avLst/>
          </a:prstGeom>
          <a:solidFill>
            <a:srgbClr val="E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Decisión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Optimizar valor de negocio, no sofisticación matemática.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SÍNTESIS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Mapa de los cinco enfoques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C1D6"/>
                </a:solidFill>
                <a:latin typeface="Aptos Display"/>
              </a:rPr>
              <a:t>MÉTODO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572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C1D6"/>
                </a:solidFill>
                <a:latin typeface="Aptos Display"/>
              </a:rPr>
              <a:t>SEÑAL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572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C1D6"/>
                </a:solidFill>
                <a:latin typeface="Aptos Display"/>
              </a:rPr>
              <a:t>COSTO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C1D6"/>
                </a:solidFill>
                <a:latin typeface="Aptos Display"/>
              </a:rPr>
              <a:t>FORTALEZA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C1D6"/>
                </a:solidFill>
                <a:latin typeface="Aptos Display"/>
              </a:rPr>
              <a:t>RIESGO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11680"/>
            <a:ext cx="17373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157984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2BD30"/>
                </a:solidFill>
                <a:latin typeface="Aptos Display"/>
              </a:rPr>
              <a:t>Popularidad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011680"/>
            <a:ext cx="21945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2157984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Frecuencia / rating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011680"/>
            <a:ext cx="12801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2157984"/>
            <a:ext cx="1133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Muy bajo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11680"/>
            <a:ext cx="214884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157984"/>
            <a:ext cx="2002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Simple, robusto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011680"/>
            <a:ext cx="251460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157984"/>
            <a:ext cx="2368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Bucle de popularidad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761488"/>
            <a:ext cx="17373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2907792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2BD30"/>
                </a:solidFill>
                <a:latin typeface="Aptos Display"/>
              </a:rPr>
              <a:t>Coseno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2761488"/>
            <a:ext cx="21945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2907792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Usuarios similares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2761488"/>
            <a:ext cx="12801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2907792"/>
            <a:ext cx="1133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Bajo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761488"/>
            <a:ext cx="214884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2907792"/>
            <a:ext cx="2002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Intuitivo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2761488"/>
            <a:ext cx="251460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5672" y="2907792"/>
            <a:ext cx="2368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Sparse + escala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511296"/>
            <a:ext cx="17373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657600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2BD30"/>
                </a:solidFill>
                <a:latin typeface="Aptos Display"/>
              </a:rPr>
              <a:t>SVD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3511296"/>
            <a:ext cx="21945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33472" y="3657600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Factores latentes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92040" y="3511296"/>
            <a:ext cx="12801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65192" y="3657600"/>
            <a:ext cx="1133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Medio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3511296"/>
            <a:ext cx="214884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3657600"/>
            <a:ext cx="2002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Predice vacíos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3511296"/>
            <a:ext cx="251460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05672" y="3657600"/>
            <a:ext cx="2368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Codificación + costo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261104"/>
            <a:ext cx="17373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4407408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2BD30"/>
                </a:solidFill>
                <a:latin typeface="Aptos Display"/>
              </a:rPr>
              <a:t>Asociación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60320" y="4261104"/>
            <a:ext cx="21945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33472" y="4407408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Coocurrencia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92040" y="4261104"/>
            <a:ext cx="12801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65192" y="4407408"/>
            <a:ext cx="1133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Medio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4261104"/>
            <a:ext cx="214884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28232" y="4407408"/>
            <a:ext cx="2002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Reglas accionables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32520" y="4261104"/>
            <a:ext cx="251460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05672" y="4407408"/>
            <a:ext cx="2368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Depende de frecuencia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5010912"/>
            <a:ext cx="17373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2" y="5157216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2BD30"/>
                </a:solidFill>
                <a:latin typeface="Aptos Display"/>
              </a:rPr>
              <a:t>A/B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60320" y="5010912"/>
            <a:ext cx="21945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33472" y="5157216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Conducta real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92040" y="5010912"/>
            <a:ext cx="128016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5192" y="5157216"/>
            <a:ext cx="1133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Alto operativo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55080" y="5010912"/>
            <a:ext cx="214884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28232" y="5157216"/>
            <a:ext cx="2002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Valida desempeño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32520" y="5010912"/>
            <a:ext cx="2514600" cy="548640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05672" y="5157216"/>
            <a:ext cx="2368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Requiere experimentación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Errores conceptuales frecuentes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0 = no me gusta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No necesariamente: puede ser missing o no visto.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CA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Coseno = gusto idéntico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No: puede ignorar magnitud del rating.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Más popular = mejor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No: popularidad y valoración son señales distintas.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SVD “adivina”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No: reconstruye patrones de baja dimensión.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Factor = etiqueta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No siempre; la interpretación puede ser incierta.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64008" cy="1417320"/>
          </a:xfrm>
          <a:prstGeom prst="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Offline = verdad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096511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No: la conducta real requiere validación online.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12 preguntas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1C2733"/>
                </a:solidFill>
                <a:latin typeface="Aptos Display"/>
              </a:rPr>
              <a:t>1. ¿Qué representa una matriz usuario–ítem?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521208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465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1C2733"/>
                </a:solidFill>
                <a:latin typeface="Aptos Display"/>
              </a:rPr>
              <a:t>2. ¿Por qué suele ser poco densa?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59152"/>
            <a:ext cx="521208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1C2733"/>
                </a:solidFill>
                <a:latin typeface="Aptos Display"/>
              </a:rPr>
              <a:t>3. ¿Qué tres interpretaciones puede tener un 0?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359152"/>
            <a:ext cx="521208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50545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1C2733"/>
                </a:solidFill>
                <a:latin typeface="Aptos Display"/>
              </a:rPr>
              <a:t>4. ¿Qué diferencia popularidad y rating medio?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18104"/>
            <a:ext cx="521208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6440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1C2733"/>
                </a:solidFill>
                <a:latin typeface="Aptos Display"/>
              </a:rPr>
              <a:t>5. ¿Por qué la popularidad puede autorreforzarse?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118104"/>
            <a:ext cx="521208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26440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1C2733"/>
                </a:solidFill>
                <a:latin typeface="Aptos Display"/>
              </a:rPr>
              <a:t>6. ¿Qué mide la similitud coseno?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77056"/>
            <a:ext cx="521208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233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1C2733"/>
                </a:solidFill>
                <a:latin typeface="Aptos Display"/>
              </a:rPr>
              <a:t>7. ¿Por qué Juan=1 y Ana=5 pueden tener coseno 1?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877056"/>
            <a:ext cx="521208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233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1C2733"/>
                </a:solidFill>
                <a:latin typeface="Aptos Display"/>
              </a:rPr>
              <a:t>8. ¿Qué problema aparece sin vecinos solapados?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36008"/>
            <a:ext cx="521208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823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1C2733"/>
                </a:solidFill>
                <a:latin typeface="Aptos Display"/>
              </a:rPr>
              <a:t>9. ¿Qué es un embedding?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636008"/>
            <a:ext cx="521208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7823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1C2733"/>
                </a:solidFill>
                <a:latin typeface="Aptos Display"/>
              </a:rPr>
              <a:t>10. ¿Cómo conecta SVD con factores latentes?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94959"/>
            <a:ext cx="521208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54126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1C2733"/>
                </a:solidFill>
                <a:latin typeface="Aptos Display"/>
              </a:rPr>
              <a:t>11. ¿Qué miden soporte, confianza y lift?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394959"/>
            <a:ext cx="521208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54126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1C2733"/>
                </a:solidFill>
                <a:latin typeface="Aptos Display"/>
              </a:rPr>
              <a:t>12. ¿Por qué las pruebas A/B son centrales?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SEMANA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Mini taller aplicado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Caso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Un ítem tiene muchas vistas pero rating bajo. Define si recomendarías por frecuencia, rating o una combinación y justifica.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64008" cy="1417320"/>
          </a:xfrm>
          <a:prstGeom prst="rect">
            <a:avLst/>
          </a:prstGeom>
          <a:solidFill>
            <a:srgbClr val="6F4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Un usuario solo consume romance y no solapa con usuarios de ciencia ficción. Explica por qué coseno falla y cómo SVD puede ayudar.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37360"/>
            <a:ext cx="64008" cy="1417320"/>
          </a:xfrm>
          <a:prstGeom prst="rect">
            <a:avLst/>
          </a:prstGeom>
          <a:solidFill>
            <a:srgbClr val="F2B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Aptos Display"/>
              </a:rPr>
              <a:t>Caso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5B6C7C"/>
                </a:solidFill>
                <a:latin typeface="Aptos"/>
              </a:rPr>
              <a:t>Compara dos motores: popularidad y factores latentes. Diseña una prueba A/B e indica qué resultado de negocio medirías.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86400"/>
            <a:ext cx="104698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50992"/>
            <a:ext cx="10104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2733"/>
                </a:solidFill>
                <a:latin typeface="Aptos Display"/>
              </a:rPr>
              <a:t>Objetivo: no memorizar algoritmos; justificar la elección de una estrategia según datos, costo y evaluación.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9CADA"/>
                </a:solidFill>
                <a:latin typeface="Aptos Display"/>
              </a:rP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Cheat sheet de Semana 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CADA"/>
                </a:solidFill>
                <a:latin typeface="Aptos Display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514600" cy="987552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83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5C1D6"/>
                </a:solidFill>
                <a:latin typeface="Aptos Display"/>
              </a:rPr>
              <a:t>MATRIZ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30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 Display"/>
              </a:rPr>
              <a:t>usuarios × ítems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514600" cy="987552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783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A4848"/>
                </a:solidFill>
                <a:latin typeface="Aptos Display"/>
              </a:rPr>
              <a:t>SPARSE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130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 Display"/>
              </a:rPr>
              <a:t>muchos vacíos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600200"/>
            <a:ext cx="2514600" cy="987552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2BD30"/>
                </a:solidFill>
                <a:latin typeface="Aptos Display"/>
              </a:rPr>
              <a:t>POPULARIDAD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30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 Display"/>
              </a:rPr>
              <a:t>frecuencia / rating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7424" y="1600200"/>
            <a:ext cx="2514600" cy="987552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2" y="1783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5C1D6"/>
                </a:solidFill>
                <a:latin typeface="Aptos Display"/>
              </a:rPr>
              <a:t>COSENO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21305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 Display"/>
              </a:rPr>
              <a:t>ángulo entre vectores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17520"/>
            <a:ext cx="2514600" cy="987552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2004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F439B"/>
                </a:solidFill>
                <a:latin typeface="Aptos Display"/>
              </a:rPr>
              <a:t>EMBEDDING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5478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 Display"/>
              </a:rPr>
              <a:t>espacio latente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017520"/>
            <a:ext cx="2514600" cy="987552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4448" y="32004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B9669"/>
                </a:solidFill>
                <a:latin typeface="Aptos Display"/>
              </a:rPr>
              <a:t>SVD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35478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 Display"/>
              </a:rPr>
              <a:t>A ≈ P 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017520"/>
            <a:ext cx="2514600" cy="987552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004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E88530"/>
                </a:solidFill>
                <a:latin typeface="Aptos Display"/>
              </a:rPr>
              <a:t>RANGO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5478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 Display"/>
              </a:rPr>
              <a:t>información efectiva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7424" y="3017520"/>
            <a:ext cx="2514600" cy="987552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32004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2BD30"/>
                </a:solidFill>
                <a:latin typeface="Aptos Display"/>
              </a:rPr>
              <a:t>ASOCIACIÓN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35478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 Display"/>
              </a:rPr>
              <a:t>support · confidence · lift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434840"/>
            <a:ext cx="2514600" cy="987552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617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5C1D6"/>
                </a:solidFill>
                <a:latin typeface="Aptos Display"/>
              </a:rPr>
              <a:t>OFFLINE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965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 Display"/>
              </a:rPr>
              <a:t>RMSE / MAE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4434840"/>
            <a:ext cx="2514600" cy="987552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84448" y="4617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B9669"/>
                </a:solidFill>
                <a:latin typeface="Aptos Display"/>
              </a:rPr>
              <a:t>ONLINE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4448" y="4965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 Display"/>
              </a:rPr>
              <a:t>A/B testing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4434840"/>
            <a:ext cx="2514600" cy="987552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617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E88530"/>
                </a:solidFill>
                <a:latin typeface="Aptos Display"/>
              </a:rPr>
              <a:t>NEGOCIO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965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 Display"/>
              </a:rPr>
              <a:t>beneficio − costo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07424" y="4434840"/>
            <a:ext cx="2514600" cy="987552"/>
          </a:xfrm>
          <a:prstGeom prst="roundRect">
            <a:avLst/>
          </a:prstGeom>
          <a:solidFill>
            <a:srgbClr val="0E3254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17152" y="46177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A4848"/>
                </a:solidFill>
                <a:latin typeface="Aptos Display"/>
              </a:rPr>
              <a:t>CLAVE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49651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9" b="1">
                <a:solidFill>
                  <a:srgbClr val="FFFFFF"/>
                </a:solidFill>
                <a:latin typeface="Aptos Display"/>
              </a:rPr>
              <a:t>no hay algoritmo perfecto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7C"/>
                </a:solidFill>
                <a:latin typeface="Aptos"/>
              </a:rPr>
              <a:t>MIID 4303 · Semana 5 · Sistemas de Recomendación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6C7C"/>
                </a:solidFill>
                <a:latin typeface="Aptos Display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2733"/>
                </a:solidFill>
                <a:latin typeface="Aptos Display"/>
              </a:rPr>
              <a:t>Checklist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44168"/>
            <a:ext cx="10881360" cy="36576"/>
          </a:xfrm>
          <a:prstGeom prst="rect">
            <a:avLst/>
          </a:prstGeom>
          <a:solidFill>
            <a:srgbClr val="15C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6C7C"/>
                </a:solidFill>
                <a:latin typeface="Aptos Display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8191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Aptos"/>
              </a:rPr>
              <a:t>Distingo popularidad simple y ponderada.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600200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664208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58191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733"/>
                </a:solidFill>
                <a:latin typeface="Aptos Display"/>
              </a:rPr>
              <a:t>Puedo explicar por qué un 0 es una decisión de modelado.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21992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03704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733"/>
                </a:solidFill>
                <a:latin typeface="Aptos Display"/>
              </a:rPr>
              <a:t>Entiendo la geometría de la similitud coseno.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221992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286000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203704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Aptos"/>
              </a:rPr>
              <a:t>Identifico la limitación de ignorar magnitud.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843784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07792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825496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Aptos"/>
              </a:rPr>
              <a:t>Entiendo el problema de matrices poco densas.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843784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907792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825496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733"/>
                </a:solidFill>
                <a:latin typeface="Aptos Display"/>
              </a:rPr>
              <a:t>Puedo explicar qué es un embedding.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465576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529584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447288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733"/>
                </a:solidFill>
                <a:latin typeface="Aptos Display"/>
              </a:rPr>
              <a:t>Conecto SVD truncada con P y Q.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3465576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3529584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447288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Aptos"/>
              </a:rPr>
              <a:t>Entiendo por qué el rango importa.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087368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151376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06908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Aptos"/>
              </a:rPr>
              <a:t>Puedo interpretar una reconstrucción como predicción.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087368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4151376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06908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733"/>
                </a:solidFill>
                <a:latin typeface="Aptos Display"/>
              </a:rPr>
              <a:t>Defino soporte, confianza y lift.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709160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773168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69087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733"/>
                </a:solidFill>
                <a:latin typeface="Aptos Display"/>
              </a:rPr>
              <a:t>Distingo evaluación offline y online.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59" y="4709160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59" y="4773168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69087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733"/>
                </a:solidFill>
                <a:latin typeface="Aptos Display"/>
              </a:rPr>
              <a:t>Puedo diseñar una prueba A/B básica.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330952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394960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5312664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Aptos"/>
              </a:rPr>
              <a:t>Sé que costo computacional entra en la decisión.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59" y="5330952"/>
            <a:ext cx="292608" cy="292608"/>
          </a:xfrm>
          <a:prstGeom prst="roundRect">
            <a:avLst/>
          </a:prstGeom>
          <a:solidFill>
            <a:srgbClr val="2B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5394960"/>
            <a:ext cx="2926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5312664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733"/>
                </a:solidFill>
                <a:latin typeface="Aptos Display"/>
              </a:rPr>
              <a:t>Puedo justificar qué recomendador usaría en un caso concreto.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6053328"/>
            <a:ext cx="10469880" cy="4114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6144768"/>
            <a:ext cx="10195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6F439B"/>
                </a:solidFill>
                <a:latin typeface="Aptos Display"/>
              </a:rPr>
              <a:t>Fuente principal: transcripción de la sesión sincrónica de Semana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