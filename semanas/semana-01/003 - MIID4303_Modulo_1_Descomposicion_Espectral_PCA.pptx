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MIID 4303 · Aprendizaje No Supervisado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510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visual de estudio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680960" y="-640080"/>
            <a:ext cx="4846320" cy="4846320"/>
          </a:xfrm>
          <a:prstGeom prst="arc">
            <a:avLst/>
          </a:prstGeom>
          <a:solidFill>
            <a:srgbClr val="6F3CC3">
              <a:alpha val="35000"/>
            </a:srgbClr>
          </a:solidFill>
          <a:ln w="12700">
            <a:solidFill>
              <a:srgbClr val="6F3CC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8412480" y="2743200"/>
            <a:ext cx="4114800" cy="4114800"/>
          </a:xfrm>
          <a:prstGeom prst="arc">
            <a:avLst/>
          </a:prstGeom>
          <a:solidFill>
            <a:srgbClr val="19C4D6">
              <a:alpha val="25000"/>
            </a:srgbClr>
          </a:solidFill>
          <a:ln w="12700">
            <a:solidFill>
              <a:srgbClr val="19C4D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577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MÓDULO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Descomposición espectral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PCA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7F5"/>
                </a:solidFill>
              </a:rPr>
              <a:t>Cómo la varianza, los vectores propios y los valores propios construyen los componentes principales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5897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C4D6"/>
                </a:solidFill>
              </a:rPr>
              <a:t>MIID 4303 · Aprendizaje No Supervisado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62362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7C8"/>
                </a:solidFill>
              </a:rPr>
              <a:t>Guía visual basada en la transcripción del video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1298448"/>
            <a:ext cx="3794760" cy="3977640"/>
          </a:xfrm>
          <a:prstGeom prst="roundRect">
            <a:avLst>
              <a:gd name="adj" fmla="val 241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XᵀX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9144000" y="1865376"/>
            <a:ext cx="502920" cy="365760"/>
          </a:xfrm>
          <a:prstGeom prst="chevron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F3CC3"/>
                </a:solidFill>
              </a:rPr>
              <a:t>P Λ Pᵀ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27848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direcciones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4692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varianza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3246120"/>
            <a:ext cx="0" cy="1005840"/>
          </a:xfrm>
          <a:prstGeom prst="line">
            <a:avLst/>
          </a:prstGeom>
          <a:noFill/>
          <a:ln w="3810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32520" y="4251960"/>
            <a:ext cx="1280160" cy="-502920"/>
          </a:xfrm>
          <a:prstGeom prst="line">
            <a:avLst/>
          </a:prstGeom>
          <a:noFill/>
          <a:ln w="38100">
            <a:solidFill>
              <a:srgbClr val="19C4D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95528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nuevos ejes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(componentes)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Del dato centrado a los componentes principales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66928" cy="566928"/>
          </a:xfrm>
          <a:prstGeom prst="ellipse">
            <a:avLst/>
          </a:prstGeom>
          <a:solidFill>
            <a:srgbClr val="19C4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Organizar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N observaciones × K características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161288" y="2203704"/>
            <a:ext cx="1143000" cy="0"/>
          </a:xfrm>
          <a:prstGeom prst="line">
            <a:avLst/>
          </a:prstGeom>
          <a:noFill/>
          <a:ln w="2540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1920240"/>
            <a:ext cx="566928" cy="566928"/>
          </a:xfrm>
          <a:prstGeom prst="ellipse">
            <a:avLst/>
          </a:prstGeom>
          <a:solidFill>
            <a:srgbClr val="19C4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Centrar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Restar la media de cada columna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035808" y="2203704"/>
            <a:ext cx="1143000" cy="0"/>
          </a:xfrm>
          <a:prstGeom prst="line">
            <a:avLst/>
          </a:prstGeom>
          <a:noFill/>
          <a:ln w="2540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920240"/>
            <a:ext cx="566928" cy="566928"/>
          </a:xfrm>
          <a:prstGeom prst="ellipse">
            <a:avLst/>
          </a:prstGeom>
          <a:solidFill>
            <a:srgbClr val="19C4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Formar XᵀX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Resumir variación conjunta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910328" y="2203704"/>
            <a:ext cx="1143000" cy="0"/>
          </a:xfrm>
          <a:prstGeom prst="line">
            <a:avLst/>
          </a:prstGeom>
          <a:noFill/>
          <a:ln w="2540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1920240"/>
            <a:ext cx="566928" cy="566928"/>
          </a:xfrm>
          <a:prstGeom prst="ellipse">
            <a:avLst/>
          </a:prstGeom>
          <a:solidFill>
            <a:srgbClr val="6F3CC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Descomponer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XᵀX = PΛPᵀ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784848" y="2203704"/>
            <a:ext cx="1143000" cy="0"/>
          </a:xfrm>
          <a:prstGeom prst="line">
            <a:avLst/>
          </a:prstGeom>
          <a:noFill/>
          <a:ln w="2540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92440" y="1920240"/>
            <a:ext cx="566928" cy="566928"/>
          </a:xfrm>
          <a:prstGeom prst="ellipse">
            <a:avLst/>
          </a:prstGeom>
          <a:solidFill>
            <a:srgbClr val="6F3CC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Interpretar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P = direcciones; Λ = varianza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659368" y="2203704"/>
            <a:ext cx="1143000" cy="0"/>
          </a:xfrm>
          <a:prstGeom prst="line">
            <a:avLst/>
          </a:prstGeom>
          <a:noFill/>
          <a:ln w="2540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66960" y="1920240"/>
            <a:ext cx="566928" cy="566928"/>
          </a:xfrm>
          <a:prstGeom prst="ellipse">
            <a:avLst/>
          </a:prstGeom>
          <a:solidFill>
            <a:srgbClr val="6F3CC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85832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267004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Conectar con PCA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46920" y="3081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Ordenar componentes por información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14400" y="46634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663440"/>
            <a:ext cx="73152" cy="105156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4809744"/>
            <a:ext cx="9985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Idea central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15568" y="5193792"/>
            <a:ext cx="99852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PCA no aparece “de la nada”: surge al estudiar cómo se distribuye la varianza de los datos centrados. La descomposición espectral revela las direcciones principales y cuánta información aporta cada una.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de partida: la matriz de datos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Cada fila es una observación; cada columna es una característica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38912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7218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Estructura de 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3310128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Dimensión: N × 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N: número de observaciones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K: número de características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Supuesto habitual del video: N &gt; 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Rango de X: K (columnas linealmente independientes)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6629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642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Matriz 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868680" cy="438912"/>
          </a:xfrm>
          <a:prstGeom prst="rect">
            <a:avLst/>
          </a:prstGeom>
          <a:solidFill>
            <a:srgbClr val="E9F8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3591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x₁₁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868680" cy="438912"/>
          </a:xfrm>
          <a:prstGeom prst="rect">
            <a:avLst/>
          </a:prstGeom>
          <a:solidFill>
            <a:srgbClr val="E9F8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3591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x₁₂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2240280"/>
            <a:ext cx="868680" cy="438912"/>
          </a:xfrm>
          <a:prstGeom prst="rect">
            <a:avLst/>
          </a:prstGeom>
          <a:solidFill>
            <a:srgbClr val="E9F8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3591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2240280"/>
            <a:ext cx="868680" cy="438912"/>
          </a:xfrm>
          <a:prstGeom prst="rect">
            <a:avLst/>
          </a:prstGeom>
          <a:solidFill>
            <a:srgbClr val="E9F8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3591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x₁K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83464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9535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x₂₁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283464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9535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x₂₂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283464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9535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283464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29535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x₂K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42900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5478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342900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35478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342900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5478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32520" y="342900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35478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402336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42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xN₁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402336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4142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xN₂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402336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4142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32520" y="4023360"/>
            <a:ext cx="868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4142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</a:rPr>
              <a:t>xNK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4892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K columnas = características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29800" y="2286000"/>
            <a:ext cx="777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C4D6"/>
                </a:solidFill>
              </a:rPr>
              <a:t>N filas = observaciones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5760720"/>
            <a:ext cx="2377440" cy="292608"/>
          </a:xfrm>
          <a:prstGeom prst="roundRect">
            <a:avLst>
              <a:gd name="adj" fmla="val 21875"/>
            </a:avLst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9872" y="581558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N &gt; K y rango(X)=K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1: centrar los datos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Restar la media de cada columna para estudiar variación alrededor del centro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3CC3"/>
                </a:solidFill>
              </a:rPr>
              <a:t>x̃ᵢⱼ = xᵢⱼ − x̄ⱼ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73152" cy="237744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8658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¿Qué logra el centrado?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770632"/>
            <a:ext cx="413308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Cada característica queda con media cero.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La variación se mide respecto al promedio.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Evita que la ubicación absoluta domine el análisis.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Prepara la construcción de la matriz de covariación.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583680" y="1508760"/>
            <a:ext cx="0" cy="356616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Después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13832" y="3520440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3968496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7628" y="3264408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3072384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2560320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368296"/>
            <a:ext cx="109728" cy="10972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6932" y="3630168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3548" y="4078224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0728" y="3374136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6780" y="3182112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4524" y="2670048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1140" y="2478024"/>
            <a:ext cx="109728" cy="1097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4937760"/>
            <a:ext cx="2423160" cy="0"/>
          </a:xfrm>
          <a:prstGeom prst="line">
            <a:avLst/>
          </a:prstGeom>
          <a:noFill/>
          <a:ln w="12700">
            <a:solidFill>
              <a:srgbClr val="1D29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1600200"/>
            <a:ext cx="0" cy="3337560"/>
          </a:xfrm>
          <a:prstGeom prst="line">
            <a:avLst/>
          </a:prstGeom>
          <a:noFill/>
          <a:ln w="12700">
            <a:solidFill>
              <a:srgbClr val="1D29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246120"/>
            <a:ext cx="3657600" cy="0"/>
          </a:xfrm>
          <a:prstGeom prst="line">
            <a:avLst/>
          </a:prstGeom>
          <a:noFill/>
          <a:ln w="12700">
            <a:solidFill>
              <a:srgbClr val="1D29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2600" y="1600200"/>
            <a:ext cx="0" cy="3337560"/>
          </a:xfrm>
          <a:prstGeom prst="line">
            <a:avLst/>
          </a:prstGeom>
          <a:noFill/>
          <a:ln w="12700">
            <a:solidFill>
              <a:srgbClr val="1D29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525780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5257800"/>
            <a:ext cx="73152" cy="6858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540410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Para recordar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61888" y="5788152"/>
            <a:ext cx="4773168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El video llama X a la matriz ya centrada.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2: construir XᵀX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Una matriz K × K que resume cómo varían conjuntamente las características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XᵀX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651760" y="1554480"/>
            <a:ext cx="685800" cy="365760"/>
          </a:xfrm>
          <a:prstGeom prst="chevron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3CC3"/>
                </a:solidFill>
              </a:rPr>
              <a:t>K × 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73152" cy="242316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237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Diagonal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907792"/>
            <a:ext cx="3035808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Suma de cuadrados de cada característica centrada. Mide cuánta variación individual existe en cada variable.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377440"/>
            <a:ext cx="73152" cy="242316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5237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Fuera de la diagonal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2907792"/>
            <a:ext cx="3035808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Suma de productos cruzados entre características distintas. Resume cómo se mueven conjuntamente.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377440"/>
            <a:ext cx="73152" cy="242316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5237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Propiedad clave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47888" y="2907792"/>
            <a:ext cx="3035808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XᵀX es simétrica. Esa simetría permite aplicar la descomposición espectral.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188720" y="512064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B9D2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5120640"/>
            <a:ext cx="73152" cy="8686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5266944"/>
            <a:ext cx="9528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Aclaración técnica del video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5650992"/>
            <a:ext cx="95280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XᵀX todavía no es la matriz de covarianzas: para obtenerla hay que dividir por el número de observaciones. Aun así, contiene la misma estructura y relaciones entre variables.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XᵀX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Qué representa cada zona de la matriz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11680" y="1417320"/>
            <a:ext cx="1051560" cy="1051560"/>
          </a:xfrm>
          <a:prstGeom prst="rect">
            <a:avLst/>
          </a:prstGeom>
          <a:solidFill>
            <a:srgbClr val="DD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A8"/>
                </a:solidFill>
              </a:rPr>
              <a:t>Σx̃²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141732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41732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141732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46888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852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2468880"/>
            <a:ext cx="1051560" cy="1051560"/>
          </a:xfrm>
          <a:prstGeom prst="rect">
            <a:avLst/>
          </a:prstGeom>
          <a:solidFill>
            <a:srgbClr val="DD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852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A8"/>
                </a:solidFill>
              </a:rPr>
              <a:t>Σx̃²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46888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852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46888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852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352044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9044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63240" y="352044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39044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520440"/>
            <a:ext cx="1051560" cy="1051560"/>
          </a:xfrm>
          <a:prstGeom prst="rect">
            <a:avLst/>
          </a:prstGeom>
          <a:solidFill>
            <a:srgbClr val="DD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9044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A8"/>
                </a:solidFill>
              </a:rPr>
              <a:t>Σx̃²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352044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9044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457200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956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3240" y="457200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4956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4572000"/>
            <a:ext cx="1051560" cy="1051560"/>
          </a:xfrm>
          <a:prstGeom prst="rect">
            <a:avLst/>
          </a:prstGeom>
          <a:solidFill>
            <a:srgbClr val="F1EA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4956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3CC3"/>
                </a:solidFill>
              </a:rPr>
              <a:t>Σx̃ᵢx̃ⱼ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4572000"/>
            <a:ext cx="1051560" cy="1051560"/>
          </a:xfrm>
          <a:prstGeom prst="rect">
            <a:avLst/>
          </a:prstGeom>
          <a:solidFill>
            <a:srgbClr val="DD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956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A8"/>
                </a:solidFill>
              </a:rPr>
              <a:t>Σx̃²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146304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1463040"/>
            <a:ext cx="73152" cy="150876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60934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Diagonal = variación propia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67728" y="1993392"/>
            <a:ext cx="404164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Cuanto mayor sea la suma de cuadrados, mayor es la dispersión de esa característica.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766560" y="324612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3246120"/>
            <a:ext cx="73152" cy="150876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39242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Fuera de la diagonal = relación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67728" y="3776472"/>
            <a:ext cx="404164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Valores positivos o negativos indican cómo dos características cambian conjuntamente.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766560" y="502920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5029200"/>
            <a:ext cx="73152" cy="7772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7728" y="517550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Simetría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67728" y="5559552"/>
            <a:ext cx="404164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El elemento (i,j) coincide con (j,i).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3: descomposición espectral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Separar direcciones e importancia de la varianza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" y="13258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XᵀX = P Λ Pᵀ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14600"/>
            <a:ext cx="73152" cy="256032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660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 · Vectores propios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3044952"/>
            <a:ext cx="303580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Cada columna de P contiene una dirección especial de los datos. En PCA, esas direcciones se convierten en nuevos ejes o componentes principales.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07408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514600"/>
            <a:ext cx="73152" cy="256032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660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Λ · Valores propios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8576" y="3044952"/>
            <a:ext cx="303580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Matriz diagonal. Cada valor propio mide cuánta varianza explica la dirección correspondiente.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991856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2514600"/>
            <a:ext cx="73152" cy="25603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2660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Pᵀ · Reexpresión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93024" y="3044952"/>
            <a:ext cx="303580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traspuesta de P completa la reconstrucción de la matriz simétrica en el nuevo sistema de ejes.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234440" y="5394960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B9D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5394960"/>
            <a:ext cx="73152" cy="731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5541264"/>
            <a:ext cx="9345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Lectura conceptual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35608" y="5925312"/>
            <a:ext cx="934516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descomposición espectral transforma una estructura compleja de covariación en pares “dirección + cantidad de varianza”.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Los vectores propios son los nuevos ejes de los datos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5394960"/>
            <a:ext cx="4389120" cy="0"/>
          </a:xfrm>
          <a:prstGeom prst="line">
            <a:avLst/>
          </a:prstGeom>
          <a:noFill/>
          <a:ln w="17780">
            <a:solidFill>
              <a:srgbClr val="1D293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280160" y="5577840"/>
            <a:ext cx="0" cy="-4114800"/>
          </a:xfrm>
          <a:prstGeom prst="line">
            <a:avLst/>
          </a:prstGeom>
          <a:noFill/>
          <a:ln w="17780">
            <a:solidFill>
              <a:srgbClr val="1D293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57400" y="457200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429768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393192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56616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347472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301752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74320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286000"/>
            <a:ext cx="118872" cy="1188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5166360"/>
            <a:ext cx="3657600" cy="-3200400"/>
          </a:xfrm>
          <a:prstGeom prst="line">
            <a:avLst/>
          </a:prstGeom>
          <a:noFill/>
          <a:ln w="38100">
            <a:solidFill>
              <a:srgbClr val="19C4D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00600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C4D6"/>
                </a:solidFill>
              </a:rPr>
              <a:t>PC1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4480560"/>
            <a:ext cx="-1325880" cy="-2194560"/>
          </a:xfrm>
          <a:prstGeom prst="line">
            <a:avLst/>
          </a:prstGeom>
          <a:noFill/>
          <a:ln w="38100">
            <a:solidFill>
              <a:srgbClr val="6F3CC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508760" y="1965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PC2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417320"/>
            <a:ext cx="73152" cy="146304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56362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Componente principal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1968" y="1947672"/>
            <a:ext cx="449884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Dirección que captura la mayor variación posible de los datos.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200400"/>
            <a:ext cx="73152" cy="146304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34670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Componente principal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01968" y="3730752"/>
            <a:ext cx="449884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Dirección ortogonal a la primera que captura la mayor variación restante.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00800" y="49834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983480"/>
            <a:ext cx="73152" cy="8686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512978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Interpretación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01968" y="5513832"/>
            <a:ext cx="44988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Las columnas de P “apuntan” hacia las direcciones dominantes de la nube de datos.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Λ?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Cada valor propio cuantifica la varianza explicada por su componente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658368" cy="3566160"/>
          </a:xfrm>
          <a:prstGeom prst="rect">
            <a:avLst/>
          </a:prstGeom>
          <a:solidFill>
            <a:srgbClr val="19C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5321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λ1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52%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3703320"/>
            <a:ext cx="658368" cy="1645920"/>
          </a:xfrm>
          <a:prstGeom prst="rect">
            <a:avLst/>
          </a:prstGeom>
          <a:solidFill>
            <a:srgbClr val="6F3C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55321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λ2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34747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24%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4457700"/>
            <a:ext cx="658368" cy="891540"/>
          </a:xfrm>
          <a:prstGeom prst="rect">
            <a:avLst/>
          </a:prstGeom>
          <a:solidFill>
            <a:srgbClr val="B9C4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55321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λ3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422910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13%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4869180"/>
            <a:ext cx="658368" cy="480060"/>
          </a:xfrm>
          <a:prstGeom prst="rect">
            <a:avLst/>
          </a:prstGeom>
          <a:solidFill>
            <a:srgbClr val="B9C4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55321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λ4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46405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5074920"/>
            <a:ext cx="658368" cy="274320"/>
          </a:xfrm>
          <a:prstGeom prst="rect">
            <a:avLst/>
          </a:prstGeom>
          <a:solidFill>
            <a:srgbClr val="B9C4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55321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λ5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48463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4%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14173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417320"/>
            <a:ext cx="73152" cy="146304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156362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Valores propios grandes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82128" y="1947672"/>
            <a:ext cx="321868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Componentes más informativos: explican una porción mayor de la varianza total.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3200400"/>
            <a:ext cx="73152" cy="146304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334670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Valores propios pequeños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82128" y="3730752"/>
            <a:ext cx="321868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Componentes menos informativos: suelen ser candidatos a omitirse en una reducción de dimensión.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680960" y="49834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4983480"/>
            <a:ext cx="73152" cy="8686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512978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Regla de lectura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82128" y="5513832"/>
            <a:ext cx="321868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Ordenar λ de mayor a menor permite priorizar componentes.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directa con PCA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descomposición espectral construye el sistema de componentes principales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EAF9FB"/>
          </a:solidFill>
          <a:ln w="15240">
            <a:solidFill>
              <a:srgbClr val="19C4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Datos centrados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648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468880"/>
            <a:ext cx="292608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EAF9FB"/>
          </a:solidFill>
          <a:ln w="15240">
            <a:solidFill>
              <a:srgbClr val="19C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Variación conjunta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XᵀX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05072" y="2468880"/>
            <a:ext cx="292608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06824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EAF9FB"/>
          </a:solidFill>
          <a:ln w="15240">
            <a:solidFill>
              <a:srgbClr val="19C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Descomposición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16552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A8"/>
                </a:solidFill>
              </a:rPr>
              <a:t>PΛPᵀ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07024" y="2468880"/>
            <a:ext cx="292608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08776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F2ECFB"/>
          </a:solidFill>
          <a:ln w="15240">
            <a:solidFill>
              <a:srgbClr val="6F3C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Direcciones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3CC3"/>
                </a:solidFill>
              </a:rPr>
              <a:t>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8976" y="2468880"/>
            <a:ext cx="292608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0728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F2ECFB"/>
          </a:solidFill>
          <a:ln w="15240">
            <a:solidFill>
              <a:srgbClr val="6F3C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Importancia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3CC3"/>
                </a:solidFill>
              </a:rPr>
              <a:t>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10928" y="2468880"/>
            <a:ext cx="292608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1874520"/>
            <a:ext cx="1600200" cy="1188720"/>
          </a:xfrm>
          <a:prstGeom prst="roundRect">
            <a:avLst>
              <a:gd name="adj" fmla="val 5385"/>
            </a:avLst>
          </a:prstGeom>
          <a:solidFill>
            <a:srgbClr val="F2ECFB"/>
          </a:solidFill>
          <a:ln w="15240">
            <a:solidFill>
              <a:srgbClr val="6F3C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2057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22408" y="25146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3CC3"/>
                </a:solidFill>
              </a:rPr>
              <a:t>Componentes ordenados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0233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023360"/>
            <a:ext cx="73152" cy="141732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169664"/>
            <a:ext cx="4636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 responde “¿en qué dirección?”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553712"/>
            <a:ext cx="46360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Cada vector propio define un eje nuevo en el espacio de características.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263640" y="40233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4023360"/>
            <a:ext cx="73152" cy="141732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4169664"/>
            <a:ext cx="4636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Λ responde “¿cuánta información?”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64808" y="4553712"/>
            <a:ext cx="46360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Cada valor propio indica la varianza explicada por ese eje.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1325880" y="5669280"/>
            <a:ext cx="9555480" cy="502920"/>
          </a:xfrm>
          <a:prstGeom prst="roundRect">
            <a:avLst>
              <a:gd name="adj" fmla="val 14545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5669280"/>
            <a:ext cx="73152" cy="5029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27048" y="5815584"/>
            <a:ext cx="9208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Resultado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27048" y="6199632"/>
            <a:ext cx="9208008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PCA conserva primero las direcciones con valores propios más grandes.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Chequeo de dimensiones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Una forma rápida de validar que las operaciones son coherentes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03320" y="1444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N × 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39112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Xᵀ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3320" y="2157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K × 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752344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71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XᵀX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K × 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465576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584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K × 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178808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297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4297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K × 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892040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5010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5010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3CC3"/>
                </a:solidFill>
              </a:rPr>
              <a:t>K × 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371600"/>
            <a:ext cx="73152" cy="182880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51790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Validación del producto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1901952"/>
            <a:ext cx="440740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(K × N)(N × K) = K × K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Por eso XᵀX es cuadrada y puede descomponerse espectralmente.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126480" y="356616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566160"/>
            <a:ext cx="73152" cy="182880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71246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Supuesto del video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4096512"/>
            <a:ext cx="440740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N &gt; K y rango(X)=K aseguran que las K columnas aportan direcciones independientes.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126480" y="576072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5760720"/>
            <a:ext cx="73152" cy="5029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90702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Error común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6291072"/>
            <a:ext cx="4407408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Confundir XᵀX con XXᵀ: sus dimensiones y su interpretación cambian.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y cómo corregirlos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Puntos que suelen generar confusión en quices y sustentaciones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298448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72184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 centrar 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Los componentes pueden reflejar ubicación absoluta, no variación alrededor de la media.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25880"/>
            <a:ext cx="73152" cy="1298448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472184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Llamar covarianza a XᵀX sin dividir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01968" y="1856232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Es proporcional a la covarianza, pero no es exactamente la matriz de covarianzas.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98648"/>
            <a:ext cx="73152" cy="1298448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04495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Confundir P con 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429000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 contiene direcciones; Λ contiene cantidades de varianza.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0" y="28986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98648"/>
            <a:ext cx="73152" cy="1298448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04495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Asumir que todo componente es igual de útil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3429000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Los valores propios permiten ordenar la relevancia.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447141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71416"/>
            <a:ext cx="73152" cy="1298448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1772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Perder de vista la simetría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5001768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descomposición espectral se aplica aquí porque XᵀX es simétrica.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00800" y="447141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471416"/>
            <a:ext cx="73152" cy="1298448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461772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Confundir PCA con SVD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5001768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El video prepara la transición: PCA vía XᵀX; SVD trabaja directamente sobre X.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guiado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Dos características: área y número de habitaciones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2646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Datos centrados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10512"/>
            <a:ext cx="294436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Casa A: (-2, -1)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Casa B: (-1,  0)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Casa C: ( 1,  0)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Casa D: ( 2,  1)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nube se alinea aproximadamente en una dirección diagonal.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663440" y="5303520"/>
            <a:ext cx="3291840" cy="0"/>
          </a:xfrm>
          <a:prstGeom prst="line">
            <a:avLst/>
          </a:prstGeom>
          <a:noFill/>
          <a:ln w="15240">
            <a:solidFill>
              <a:srgbClr val="1D293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5577840"/>
            <a:ext cx="0" cy="-3749040"/>
          </a:xfrm>
          <a:prstGeom prst="line">
            <a:avLst/>
          </a:prstGeom>
          <a:noFill/>
          <a:ln w="15240">
            <a:solidFill>
              <a:srgbClr val="1D293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9784" y="4956048"/>
            <a:ext cx="146304" cy="14630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4206240"/>
            <a:ext cx="146304" cy="14630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0568" y="4206240"/>
            <a:ext cx="146304" cy="14630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7496" y="3456432"/>
            <a:ext cx="146304" cy="14630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5074920"/>
            <a:ext cx="2926080" cy="-2103120"/>
          </a:xfrm>
          <a:prstGeom prst="line">
            <a:avLst/>
          </a:prstGeom>
          <a:noFill/>
          <a:ln w="38100">
            <a:solidFill>
              <a:srgbClr val="19C4D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62672" y="2743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C4D6"/>
                </a:solidFill>
              </a:rPr>
              <a:t>PC1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49640" y="1325880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325880"/>
            <a:ext cx="73152" cy="146304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0808" y="147218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Lectura de 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50808" y="1856232"/>
            <a:ext cx="262432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El primer vector propio apuntará cerca de la diagonal dominante.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549640" y="3108960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3108960"/>
            <a:ext cx="73152" cy="146304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325526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Lectura de 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50808" y="3639312"/>
            <a:ext cx="262432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El primer valor propio será mayor, porque esa dirección concentra más variación.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549640" y="489204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4892040"/>
            <a:ext cx="73152" cy="8686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0808" y="503834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Conclusión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0808" y="5422392"/>
            <a:ext cx="262432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PCA podría resumir estos datos con un solo componente.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Cinco preguntas clave del video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38912" cy="438912"/>
          </a:xfrm>
          <a:prstGeom prst="ellipse">
            <a:avLst/>
          </a:prstGeom>
          <a:solidFill>
            <a:srgbClr val="19C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441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¿Por qué se centran las columnas de X?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</a:rPr>
              <a:t>Para medir la variación respecto a la media.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38912" cy="438912"/>
          </a:xfrm>
          <a:prstGeom prst="ellipse">
            <a:avLst/>
          </a:prstGeom>
          <a:solidFill>
            <a:srgbClr val="19C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0428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¿Qué dimensión tiene XᵀX?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</a:rPr>
              <a:t>K × 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438912" cy="438912"/>
          </a:xfrm>
          <a:prstGeom prst="ellipse">
            <a:avLst/>
          </a:prstGeom>
          <a:solidFill>
            <a:srgbClr val="19C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64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¿Qué contienen las columnas de P?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</a:rPr>
              <a:t>Vectores propios: nuevos ejes o componentes.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38912" cy="438912"/>
          </a:xfrm>
          <a:prstGeom prst="ellipse">
            <a:avLst/>
          </a:prstGeom>
          <a:solidFill>
            <a:srgbClr val="6F3C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245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¿Qué indica cada valor propio?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</a:rPr>
              <a:t>La varianza explicada por su componente.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438912" cy="438912"/>
          </a:xfrm>
          <a:prstGeom prst="ellipse">
            <a:avLst/>
          </a:prstGeom>
          <a:solidFill>
            <a:srgbClr val="6F3C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18464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¿Por qué es posible la descomposición espectral?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</a:rPr>
              <a:t>Porque XᵀX es simétrica.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5989320"/>
            <a:ext cx="9875520" cy="438912"/>
          </a:xfrm>
          <a:prstGeom prst="roundRect">
            <a:avLst>
              <a:gd name="adj" fmla="val 16667"/>
            </a:avLst>
          </a:prstGeom>
          <a:solidFill>
            <a:srgbClr val="FFF9DF"/>
          </a:solidFill>
          <a:ln w="12700">
            <a:solidFill>
              <a:srgbClr val="F0D6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5989320"/>
            <a:ext cx="73152" cy="43891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6135624"/>
            <a:ext cx="9528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Pista de memoria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44168" y="6519672"/>
            <a:ext cx="9528048" cy="-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P = posiciones/direcciones · Λ = cantidad de varianza.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taller práctico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Explica el proceso sin hacer cálculos largos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452628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074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Enunciado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331012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Una base tiene N = 500 clientes y K = 4 características numéricas. Se desea aplicar PCA.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1. Indica las dimensiones de X, Xᵀ y XᵀX.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2. Explica por qué hay que centrar.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3. Interpreta P y Λ.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4. Explica cómo decidir qué componentes conservar.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234440"/>
            <a:ext cx="73152" cy="452628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38074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Solución esperada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764792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X: 500 × 4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Xᵀ: 4 × 500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XᵀX: 4 × 4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Centrar: media cero por columna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P: direcciones principales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Λ: varianza explicada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• Conservar primero los λ más grandes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01000" y="12344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234440"/>
            <a:ext cx="73152" cy="45262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38074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Cómo comunicarlo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02168" y="1764792"/>
            <a:ext cx="317296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“Construimos una representación de menor dimensión seleccionando las direcciones que concentran la mayor parte de la variación de los datos.”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Evita decir que PCA “predice” una respuesta: es una técnica no supervisada.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visual de cierre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cadena conceptual que debes recordar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19C4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261872"/>
            <a:ext cx="640080" cy="292608"/>
          </a:xfrm>
          <a:prstGeom prst="roundRect">
            <a:avLst>
              <a:gd name="adj" fmla="val 21875"/>
            </a:avLst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3167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Centrar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x̃ᵢⱼ = xᵢⱼ − x̄ⱼ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212848"/>
            <a:ext cx="365760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5544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261872"/>
            <a:ext cx="640080" cy="292608"/>
          </a:xfrm>
          <a:prstGeom prst="roundRect">
            <a:avLst>
              <a:gd name="adj" fmla="val 21875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3167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175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Construir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XᵀX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212848"/>
            <a:ext cx="365760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5544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6F3C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261872"/>
            <a:ext cx="640080" cy="292608"/>
          </a:xfrm>
          <a:prstGeom prst="roundRect">
            <a:avLst>
              <a:gd name="adj" fmla="val 21875"/>
            </a:avLst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3167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4924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Descomponer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PΛPᵀ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2212848"/>
            <a:ext cx="365760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5544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F4C5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261872"/>
            <a:ext cx="640080" cy="292608"/>
          </a:xfrm>
          <a:prstGeom prst="roundRect">
            <a:avLst>
              <a:gd name="adj" fmla="val 21875"/>
            </a:avLst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13167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809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Interpretar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P = ejes · Λ = varianza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09760" y="2212848"/>
            <a:ext cx="365760" cy="0"/>
          </a:xfrm>
          <a:prstGeom prst="line">
            <a:avLst/>
          </a:prstGeom>
          <a:noFill/>
          <a:ln w="25400">
            <a:solidFill>
              <a:srgbClr val="91A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5544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0" y="1261872"/>
            <a:ext cx="640080" cy="292608"/>
          </a:xfrm>
          <a:prstGeom prst="roundRect">
            <a:avLst>
              <a:gd name="adj" fmla="val 2187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88752" y="13167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126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Reducir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12680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Conservar componentes informativos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657600"/>
            <a:ext cx="73152" cy="1325880"/>
          </a:xfrm>
          <a:prstGeom prst="rect">
            <a:avLst/>
          </a:prstGeom>
          <a:solidFill>
            <a:srgbClr val="19C4D6"/>
          </a:solidFill>
          <a:ln w="12700">
            <a:solidFill>
              <a:srgbClr val="19C4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3803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Idea clave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2688" y="4187952"/>
            <a:ext cx="30358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varianza es la “información” que PCA busca preservar.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407408" y="3657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07408" y="3657600"/>
            <a:ext cx="73152" cy="132588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3803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Puente matemático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08576" y="4187952"/>
            <a:ext cx="30358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La descomposición espectral convierte covariación en direcciones y magnitudes.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083296" y="3657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83296" y="3657600"/>
            <a:ext cx="73152" cy="1325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84464" y="380390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Siguiente paso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84464" y="4187952"/>
            <a:ext cx="30358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SVD generaliza la idea y trabaja directamente sobre X.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1234440" y="5532120"/>
            <a:ext cx="9692640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2700">
            <a:solidFill>
              <a:srgbClr val="B9D2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34440" y="5532120"/>
            <a:ext cx="73152" cy="5669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5608" y="5678424"/>
            <a:ext cx="9345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Checklist final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435608" y="6062472"/>
            <a:ext cx="9345168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D2939"/>
                </a:solidFill>
              </a:rPr>
              <a:t>☐ Sé centrar datos  ☐ Reconozco XᵀX  ☐ Distingo P de Λ  ☐ Interpreto varianza explicada  ☐ Relaciono espectral con PCA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de los Andes - MIAD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MIID 4303 - Descomposición espectral y PCA</dc:title>
  <dc:subject>Guía visual - Descomposición espectral y PCA</dc:subject>
  <dc:creator>OpenAI</dc:creator>
  <cp:lastModifiedBy>OpenAI</cp:lastModifiedBy>
  <cp:revision>1</cp:revision>
  <dcterms:created xsi:type="dcterms:W3CDTF">2026-08-04T02:43:14Z</dcterms:created>
  <dcterms:modified xsi:type="dcterms:W3CDTF">2026-08-04T02:43:14Z</dcterms:modified>
</cp:coreProperties>
</file>