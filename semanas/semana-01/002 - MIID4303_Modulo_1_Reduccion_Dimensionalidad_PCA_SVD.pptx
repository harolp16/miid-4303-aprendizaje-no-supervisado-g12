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3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MIID 4303 | Aprendizaje No Supervisado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3836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visual de estudio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4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Reducción de dimensionalidad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138160" y="-731520"/>
            <a:ext cx="4663440" cy="4663440"/>
          </a:xfrm>
          <a:prstGeom prst="arc">
            <a:avLst/>
          </a:prstGeom>
          <a:solidFill>
            <a:srgbClr val="6D3CC6">
              <a:alpha val="28000"/>
            </a:srgbClr>
          </a:solidFill>
          <a:ln w="12700">
            <a:solidFill>
              <a:srgbClr val="6D3C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600000">
            <a:off x="8869680" y="3566160"/>
            <a:ext cx="3931920" cy="3931920"/>
          </a:xfrm>
          <a:prstGeom prst="arc">
            <a:avLst/>
          </a:prstGeom>
          <a:solidFill>
            <a:srgbClr val="13C6D7">
              <a:alpha val="22000"/>
            </a:srgbClr>
          </a:solidFill>
          <a:ln w="12700">
            <a:solidFill>
              <a:srgbClr val="13C6D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303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MIAD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0332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10" kern="0" dirty="0">
                <a:solidFill>
                  <a:srgbClr val="B8C6DA"/>
                </a:solidFill>
              </a:rPr>
              <a:t>MAESTRÍA EN INTELIGENCIA ANALÍTICA DE DATOS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623060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1 · VIDEO INTRODUCTORIO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68580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Reducción de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dimensionalidad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" y="3538728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1EF"/>
                </a:solidFill>
              </a:rPr>
              <a:t>Cómo representar datos complejos en menos dimensiones conservando la mayor información posible.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89520" y="1444752"/>
            <a:ext cx="3749040" cy="4023360"/>
          </a:xfrm>
          <a:prstGeom prst="roundRect">
            <a:avLst>
              <a:gd name="adj" fmla="val 5366"/>
            </a:avLst>
          </a:prstGeom>
          <a:solidFill>
            <a:srgbClr val="102A4C">
              <a:alpha val="98000"/>
            </a:srgbClr>
          </a:solidFill>
          <a:ln w="12700">
            <a:solidFill>
              <a:srgbClr val="3151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18704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X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818120" y="2331720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9288" y="2331720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0456" y="2331720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2331720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2792" y="2331720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2532888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9288" y="2532888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0456" y="2532888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21624" y="2532888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2792" y="2532888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18120" y="2734056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19288" y="2734056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0456" y="2734056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21624" y="2734056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22792" y="2734056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935224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9288" y="2935224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0456" y="2935224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1624" y="2935224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2792" y="2935224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3136392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9288" y="3136392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0456" y="3136392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21624" y="3136392"/>
            <a:ext cx="146304" cy="146304"/>
          </a:xfrm>
          <a:prstGeom prst="rect">
            <a:avLst/>
          </a:prstGeom>
          <a:solidFill>
            <a:srgbClr val="13C6D7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22792" y="3136392"/>
            <a:ext cx="146304" cy="146304"/>
          </a:xfrm>
          <a:prstGeom prst="rect">
            <a:avLst/>
          </a:prstGeom>
          <a:solidFill>
            <a:srgbClr val="6D3CC6">
              <a:alpha val="80000"/>
            </a:srgbClr>
          </a:solidFill>
          <a:ln w="12700">
            <a:solidFill>
              <a:srgbClr val="102A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8855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F3B61F"/>
                </a:solidFill>
              </a:rPr>
              <a:t>→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9345168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 dimensiones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555480" y="23774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55480" y="2706624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55480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39526F"/>
          </a:solidFill>
          <a:ln w="12700">
            <a:solidFill>
              <a:srgbClr val="3952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55480" y="336499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39526F"/>
          </a:solidFill>
          <a:ln w="12700">
            <a:solidFill>
              <a:srgbClr val="39526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55480" y="3694176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39526F"/>
          </a:solidFill>
          <a:ln w="12700">
            <a:solidFill>
              <a:srgbClr val="3952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74152" y="49194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B61F"/>
                </a:solidFill>
              </a:rPr>
              <a:t>PCA · SVD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3232" y="6080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Guía visual de estudio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problema de muchas variables a una representación compacta e interpretable.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938528" cy="329184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011680"/>
            <a:ext cx="566928" cy="56692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029968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Dimensionalidad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3246120"/>
            <a:ext cx="160934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Qué significan n y k en una matriz de datos.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60904" y="28803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53512" y="1737360"/>
            <a:ext cx="1938528" cy="3291840"/>
          </a:xfrm>
          <a:prstGeom prst="roundRect">
            <a:avLst>
              <a:gd name="adj" fmla="val 7547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011680"/>
            <a:ext cx="566928" cy="566928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029968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6392" y="2743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Problema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18104" y="3246120"/>
            <a:ext cx="160934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Por qué muchas variables dificultan visualizar y aprender.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28616" y="28803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21224" y="1737360"/>
            <a:ext cx="1938528" cy="329184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07024" y="2011680"/>
            <a:ext cx="566928" cy="56692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029968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04104" y="2743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Estructura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85816" y="3246120"/>
            <a:ext cx="160934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Cómo atributos distintos pueden resumirse en factores.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96328" y="28803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88936" y="1737360"/>
            <a:ext cx="1938528" cy="3291840"/>
          </a:xfrm>
          <a:prstGeom prst="roundRect">
            <a:avLst>
              <a:gd name="adj" fmla="val 7547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2011680"/>
            <a:ext cx="566928" cy="566928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74736" y="2029968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71816" y="2743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PCA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53528" y="3246120"/>
            <a:ext cx="160934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Combinaciones lineales que maximizan la varianza.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64040" y="28803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56648" y="1737360"/>
            <a:ext cx="1938528" cy="329184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42448" y="2011680"/>
            <a:ext cx="566928" cy="56692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42448" y="2029968"/>
            <a:ext cx="566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39528" y="27432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SVD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21240" y="3246120"/>
            <a:ext cx="1609344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Factorización matricial y recuperación con pocos valores singulares.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8680" y="5440680"/>
            <a:ext cx="10469880" cy="713232"/>
          </a:xfrm>
          <a:prstGeom prst="roundRect">
            <a:avLst>
              <a:gd name="adj" fmla="val 20513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5440680"/>
            <a:ext cx="73152" cy="713232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848" y="5605272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RESULTADO ESPERADO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" y="5861304"/>
            <a:ext cx="100858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Comprender por qué PCA y SVD permiten conservar información útil usando menos dimensiones.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entendemos por dimensionalidad?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dimensión del problema está asociada al número de variables o atributos observados.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4983480" cy="425196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Matriz de datos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42416" y="2395728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395728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0784" y="2395728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9968" y="2395728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9152" y="2395728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2724912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724912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0784" y="2724912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2724912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9152" y="2724912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2416" y="3054096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054096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3054096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29968" y="3054096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9152" y="3054096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" y="3383280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383280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0784" y="3383280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29968" y="3383280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9152" y="3383280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416" y="3712464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712464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712464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29968" y="3712464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9152" y="3712464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" y="4041648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4041648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00784" y="4041648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29968" y="4041648"/>
            <a:ext cx="256032" cy="256032"/>
          </a:xfrm>
          <a:prstGeom prst="rect">
            <a:avLst/>
          </a:prstGeom>
          <a:solidFill>
            <a:srgbClr val="E8FBFD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9152" y="4041648"/>
            <a:ext cx="256032" cy="256032"/>
          </a:xfrm>
          <a:prstGeom prst="rect">
            <a:avLst/>
          </a:prstGeom>
          <a:solidFill>
            <a:srgbClr val="EAF0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7792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57D6"/>
                </a:solidFill>
              </a:rPr>
              <a:t>X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2788920" y="3337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n × k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96112" y="2267712"/>
            <a:ext cx="0" cy="2057400"/>
          </a:xfrm>
          <a:prstGeom prst="line">
            <a:avLst/>
          </a:prstGeom>
          <a:noFill/>
          <a:ln w="25400">
            <a:solidFill>
              <a:srgbClr val="6D3CC6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 rot="16200000">
            <a:off x="109728" y="2971800"/>
            <a:ext cx="713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3CC6"/>
                </a:solidFill>
              </a:rPr>
              <a:t>n observaciones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4128" y="4507992"/>
            <a:ext cx="1572768" cy="0"/>
          </a:xfrm>
          <a:prstGeom prst="line">
            <a:avLst/>
          </a:prstGeom>
          <a:noFill/>
          <a:ln w="25400">
            <a:solidFill>
              <a:srgbClr val="13C6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25880" y="4599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C6D7"/>
                </a:solidFill>
              </a:rPr>
              <a:t>k variables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89320" y="1600200"/>
            <a:ext cx="5440680" cy="1234440"/>
          </a:xfrm>
          <a:prstGeom prst="roundRect">
            <a:avLst>
              <a:gd name="adj" fmla="val 11852"/>
            </a:avLst>
          </a:prstGeom>
          <a:solidFill>
            <a:srgbClr val="F2ECFF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89320" y="1600200"/>
            <a:ext cx="73152" cy="1234440"/>
          </a:xfrm>
          <a:prstGeom prst="rect">
            <a:avLst/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0488" y="1764792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3CC6"/>
                </a:solidFill>
              </a:rPr>
              <a:t>EN ESTE CURSO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90488" y="2020824"/>
            <a:ext cx="505663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Cuando hablamos de dimensionalidad, nos concentramos en k: el número de columnas o atributos.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989320" y="3063240"/>
            <a:ext cx="5440680" cy="1234440"/>
          </a:xfrm>
          <a:prstGeom prst="roundRect">
            <a:avLst>
              <a:gd name="adj" fmla="val 11852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3063240"/>
            <a:ext cx="73152" cy="1234440"/>
          </a:xfrm>
          <a:prstGeom prst="rect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3227832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C6D7"/>
                </a:solidFill>
              </a:rPr>
              <a:t>EJEMPLO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90488" y="3483864"/>
            <a:ext cx="505663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Si k = 2, observamos dos atributos por cada casa: área construida y número de habitaciones.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989320" y="4526280"/>
            <a:ext cx="5440680" cy="1234440"/>
          </a:xfrm>
          <a:prstGeom prst="roundRect">
            <a:avLst>
              <a:gd name="adj" fmla="val 11852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4526280"/>
            <a:ext cx="73152" cy="123444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0488" y="4690872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PREGUNTA CENTRAL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0488" y="4946904"/>
            <a:ext cx="505663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¿Cómo representar los datos en una dimensión menor sin perder la información esencial?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inicial: casas con dos atributos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dos variables todavía es posible inspeccionar los datos visualmente.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65379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64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Área construida vs. número de habitaciones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25880" y="5257800"/>
            <a:ext cx="5120640" cy="0"/>
          </a:xfrm>
          <a:prstGeom prst="line">
            <a:avLst/>
          </a:prstGeom>
          <a:noFill/>
          <a:ln w="15240">
            <a:solidFill>
              <a:srgbClr val="21314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25880" y="5257800"/>
            <a:ext cx="0" cy="-2834640"/>
          </a:xfrm>
          <a:prstGeom prst="line">
            <a:avLst/>
          </a:prstGeom>
          <a:noFill/>
          <a:ln w="15240">
            <a:solidFill>
              <a:srgbClr val="21314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737360" y="4754880"/>
            <a:ext cx="155448" cy="155448"/>
          </a:xfrm>
          <a:prstGeom prst="ellipse">
            <a:avLst/>
          </a:prstGeom>
          <a:solidFill>
            <a:srgbClr val="13C6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4389120"/>
            <a:ext cx="155448" cy="155448"/>
          </a:xfrm>
          <a:prstGeom prst="ellipse">
            <a:avLst/>
          </a:prstGeom>
          <a:solidFill>
            <a:srgbClr val="13C6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4160520"/>
            <a:ext cx="155448" cy="155448"/>
          </a:xfrm>
          <a:prstGeom prst="ellipse">
            <a:avLst/>
          </a:prstGeom>
          <a:solidFill>
            <a:srgbClr val="13C6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3886200"/>
            <a:ext cx="155448" cy="155448"/>
          </a:xfrm>
          <a:prstGeom prst="ellipse">
            <a:avLst/>
          </a:prstGeom>
          <a:solidFill>
            <a:srgbClr val="13C6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657600"/>
            <a:ext cx="155448" cy="155448"/>
          </a:xfrm>
          <a:prstGeom prst="ellipse">
            <a:avLst/>
          </a:prstGeom>
          <a:solidFill>
            <a:srgbClr val="13C6D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3337560"/>
            <a:ext cx="155448" cy="155448"/>
          </a:xfrm>
          <a:prstGeom prst="ellipse">
            <a:avLst/>
          </a:prstGeom>
          <a:solidFill>
            <a:srgbClr val="6D3C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3154680"/>
            <a:ext cx="155448" cy="155448"/>
          </a:xfrm>
          <a:prstGeom prst="ellipse">
            <a:avLst/>
          </a:prstGeom>
          <a:solidFill>
            <a:srgbClr val="6D3C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834640"/>
            <a:ext cx="155448" cy="155448"/>
          </a:xfrm>
          <a:prstGeom prst="ellipse">
            <a:avLst/>
          </a:prstGeom>
          <a:solidFill>
            <a:srgbClr val="6D3C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606040"/>
            <a:ext cx="155448" cy="155448"/>
          </a:xfrm>
          <a:prstGeom prst="ellipse">
            <a:avLst/>
          </a:prstGeom>
          <a:solidFill>
            <a:srgbClr val="6D3C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2331720"/>
            <a:ext cx="155448" cy="155448"/>
          </a:xfrm>
          <a:prstGeom prst="ellipse">
            <a:avLst/>
          </a:prstGeom>
          <a:solidFill>
            <a:srgbClr val="6D3CC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54315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Área construida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 rot="16200000">
            <a:off x="704088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Habitaciones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43800" y="1481328"/>
            <a:ext cx="3886200" cy="4526280"/>
          </a:xfrm>
          <a:prstGeom prst="roundRect">
            <a:avLst>
              <a:gd name="adj" fmla="val 3765"/>
            </a:avLst>
          </a:prstGeom>
          <a:solidFill>
            <a:srgbClr val="EAF0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1828800"/>
            <a:ext cx="685800" cy="685800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184708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25877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variables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973568" y="3182112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4D"/>
                </a:solidFill>
              </a:rPr>
              <a:t>La relación puede verse en un único diagrama de dispersión.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882128" y="4343400"/>
            <a:ext cx="3246120" cy="1115568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82128" y="4343400"/>
            <a:ext cx="73152" cy="1115568"/>
          </a:xfrm>
          <a:prstGeom prst="rect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3296" y="45079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3C6D7"/>
                </a:solidFill>
              </a:rPr>
              <a:t>INTERPRETACIÓN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83296" y="4764024"/>
            <a:ext cx="286207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A medida que aumenta el área, suele aumentar el número de habitaciones.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k crece, visualizar deja de ser viable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número de pares de variables aumenta rápidamente.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2926080"/>
          </a:xfrm>
          <a:prstGeom prst="roundRect">
            <a:avLst>
              <a:gd name="adj" fmla="val 5000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470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5 variables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3957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3C6D7"/>
                </a:solidFill>
              </a:rPr>
              <a:t>10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97280" y="3364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4D"/>
                </a:solidFill>
              </a:rPr>
              <a:t>diagramas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154680" cy="2926080"/>
          </a:xfrm>
          <a:prstGeom prst="roundRect">
            <a:avLst>
              <a:gd name="adj" fmla="val 5000"/>
            </a:avLst>
          </a:prstGeom>
          <a:solidFill>
            <a:srgbClr val="FDEEEE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8470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20 variables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239572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65A5A"/>
                </a:solidFill>
              </a:rPr>
              <a:t>190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754880" y="3364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4D"/>
                </a:solidFill>
              </a:rPr>
              <a:t>diagramas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2461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011680"/>
            <a:ext cx="457200" cy="384048"/>
          </a:xfrm>
          <a:prstGeom prst="rect">
            <a:avLst/>
          </a:prstGeom>
          <a:solidFill>
            <a:srgbClr val="FFF8E2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16568" y="201168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0576" y="219456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2016" y="213969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63456" y="208483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83496" y="201168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47504" y="219456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38944" y="213969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30384" y="208483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50424" y="201168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14432" y="219456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05872" y="213969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97312" y="208483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251460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13648" y="269748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05088" y="264261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6528" y="258775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16568" y="2514600"/>
            <a:ext cx="457200" cy="384048"/>
          </a:xfrm>
          <a:prstGeom prst="rect">
            <a:avLst/>
          </a:prstGeom>
          <a:solidFill>
            <a:srgbClr val="FFF8E2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83496" y="251460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47504" y="269748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38944" y="264261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30384" y="258775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50424" y="251460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14432" y="269748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05872" y="264261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97312" y="258775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49640" y="301752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13648" y="320040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05088" y="314553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96528" y="309067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16568" y="301752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80576" y="320040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72016" y="314553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63456" y="309067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83496" y="3017520"/>
            <a:ext cx="457200" cy="384048"/>
          </a:xfrm>
          <a:prstGeom prst="rect">
            <a:avLst/>
          </a:prstGeom>
          <a:solidFill>
            <a:srgbClr val="FFF8E2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250424" y="301752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14432" y="320040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405872" y="314553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97312" y="309067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49640" y="352044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13648" y="370332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05088" y="364845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96528" y="359359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16568" y="352044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80576" y="370332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72016" y="364845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63456" y="359359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83496" y="3520440"/>
            <a:ext cx="457200" cy="384048"/>
          </a:xfrm>
          <a:prstGeom prst="rect">
            <a:avLst/>
          </a:prstGeom>
          <a:solidFill>
            <a:srgbClr val="EAF0FF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47504" y="3703320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38944" y="3648456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30384" y="3593592"/>
            <a:ext cx="36576" cy="36576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50424" y="3520440"/>
            <a:ext cx="457200" cy="384048"/>
          </a:xfrm>
          <a:prstGeom prst="rect">
            <a:avLst/>
          </a:prstGeom>
          <a:solidFill>
            <a:srgbClr val="FFF8E2"/>
          </a:solidFill>
          <a:ln w="7620">
            <a:solidFill>
              <a:srgbClr val="DCE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49640" y="409651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Matriz de gráficos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41248" y="4919472"/>
            <a:ext cx="10488168" cy="960120"/>
          </a:xfrm>
          <a:prstGeom prst="roundRect">
            <a:avLst>
              <a:gd name="adj" fmla="val 15238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1248" y="4919472"/>
            <a:ext cx="73152" cy="96012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42416" y="5084064"/>
            <a:ext cx="10122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PROBLEMA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42416" y="5340096"/>
            <a:ext cx="101041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Revisar 190 gráficos no solo es lento: también dificulta encontrar patrones globales y comunicar resultados.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variables pueden contener información redundante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 atributos pueden resumirse mediante factores más generales.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233172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828800"/>
            <a:ext cx="384048" cy="384048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4708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87452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Área construida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233172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834640"/>
            <a:ext cx="384048" cy="384048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85292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28803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Habitaciones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233172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" y="3840480"/>
            <a:ext cx="384048" cy="384048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858768"/>
            <a:ext cx="3840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1328" y="38862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Baños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718304"/>
            <a:ext cx="233172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4828032"/>
            <a:ext cx="347472" cy="347472"/>
          </a:xfrm>
          <a:prstGeom prst="ellipse">
            <a:avLst/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8463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87375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314D"/>
                </a:solidFill>
              </a:rPr>
              <a:t>Escuelas cercanas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495544"/>
            <a:ext cx="2331720" cy="60350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5605272"/>
            <a:ext cx="347472" cy="347472"/>
          </a:xfrm>
          <a:prstGeom prst="ellipse">
            <a:avLst/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623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50992"/>
            <a:ext cx="1399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314D"/>
                </a:solidFill>
              </a:rPr>
              <a:t>Tasa de delito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54680" y="2011680"/>
            <a:ext cx="1828800" cy="1234440"/>
          </a:xfrm>
          <a:prstGeom prst="line">
            <a:avLst/>
          </a:prstGeom>
          <a:noFill/>
          <a:ln w="25400">
            <a:solidFill>
              <a:srgbClr val="13C6D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54680" y="3017520"/>
            <a:ext cx="1828800" cy="228600"/>
          </a:xfrm>
          <a:prstGeom prst="line">
            <a:avLst/>
          </a:prstGeom>
          <a:noFill/>
          <a:ln w="25400">
            <a:solidFill>
              <a:srgbClr val="13C6D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154680" y="4023360"/>
            <a:ext cx="1828800" cy="-777240"/>
          </a:xfrm>
          <a:prstGeom prst="line">
            <a:avLst/>
          </a:prstGeom>
          <a:noFill/>
          <a:ln w="25400">
            <a:solidFill>
              <a:srgbClr val="13C6D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54680" y="5029200"/>
            <a:ext cx="1828800" cy="365760"/>
          </a:xfrm>
          <a:prstGeom prst="line">
            <a:avLst/>
          </a:prstGeom>
          <a:noFill/>
          <a:ln w="25400">
            <a:solidFill>
              <a:srgbClr val="6D3CC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154680" y="5806440"/>
            <a:ext cx="1828800" cy="-411480"/>
          </a:xfrm>
          <a:prstGeom prst="line">
            <a:avLst/>
          </a:prstGeom>
          <a:noFill/>
          <a:ln w="25400">
            <a:solidFill>
              <a:srgbClr val="6D3CC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66360" y="2468880"/>
            <a:ext cx="2651760" cy="1234440"/>
          </a:xfrm>
          <a:prstGeom prst="roundRect">
            <a:avLst>
              <a:gd name="adj" fmla="val 11852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C6D7"/>
                </a:solidFill>
              </a:rPr>
              <a:t>FACTOR 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0175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Tamaño de la casa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5166360" y="4828032"/>
            <a:ext cx="2651760" cy="1051560"/>
          </a:xfrm>
          <a:prstGeom prst="roundRect">
            <a:avLst>
              <a:gd name="adj" fmla="val 13913"/>
            </a:avLst>
          </a:prstGeom>
          <a:solidFill>
            <a:srgbClr val="F2ECFF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5029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CC6"/>
                </a:solidFill>
              </a:rPr>
              <a:t>FACTOR 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Ubicación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8275320" y="1874520"/>
            <a:ext cx="2926080" cy="1143000"/>
          </a:xfrm>
          <a:prstGeom prst="roundRect">
            <a:avLst>
              <a:gd name="adj" fmla="val 12800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1874520"/>
            <a:ext cx="73152" cy="114300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76488" y="2039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PREGUNTA AUTOMÁTICA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76488" y="2295144"/>
            <a:ext cx="254203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¿Podemos construir estos factores sin definirlos manualmente?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75320" y="3337560"/>
            <a:ext cx="2926080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3337560"/>
            <a:ext cx="73152" cy="18745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76488" y="3502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D6"/>
                </a:solidFill>
              </a:rPr>
              <a:t>RESPUESTA DEL CURSO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76488" y="3758184"/>
            <a:ext cx="254203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Sí. PCA y SVD buscan representaciones más compactas a partir de la estructura de los datos.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busca la reducción de dimensionalidad?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dimensiones, pero conservando la estructura informativa de los datos.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5138928" cy="1600200"/>
          </a:xfrm>
          <a:prstGeom prst="roundRect">
            <a:avLst>
              <a:gd name="adj" fmla="val 9143"/>
            </a:avLst>
          </a:prstGeom>
          <a:solidFill>
            <a:srgbClr val="EAF0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029968"/>
            <a:ext cx="621792" cy="62179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48256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Reducir complejidad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314D"/>
                </a:solidFill>
              </a:rPr>
              <a:t>Trabajar con menos variables o factores.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1600200"/>
            <a:ext cx="5138928" cy="1600200"/>
          </a:xfrm>
          <a:prstGeom prst="roundRect">
            <a:avLst>
              <a:gd name="adj" fmla="val 9143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6248" y="2029968"/>
            <a:ext cx="621792" cy="621792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2048256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Mantener interpretabilidad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60920" y="23774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314D"/>
                </a:solidFill>
              </a:rPr>
              <a:t>Construir dimensiones que puedan explicarse.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3611880"/>
            <a:ext cx="5138928" cy="1600200"/>
          </a:xfrm>
          <a:prstGeom prst="roundRect">
            <a:avLst>
              <a:gd name="adj" fmla="val 9143"/>
            </a:avLst>
          </a:prstGeom>
          <a:solidFill>
            <a:srgbClr val="F2ECFF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4041648"/>
            <a:ext cx="621792" cy="621792"/>
          </a:xfrm>
          <a:prstGeom prst="ellipse">
            <a:avLst/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059936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Minimizar pérdida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3891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314D"/>
                </a:solidFill>
              </a:rPr>
              <a:t>Conservar la mayor información posible.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81928" y="3611880"/>
            <a:ext cx="5138928" cy="1600200"/>
          </a:xfrm>
          <a:prstGeom prst="roundRect">
            <a:avLst>
              <a:gd name="adj" fmla="val 9143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6248" y="4041648"/>
            <a:ext cx="621792" cy="621792"/>
          </a:xfrm>
          <a:prstGeom prst="ellipse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4059936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Facilitar análisis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43891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314D"/>
                </a:solidFill>
              </a:rPr>
              <a:t>Visualizar, comparar y comunicar mejor.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1248" y="5596128"/>
            <a:ext cx="10515600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596128"/>
            <a:ext cx="73152" cy="658368"/>
          </a:xfrm>
          <a:prstGeom prst="rect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5760720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A179"/>
                </a:solidFill>
              </a:rPr>
              <a:t>PRINCIPIO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6016752"/>
            <a:ext cx="1013155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La mejor representación reducida no es la que elimina más variables, sino la que conserva la información útil con el menor número de dimensiones.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PCA: construir componentes que maximicen la varianza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análisis de componentes principales crea combinaciones lineales de las variables originales.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527048"/>
            <a:ext cx="507492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Componente principal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2496312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57D6"/>
                </a:solidFill>
              </a:rPr>
              <a:t>PC₁ = δ₁X₁ + δ₂X₂ + ... + δₖXₖ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3000" y="3218688"/>
            <a:ext cx="40233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1314D"/>
                </a:solidFill>
              </a:rPr>
              <a:t>Los pesos δ indican cuánto aporta cada variable al componente.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78992" y="4279392"/>
            <a:ext cx="4270248" cy="1051560"/>
          </a:xfrm>
          <a:prstGeom prst="roundRect">
            <a:avLst>
              <a:gd name="adj" fmla="val 13913"/>
            </a:avLst>
          </a:prstGeom>
          <a:solidFill>
            <a:srgbClr val="EAF0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4279392"/>
            <a:ext cx="73152" cy="105156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443984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D6"/>
                </a:solidFill>
              </a:rPr>
              <a:t>OBJETIVO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4700016"/>
            <a:ext cx="38862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Encontrar los pesos que maximizan la varianza, para preservar la mayor información posible.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527048"/>
            <a:ext cx="5303520" cy="4434840"/>
          </a:xfrm>
          <a:prstGeom prst="roundRect">
            <a:avLst>
              <a:gd name="adj" fmla="val 3299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Idea geométrica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66560" y="5166360"/>
            <a:ext cx="3931920" cy="0"/>
          </a:xfrm>
          <a:prstGeom prst="line">
            <a:avLst/>
          </a:prstGeom>
          <a:noFill/>
          <a:ln w="12700">
            <a:solidFill>
              <a:srgbClr val="21314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5166360"/>
            <a:ext cx="0" cy="-2651760"/>
          </a:xfrm>
          <a:prstGeom prst="line">
            <a:avLst/>
          </a:prstGeom>
          <a:noFill/>
          <a:ln w="12700">
            <a:solidFill>
              <a:srgbClr val="2131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32320" y="475488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448056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34340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406908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388620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370332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347472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329184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297180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0" y="2788920"/>
            <a:ext cx="128016" cy="128016"/>
          </a:xfrm>
          <a:prstGeom prst="ellipse">
            <a:avLst/>
          </a:prstGeom>
          <a:solidFill>
            <a:srgbClr val="6D3CC6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4800600"/>
            <a:ext cx="3246120" cy="-2148840"/>
          </a:xfrm>
          <a:prstGeom prst="line">
            <a:avLst/>
          </a:prstGeom>
          <a:noFill/>
          <a:ln w="50800">
            <a:solidFill>
              <a:srgbClr val="F3B61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726680" y="2267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dirección de mayor variación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Interpretar un componente a partir de sus pesos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pesos altos revelan qué variables definen el significado del factor.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517904"/>
            <a:ext cx="672084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Peso relativo en el componente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Área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31720" y="2359152"/>
            <a:ext cx="4389120" cy="201168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2359152"/>
            <a:ext cx="3774643" cy="201168"/>
          </a:xfrm>
          <a:prstGeom prst="roundRect">
            <a:avLst>
              <a:gd name="adj" fmla="val 50000"/>
            </a:avLst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3317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86%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29718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Habitaciones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31720" y="2999232"/>
            <a:ext cx="4389120" cy="201168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2999232"/>
            <a:ext cx="3511296" cy="201168"/>
          </a:xfrm>
          <a:prstGeom prst="roundRect">
            <a:avLst>
              <a:gd name="adj" fmla="val 50000"/>
            </a:avLst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9718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80%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Baños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331720" y="3639312"/>
            <a:ext cx="4389120" cy="201168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3639312"/>
            <a:ext cx="3160166" cy="201168"/>
          </a:xfrm>
          <a:prstGeom prst="roundRect">
            <a:avLst>
              <a:gd name="adj" fmla="val 50000"/>
            </a:avLst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6118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72%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" y="42519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Escuelas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31720" y="4279392"/>
            <a:ext cx="4389120" cy="201168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4279392"/>
            <a:ext cx="790042" cy="201168"/>
          </a:xfrm>
          <a:prstGeom prst="roundRect">
            <a:avLst>
              <a:gd name="adj" fmla="val 50000"/>
            </a:avLst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51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18%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48920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Delito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331720" y="4919472"/>
            <a:ext cx="4389120" cy="201168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4919472"/>
            <a:ext cx="438912" cy="201168"/>
          </a:xfrm>
          <a:prstGeom prst="roundRect">
            <a:avLst>
              <a:gd name="adj" fmla="val 50000"/>
            </a:avLst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892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67085"/>
                </a:solidFill>
              </a:rPr>
              <a:t>10%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1517904"/>
            <a:ext cx="3584448" cy="2057400"/>
          </a:xfrm>
          <a:prstGeom prst="roundRect">
            <a:avLst>
              <a:gd name="adj" fmla="val 7111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C6D7"/>
                </a:solidFill>
              </a:rPr>
              <a:t>Interpretación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83880" y="2350008"/>
            <a:ext cx="285292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314D"/>
                </a:solidFill>
              </a:rPr>
              <a:t>El componente captura principalmente atributos asociados al tamaño de la vivienda.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818120" y="3931920"/>
            <a:ext cx="3584448" cy="2103120"/>
          </a:xfrm>
          <a:prstGeom prst="roundRect">
            <a:avLst>
              <a:gd name="adj" fmla="val 6957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3931920"/>
            <a:ext cx="73152" cy="210312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4096512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CUIDADO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19288" y="4352544"/>
            <a:ext cx="320040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Un componente no recibe un nombre automáticamente. La interpretación surge al revisar los pesos de las variables.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SVD: factorizar la matriz original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descomposición en valores singulares expresa X como el producto de tres matrices.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337560" y="15727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57D6"/>
                </a:solidFill>
              </a:rPr>
              <a:t>X = U · S · Vᵀ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051560" y="2542032"/>
            <a:ext cx="306324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29077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C6D7"/>
                </a:solidFill>
              </a:rPr>
              <a:t>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2423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314D"/>
                </a:solidFill>
              </a:rPr>
              <a:t>direcciones en observaciones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7024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085"/>
                </a:solidFill>
              </a:rPr>
              <a:t>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800600" y="2542032"/>
            <a:ext cx="306324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29077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3B61F"/>
                </a:solidFill>
              </a:rPr>
              <a:t>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20640" y="3794760"/>
            <a:ext cx="2423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314D"/>
                </a:solidFill>
              </a:rPr>
              <a:t>valores singulares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19288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7085"/>
                </a:solidFill>
              </a:rPr>
              <a:t>×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49640" y="2542032"/>
            <a:ext cx="306324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29077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D3CC6"/>
                </a:solidFill>
              </a:rPr>
              <a:t>Vᵀ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3794760"/>
            <a:ext cx="2423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314D"/>
                </a:solidFill>
              </a:rPr>
              <a:t>direcciones en variables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3000" y="5413248"/>
            <a:ext cx="9921240" cy="685800"/>
          </a:xfrm>
          <a:prstGeom prst="roundRect">
            <a:avLst>
              <a:gd name="adj" fmla="val 21333"/>
            </a:avLst>
          </a:prstGeom>
          <a:solidFill>
            <a:srgbClr val="F2ECFF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5413248"/>
            <a:ext cx="73152" cy="685800"/>
          </a:xfrm>
          <a:prstGeom prst="rect">
            <a:avLst/>
          </a:prstGeom>
          <a:solidFill>
            <a:srgbClr val="6D3CC6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5577840"/>
            <a:ext cx="9555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3CC6"/>
                </a:solidFill>
              </a:rPr>
              <a:t>INTUICIÓN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44168" y="5833872"/>
            <a:ext cx="953719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Si conservamos solo los valores singulares más importantes, podemos aproximar X usando muchos menos elementos.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SVD en imágenes: menos valores, más compresión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imagen en escala de grises puede representarse como una matriz de intensidades.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3429000" cy="43434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830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2 valores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27632" y="2331720"/>
            <a:ext cx="1600200" cy="160020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BFC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2148840"/>
            <a:ext cx="594360" cy="731520"/>
          </a:xfrm>
          <a:prstGeom prst="ellipse">
            <a:avLst/>
          </a:prstGeom>
          <a:solidFill>
            <a:srgbClr val="1D2430">
              <a:alpha val="25000"/>
            </a:srgbClr>
          </a:solidFill>
          <a:ln w="12700">
            <a:solidFill>
              <a:srgbClr val="1D2430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0632" y="2148840"/>
            <a:ext cx="594360" cy="731520"/>
          </a:xfrm>
          <a:prstGeom prst="ellipse">
            <a:avLst/>
          </a:prstGeom>
          <a:solidFill>
            <a:srgbClr val="1D2430">
              <a:alpha val="25000"/>
            </a:srgbClr>
          </a:solidFill>
          <a:ln w="12700">
            <a:solidFill>
              <a:srgbClr val="1D243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697480"/>
            <a:ext cx="411480" cy="502920"/>
          </a:xfrm>
          <a:prstGeom prst="ellipse">
            <a:avLst/>
          </a:prstGeom>
          <a:solidFill>
            <a:srgbClr val="1D2430">
              <a:alpha val="25000"/>
            </a:srgbClr>
          </a:solidFill>
          <a:ln w="12700">
            <a:solidFill>
              <a:srgbClr val="1D2430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2697480"/>
            <a:ext cx="411480" cy="502920"/>
          </a:xfrm>
          <a:prstGeom prst="ellipse">
            <a:avLst/>
          </a:prstGeom>
          <a:solidFill>
            <a:srgbClr val="1D2430">
              <a:alpha val="25000"/>
            </a:srgbClr>
          </a:solidFill>
          <a:ln w="12700">
            <a:solidFill>
              <a:srgbClr val="1D2430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9424" y="3154680"/>
            <a:ext cx="347472" cy="256032"/>
          </a:xfrm>
          <a:prstGeom prst="ellipse">
            <a:avLst/>
          </a:prstGeom>
          <a:solidFill>
            <a:srgbClr val="1D2430">
              <a:alpha val="25000"/>
            </a:srgbClr>
          </a:solidFill>
          <a:ln w="12700">
            <a:solidFill>
              <a:srgbClr val="1D2430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24528"/>
            <a:ext cx="26517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314D"/>
                </a:solidFill>
              </a:rPr>
              <a:t>Muy poca información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35424" y="1508760"/>
            <a:ext cx="3429000" cy="43434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7830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5 valores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49824" y="2331720"/>
            <a:ext cx="1600200" cy="160020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BFC7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2148840"/>
            <a:ext cx="594360" cy="731520"/>
          </a:xfrm>
          <a:prstGeom prst="ellipse">
            <a:avLst/>
          </a:prstGeom>
          <a:solidFill>
            <a:srgbClr val="1D2430">
              <a:alpha val="65000"/>
            </a:srgbClr>
          </a:solidFill>
          <a:ln w="12700">
            <a:solidFill>
              <a:srgbClr val="1D2430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2824" y="2148840"/>
            <a:ext cx="594360" cy="731520"/>
          </a:xfrm>
          <a:prstGeom prst="ellipse">
            <a:avLst/>
          </a:prstGeom>
          <a:solidFill>
            <a:srgbClr val="1D2430">
              <a:alpha val="65000"/>
            </a:srgbClr>
          </a:solidFill>
          <a:ln w="12700">
            <a:solidFill>
              <a:srgbClr val="1D2430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2697480"/>
            <a:ext cx="411480" cy="502920"/>
          </a:xfrm>
          <a:prstGeom prst="ellipse">
            <a:avLst/>
          </a:prstGeom>
          <a:solidFill>
            <a:srgbClr val="1D2430">
              <a:alpha val="65000"/>
            </a:srgbClr>
          </a:solidFill>
          <a:ln w="12700">
            <a:solidFill>
              <a:srgbClr val="1D2430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2697480"/>
            <a:ext cx="411480" cy="502920"/>
          </a:xfrm>
          <a:prstGeom prst="ellipse">
            <a:avLst/>
          </a:prstGeom>
          <a:solidFill>
            <a:srgbClr val="1D2430">
              <a:alpha val="65000"/>
            </a:srgbClr>
          </a:solidFill>
          <a:ln w="12700">
            <a:solidFill>
              <a:srgbClr val="1D2430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3154680"/>
            <a:ext cx="347472" cy="256032"/>
          </a:xfrm>
          <a:prstGeom prst="ellipse">
            <a:avLst/>
          </a:prstGeom>
          <a:solidFill>
            <a:srgbClr val="1D2430">
              <a:alpha val="65000"/>
            </a:srgbClr>
          </a:solidFill>
          <a:ln w="12700">
            <a:solidFill>
              <a:srgbClr val="1D2430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4224528"/>
            <a:ext cx="26517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314D"/>
                </a:solidFill>
              </a:rPr>
              <a:t>La figura comienza a verse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57616" y="1508760"/>
            <a:ext cx="3429000" cy="4343400"/>
          </a:xfrm>
          <a:prstGeom prst="roundRect">
            <a:avLst>
              <a:gd name="adj" fmla="val 4267"/>
            </a:avLst>
          </a:prstGeom>
          <a:solidFill>
            <a:srgbClr val="EAF8F3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23376" y="17830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A179"/>
                </a:solidFill>
              </a:rPr>
              <a:t>18 valores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9272016" y="2331720"/>
            <a:ext cx="1600200" cy="160020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BFC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56" y="2148840"/>
            <a:ext cx="594360" cy="731520"/>
          </a:xfrm>
          <a:prstGeom prst="ellipse">
            <a:avLst/>
          </a:prstGeom>
          <a:solidFill>
            <a:srgbClr val="1D2430">
              <a:alpha val="95000"/>
            </a:srgbClr>
          </a:solidFill>
          <a:ln w="12700">
            <a:solidFill>
              <a:srgbClr val="1D2430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15016" y="2148840"/>
            <a:ext cx="594360" cy="731520"/>
          </a:xfrm>
          <a:prstGeom prst="ellipse">
            <a:avLst/>
          </a:prstGeom>
          <a:solidFill>
            <a:srgbClr val="1D2430">
              <a:alpha val="95000"/>
            </a:srgbClr>
          </a:solidFill>
          <a:ln w="12700">
            <a:solidFill>
              <a:srgbClr val="1D2430">
                <a:alpha val="9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73184" y="2697480"/>
            <a:ext cx="411480" cy="502920"/>
          </a:xfrm>
          <a:prstGeom prst="ellipse">
            <a:avLst/>
          </a:prstGeom>
          <a:solidFill>
            <a:srgbClr val="1D2430">
              <a:alpha val="95000"/>
            </a:srgbClr>
          </a:solidFill>
          <a:ln w="12700">
            <a:solidFill>
              <a:srgbClr val="1D2430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50424" y="2697480"/>
            <a:ext cx="411480" cy="502920"/>
          </a:xfrm>
          <a:prstGeom prst="ellipse">
            <a:avLst/>
          </a:prstGeom>
          <a:solidFill>
            <a:srgbClr val="1D2430">
              <a:alpha val="95000"/>
            </a:srgbClr>
          </a:solidFill>
          <a:ln w="12700">
            <a:solidFill>
              <a:srgbClr val="1D2430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3808" y="3154680"/>
            <a:ext cx="347472" cy="256032"/>
          </a:xfrm>
          <a:prstGeom prst="ellipse">
            <a:avLst/>
          </a:prstGeom>
          <a:solidFill>
            <a:srgbClr val="1D2430">
              <a:alpha val="95000"/>
            </a:srgbClr>
          </a:solidFill>
          <a:ln w="12700">
            <a:solidFill>
              <a:srgbClr val="1D2430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41664" y="4224528"/>
            <a:ext cx="26517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314D"/>
                </a:solidFill>
              </a:rPr>
              <a:t>Más del 99% recuperado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68680" y="5989320"/>
            <a:ext cx="10469880" cy="502920"/>
          </a:xfrm>
          <a:prstGeom prst="roundRect">
            <a:avLst>
              <a:gd name="adj" fmla="val 29091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5989320"/>
            <a:ext cx="73152" cy="50292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6153912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LECTURA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" y="6409944"/>
            <a:ext cx="10085832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Aumentar el número de valores singulares mejora la reconstrucción, pero reduce el nivel de compresión.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PCA y SVD: dos caminos hacia una representación compacta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 técnicas reducen dimensión, pero parten de formulaciones distintas.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27048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Aspecto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80360" y="1527048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13C6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691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527048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6D3C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691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SVD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185416"/>
            <a:ext cx="219456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50008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Idea central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80360" y="2185416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350008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Combinaciones lineales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040880" y="2185416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2350008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Factorización matricial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" y="2935224"/>
            <a:ext cx="2194560" cy="749808"/>
          </a:xfrm>
          <a:prstGeom prst="rect">
            <a:avLst/>
          </a:prstGeom>
          <a:solidFill>
            <a:srgbClr val="F9FBFE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099816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Criterio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880360" y="2935224"/>
            <a:ext cx="4160520" cy="749808"/>
          </a:xfrm>
          <a:prstGeom prst="rect">
            <a:avLst/>
          </a:prstGeom>
          <a:solidFill>
            <a:srgbClr val="F9FBFE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3099816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Maximizar varianza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040880" y="2935224"/>
            <a:ext cx="4160520" cy="749808"/>
          </a:xfrm>
          <a:prstGeom prst="rect">
            <a:avLst/>
          </a:prstGeom>
          <a:solidFill>
            <a:srgbClr val="F9FBFE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3099816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Conservar valores singulares principales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85800" y="3685032"/>
            <a:ext cx="219456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849624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Salida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80360" y="3685032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3849624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Componentes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40880" y="3685032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3849624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Matrices U, S y Vᵀ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85800" y="4434840"/>
            <a:ext cx="2194560" cy="749808"/>
          </a:xfrm>
          <a:prstGeom prst="rect">
            <a:avLst/>
          </a:prstGeom>
          <a:solidFill>
            <a:srgbClr val="F9FBFE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4599432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Interpretación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880360" y="4434840"/>
            <a:ext cx="4160520" cy="749808"/>
          </a:xfrm>
          <a:prstGeom prst="rect">
            <a:avLst/>
          </a:prstGeom>
          <a:solidFill>
            <a:srgbClr val="F9FBFE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4599432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Pesos por variable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7040880" y="4434840"/>
            <a:ext cx="4160520" cy="749808"/>
          </a:xfrm>
          <a:prstGeom prst="rect">
            <a:avLst/>
          </a:prstGeom>
          <a:solidFill>
            <a:srgbClr val="F9FBFE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0608" y="4599432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Importancia de valores singulares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685800" y="5184648"/>
            <a:ext cx="219456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5349240"/>
            <a:ext cx="197510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314D"/>
                </a:solidFill>
              </a:rPr>
              <a:t>Ejemplo del video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880360" y="5184648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0088" y="5349240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Factores de vivienda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7040880" y="5184648"/>
            <a:ext cx="4160520" cy="749808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0608" y="5349240"/>
            <a:ext cx="39410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21314D"/>
                </a:solidFill>
              </a:rPr>
              <a:t>Compresión de imagen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Proceso general para reducir dimensionalidad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secuencia simple para aplicar las técnicas correctamente.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600200" cy="288036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121408"/>
            <a:ext cx="548640" cy="548640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90779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Definir 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474720"/>
            <a:ext cx="12710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Observaciones × variables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30552" y="2944368"/>
            <a:ext cx="182880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828800"/>
            <a:ext cx="1600200" cy="2880360"/>
          </a:xfrm>
          <a:prstGeom prst="roundRect">
            <a:avLst>
              <a:gd name="adj" fmla="val 9143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2121408"/>
            <a:ext cx="548640" cy="548640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87752" y="290779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Revisar 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87752" y="3474720"/>
            <a:ext cx="12710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Identificar alta dimensionalidad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50792" y="2944368"/>
            <a:ext cx="182880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828800"/>
            <a:ext cx="1600200" cy="288036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2121408"/>
            <a:ext cx="548640" cy="548640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07992" y="290779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Preparar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07992" y="3474720"/>
            <a:ext cx="12710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Escalas y estructura de datos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71032" y="2944368"/>
            <a:ext cx="182880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828800"/>
            <a:ext cx="1600200" cy="2880360"/>
          </a:xfrm>
          <a:prstGeom prst="roundRect">
            <a:avLst>
              <a:gd name="adj" fmla="val 9143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2121408"/>
            <a:ext cx="548640" cy="548640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8232" y="290779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Aplicar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28232" y="3474720"/>
            <a:ext cx="12710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PCA o SVD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91272" y="2944368"/>
            <a:ext cx="182880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1828800"/>
            <a:ext cx="1600200" cy="288036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05088" y="2121408"/>
            <a:ext cx="548640" cy="548640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48472" y="290779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Seleccionar j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48472" y="3474720"/>
            <a:ext cx="12710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Número de componentes o valores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811512" y="2944368"/>
            <a:ext cx="182880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04120" y="1828800"/>
            <a:ext cx="1600200" cy="2880360"/>
          </a:xfrm>
          <a:prstGeom prst="roundRect">
            <a:avLst>
              <a:gd name="adj" fmla="val 9143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25328" y="2121408"/>
            <a:ext cx="548640" cy="548640"/>
          </a:xfrm>
          <a:prstGeom prst="ellipse">
            <a:avLst/>
          </a:prstGeom>
          <a:solidFill>
            <a:srgbClr val="13C6D7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25328" y="213969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68712" y="290779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Interpretar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268712" y="3474720"/>
            <a:ext cx="12710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314D"/>
                </a:solidFill>
              </a:rPr>
              <a:t>Información preservada y significado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4400" y="5349240"/>
            <a:ext cx="10332720" cy="777240"/>
          </a:xfrm>
          <a:prstGeom prst="roundRect">
            <a:avLst>
              <a:gd name="adj" fmla="val 18824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5349240"/>
            <a:ext cx="73152" cy="77724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51383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DECISIÓN CLAVE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" y="5769864"/>
            <a:ext cx="994867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El número reducido j debe equilibrar compresión e información conservada.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al interpretar reducción de dimensión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Reducir no significa eliminar información sin criterio.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536192"/>
            <a:ext cx="516636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73152" cy="1600200"/>
          </a:xfrm>
          <a:prstGeom prst="rect">
            <a:avLst/>
          </a:prstGeom>
          <a:solidFill>
            <a:srgbClr val="E65A5A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078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A5A"/>
                </a:solidFill>
              </a:rPr>
              <a:t>ERROR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956816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Confundir n con 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La dimensionalidad se refiere al número de variables, no al número de observaciones.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536192"/>
            <a:ext cx="5166360" cy="1600200"/>
          </a:xfrm>
          <a:prstGeom prst="roundRect">
            <a:avLst>
              <a:gd name="adj" fmla="val 9143"/>
            </a:avLst>
          </a:prstGeom>
          <a:solidFill>
            <a:srgbClr val="FDEEEE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536192"/>
            <a:ext cx="73152" cy="1600200"/>
          </a:xfrm>
          <a:prstGeom prst="rect">
            <a:avLst/>
          </a:prstGeom>
          <a:solidFill>
            <a:srgbClr val="E65A5A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0078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A5A"/>
                </a:solidFill>
              </a:rPr>
              <a:t>ERROR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92240" y="1956816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Reducir demasiado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Usar muy pocos componentes puede perder estructura importante.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502152"/>
            <a:ext cx="516636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502152"/>
            <a:ext cx="73152" cy="1600200"/>
          </a:xfrm>
          <a:prstGeom prst="rect">
            <a:avLst/>
          </a:prstGeom>
          <a:solidFill>
            <a:srgbClr val="E65A5A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6674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A5A"/>
                </a:solidFill>
              </a:rPr>
              <a:t>ERROR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922776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No interpretar pesos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En PCA, los pesos ayudan a explicar qué representa cada componente.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3502152"/>
            <a:ext cx="5166360" cy="1600200"/>
          </a:xfrm>
          <a:prstGeom prst="roundRect">
            <a:avLst>
              <a:gd name="adj" fmla="val 9143"/>
            </a:avLst>
          </a:prstGeom>
          <a:solidFill>
            <a:srgbClr val="FDEEEE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3502152"/>
            <a:ext cx="73152" cy="1600200"/>
          </a:xfrm>
          <a:prstGeom prst="rect">
            <a:avLst/>
          </a:prstGeom>
          <a:solidFill>
            <a:srgbClr val="E65A5A"/>
          </a:solidFill>
          <a:ln w="12700">
            <a:solidFill>
              <a:srgbClr val="E65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6674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A5A"/>
                </a:solidFill>
              </a:rPr>
              <a:t>ERROR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3922776"/>
            <a:ext cx="47823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Asumir que más siempre es mejor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Más componentes recuperan información, pero reducen la compresión.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" y="5559552"/>
            <a:ext cx="10469880" cy="658368"/>
          </a:xfrm>
          <a:prstGeom prst="roundRect">
            <a:avLst>
              <a:gd name="adj" fmla="val 22222"/>
            </a:avLst>
          </a:prstGeom>
          <a:solidFill>
            <a:srgbClr val="EAF8F3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559552"/>
            <a:ext cx="73152" cy="658368"/>
          </a:xfrm>
          <a:prstGeom prst="rect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5724144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A179"/>
                </a:solidFill>
              </a:rPr>
              <a:t>PARA RECORDAR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5980176"/>
            <a:ext cx="100858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El objetivo no es alcanzar la menor dimensión posible, sino encontrar la menor dimensión que todavía preserve información suficiente.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repaso · Parte 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la opción correcta antes de revisar las respuestas.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81328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727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1. En una matriz n × k, ¿qué representa k?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87552" y="18470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1314D"/>
                </a:solidFill>
              </a:rPr>
              <a:t>A. Observaciones  B. Variables  C. Errores  D. Clústeres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10287000" y="169164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41864" y="1741932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414016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EAF0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0545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2. ¿Cuántos pares de variables hay con 5 atributos?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7552" y="277977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1314D"/>
                </a:solidFill>
              </a:rPr>
              <a:t>A. 5  B. 8  C. 10  D. 25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10287000" y="26243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41864" y="26746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3346704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3814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3. ¿Qué busca PCA?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7552" y="371246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1314D"/>
                </a:solidFill>
              </a:rPr>
              <a:t>A. Minimizar n  B. Maximizar varianza  C. Crear etiquetas  D. Eliminar filas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0287000" y="35570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41864" y="360730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4279392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EAF0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3708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4. ¿Qué matriz contiene los valores singulares?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7552" y="46451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1314D"/>
                </a:solidFill>
              </a:rPr>
              <a:t>A. U  B. X  C. V  D. 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10287000" y="448970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41864" y="4539996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5212080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5303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5. ¿Qué ocurre al usar muy pocos valores singulares?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87552" y="5577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1314D"/>
                </a:solidFill>
              </a:rPr>
              <a:t>A. Se pierde información  B. Aumenta k  C. Se crean etiquetas  D. No cambia nada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10287000" y="542239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41864" y="547268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de repaso · Parte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Comprueba comprensión conceptual e interpretación.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81328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72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6. ¿Por qué 20 variables dificultan el análisis visual?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987552" y="18470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1314D"/>
                </a:solidFill>
              </a:rPr>
              <a:t>A. Generan 190 pares  B. No tienen filas  C. Eliminan varianza  D. No admiten matrices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10287000" y="169164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41864" y="1741932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414016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2EC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50545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7. Si área, habitaciones y baños tienen pesos altos, el factor puede representar: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987552" y="277977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1314D"/>
                </a:solidFill>
              </a:rPr>
              <a:t>A. Delito  B. Ubicación  C. Tamaño  D. Tiempo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10287000" y="26243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41864" y="26746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3346704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3814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8. ¿Qué técnica factoriza X en U, S y Vᵀ?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87552" y="371246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1314D"/>
                </a:solidFill>
              </a:rPr>
              <a:t>A. PCA  B. SVD  C. Clustering  D. Regresión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10287000" y="3557016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41864" y="3607308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4279392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2EC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3708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9. En el ejemplo, 18 valores singulares permiten: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87552" y="46451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1314D"/>
                </a:solidFill>
              </a:rPr>
              <a:t>A. Perder el panda  B. Recuperar &gt;99%  C. Crear 18 casas  D. Aumentar variables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10287000" y="4489704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41864" y="4539996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5212080"/>
            <a:ext cx="1069848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5303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1F3A"/>
                </a:solidFill>
              </a:rPr>
              <a:t>10. La mejor reducción equilibra: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87552" y="55778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1314D"/>
                </a:solidFill>
              </a:rPr>
              <a:t>A. Filas y columnas  B. Compresión e información  C. Etiquetas y errores  D. Riesgo y crédito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10287000" y="542239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AF8F3"/>
          </a:solidFill>
          <a:ln w="12700">
            <a:solidFill>
              <a:srgbClr val="EAF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41864" y="5472684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179"/>
                </a:solidFill>
              </a:rPr>
              <a:t>R: 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taller práctico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una representación conceptual reducida para un conjunto de viviendas.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63040"/>
            <a:ext cx="10698480" cy="914400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73152" cy="91440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627632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D6"/>
                </a:solidFill>
              </a:rPr>
              <a:t>ENUNCIADO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50976" y="1883664"/>
            <a:ext cx="103144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Una base contiene: área, habitaciones, baños, escuelas cercanas y tasa de delito. Propón cómo podrían resumirse en dos factores.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3246120" cy="2240280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718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Paso 1 · Agrupar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9848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1314D"/>
                </a:solidFill>
              </a:rPr>
              <a:t>Identifica variables que describen una misma característica.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434840" y="2697480"/>
            <a:ext cx="3246120" cy="2240280"/>
          </a:xfrm>
          <a:prstGeom prst="roundRect">
            <a:avLst>
              <a:gd name="adj" fmla="val 6531"/>
            </a:avLst>
          </a:prstGeom>
          <a:solidFill>
            <a:srgbClr val="E8FBFD"/>
          </a:solidFill>
          <a:ln w="12700">
            <a:solidFill>
              <a:srgbClr val="13C6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9718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Paso 2 · Nombrar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1314D"/>
                </a:solidFill>
              </a:rPr>
              <a:t>Propón un nombre interpretable para cada factor.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119872" y="2697480"/>
            <a:ext cx="3246120" cy="2240280"/>
          </a:xfrm>
          <a:prstGeom prst="roundRect">
            <a:avLst>
              <a:gd name="adj" fmla="val 653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29718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Paso 3 · Justificar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9912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1314D"/>
                </a:solidFill>
              </a:rPr>
              <a:t>Explica qué variables deberían recibir mayor peso.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22960" y="5303520"/>
            <a:ext cx="10515600" cy="822960"/>
          </a:xfrm>
          <a:prstGeom prst="roundRect">
            <a:avLst>
              <a:gd name="adj" fmla="val 17778"/>
            </a:avLst>
          </a:prstGeom>
          <a:solidFill>
            <a:srgbClr val="EAF8F3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303520"/>
            <a:ext cx="73152" cy="822960"/>
          </a:xfrm>
          <a:prstGeom prst="rect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46811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A179"/>
                </a:solidFill>
              </a:rPr>
              <a:t>SOLUCIÓN ESPERADA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" y="5724144"/>
            <a:ext cx="101315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Factor 1: tamaño (área, habitaciones, baños). Factor 2: ubicación (escuelas y delito). PCA podría construirlos automáticamente mediante pesos.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760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visual y checklist final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101498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esencial del video en una sola página.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87452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4708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X n×k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224028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Datos originales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04872" y="19659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572768"/>
            <a:ext cx="187452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184708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k grande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53512" y="224028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Alta dimensión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19659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572768"/>
            <a:ext cx="1874520" cy="1097280"/>
          </a:xfrm>
          <a:prstGeom prst="roundRect">
            <a:avLst>
              <a:gd name="adj" fmla="val 13333"/>
            </a:avLst>
          </a:prstGeom>
          <a:solidFill>
            <a:srgbClr val="F2ECFF"/>
          </a:solidFill>
          <a:ln w="12700">
            <a:solidFill>
              <a:srgbClr val="6D3C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84708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3CC6"/>
                </a:solidFill>
              </a:rPr>
              <a:t>PCA / SVD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39512" y="224028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Reducción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76872" y="19659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1572768"/>
            <a:ext cx="187452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184708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j &lt; 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25512" y="224028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Representación compacta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62872" y="1965960"/>
            <a:ext cx="219456" cy="310896"/>
          </a:xfrm>
          <a:prstGeom prst="chevron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572768"/>
            <a:ext cx="187452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1512" y="184708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Interpretar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2240280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Información preservada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3200400"/>
            <a:ext cx="292608" cy="29260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21868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07592" y="32186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Entiendo qué representan n y k.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3703320"/>
            <a:ext cx="292608" cy="29260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72160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7592" y="37216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Puedo explicar por qué 20 variables generan 190 pares.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" y="4206240"/>
            <a:ext cx="292608" cy="29260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22452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07592" y="42245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Sé describir la idea de PCA.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72744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07592" y="47274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Reconozco la factorización X = U·S·Vᵀ.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68680" y="5212080"/>
            <a:ext cx="292608" cy="29260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230368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07592" y="523036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Puedo explicar el equilibrio entre compresión e información.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812280" y="3182112"/>
            <a:ext cx="4343400" cy="2331720"/>
          </a:xfrm>
          <a:prstGeom prst="roundRect">
            <a:avLst>
              <a:gd name="adj" fmla="val 6275"/>
            </a:avLst>
          </a:prstGeom>
          <a:solidFill>
            <a:srgbClr val="FFF8E2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3182112"/>
            <a:ext cx="73152" cy="2331720"/>
          </a:xfrm>
          <a:prstGeom prst="rect">
            <a:avLst/>
          </a:prstGeom>
          <a:solidFill>
            <a:srgbClr val="F3B61F"/>
          </a:solidFill>
          <a:ln w="12700">
            <a:solidFill>
              <a:srgbClr val="F3B6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13448" y="33467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B61F"/>
                </a:solidFill>
              </a:rPr>
              <a:t>IDEA DE CIERRE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13448" y="3602736"/>
            <a:ext cx="39593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314D"/>
                </a:solidFill>
              </a:rPr>
              <a:t>Reducir dimensionalidad significa encontrar una representación más simple que conserve la estructura esencial de los datos.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MIAD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reducción de dimensionalidad</dc:title>
  <dc:subject>Guía visual MIID 4303</dc:subject>
  <dc:creator>OpenAI</dc:creator>
  <cp:lastModifiedBy>OpenAI</cp:lastModifiedBy>
  <cp:revision>1</cp:revision>
  <dcterms:created xsi:type="dcterms:W3CDTF">2026-08-04T02:27:39Z</dcterms:created>
  <dcterms:modified xsi:type="dcterms:W3CDTF">2026-08-04T02:27:39Z</dcterms:modified>
</cp:coreProperties>
</file>