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C4DA"/>
                </a:solidFill>
                <a:latin typeface="Aptos Display"/>
              </a:rPr>
              <a:t>MIID 4303 · SISTEMAS DE RECOMENDACIÓN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98448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 Display"/>
              </a:rPr>
              <a:t>Recomendar con texto
Bag of Words, TF–IDF y 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7E4EE"/>
                </a:solidFill>
                <a:latin typeface="Aptos"/>
              </a:rPr>
              <a:t>Del arranque frío a los tópicos latentes: cómo convertir lenguaje en vectores, descubrir temas y decidir cuánto modelo necesitamos.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63440"/>
            <a:ext cx="1828800" cy="64008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64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7C4DA"/>
                </a:solidFill>
                <a:latin typeface="Aptos Display"/>
              </a:rPr>
              <a:t>LIMPIEZA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4663440"/>
            <a:ext cx="1828800" cy="64008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4864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E2E"/>
                </a:solidFill>
                <a:latin typeface="Aptos Display"/>
              </a:rPr>
              <a:t>DTM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4663440"/>
            <a:ext cx="1828800" cy="64008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4864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76B"/>
                </a:solidFill>
                <a:latin typeface="Aptos Display"/>
              </a:rPr>
              <a:t>TF–IDF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775" y="4663440"/>
            <a:ext cx="1828800" cy="64008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5" y="4864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8852E"/>
                </a:solidFill>
                <a:latin typeface="Aptos Display"/>
              </a:rPr>
              <a:t>COSENO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8048" y="4663440"/>
            <a:ext cx="1828800" cy="64008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4864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74439D"/>
                </a:solidFill>
                <a:latin typeface="Aptos Display"/>
              </a:rPr>
              <a:t>LDA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704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BE2E"/>
                </a:solidFill>
                <a:latin typeface="Aptos Display"/>
              </a:rPr>
              <a:t>Guía visual basada exclusivamente en la sesión suministrada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Mapa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Los recomendadores previos necesitan interacción; un ítem nuevo genera arranque frío.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Contenido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Usar la descripción textual del ítem para recomendar sin depender de otros usuarios.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Preprocesamiento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Homogeneizar texto, stop words, lematización/stemming y expresiones regulares.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Vectorización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Bag of Words → matriz documento–término → TF–IDF.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Similitud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Una vez vectorizado, aplicar operaciones geométricas como coseno.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Tópicos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LDA busca recuperar temas latentes mediante un modelo probabilístico.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Hilo conductor: TEXTO → LIMPIEZA → VECTOR → SIMILITUD → TÓPICOS → RECOMENDACIÓN.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El problema de arranque frío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Popularidad, coseno, factores latentes y reglas de asociación usan interacción previa.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Ítem nuevo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Sin ratings, clicks o consumo no hay historial suficiente.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Solución propuesta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Usar información contenida en el propio ítem: descripción, cuento, reseña o texto.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El filtro basado en contenido complementa —no necesariamente reemplaza— los enfoques colaborativos.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Sistemas híbridos y estática comparativa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Contenido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Aprende a partir de atributos/descripciones del ítem.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Colaborativo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Aprende de comportamiento e interacción de usuarios.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Híbrido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Combina fortalezas para cubrir fallas de cada enfoque.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Estática comparativa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Mover una palanca a la vez ayuda a entender qué aporta cada componente.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Producción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decisión también depende de eficiencia computacional.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Criterio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No usar una solución sofisticada solo porque existe.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Principio de composicionalidad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significado de una expresión se construye desde las partes que la componen.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Jerarquía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Oración → frases → palabras → lexemas/morfemas.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Supuesto útil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Si capturamos unidades pequeñas, podemos construir representaciones útiles.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Límite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contexto y el orden pueden perderse.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Pregunta práctica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¿El resultado es suficientemente bueno para la tarea?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Economía del modelo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Comparar utilidad obtenida frente al costo.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Pipeline de limpieza textual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1 · Corregir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Erratas y variantes que fragmentan el vocabulario.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2 · Normalizar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Minúsculas, acentos cuando sea apropiado y caracteres.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3 · Remover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Stop words, signos, teléfonos, correos, precios u otros patrones.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4 · Tokenizar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Separar el texto en unidades de análisis.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5 · Reducir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Lematización o stemming.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6 · Revisar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Diccionarios propios y expresiones regionales.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En el taller, la limpieza no es mecánica: el español rioplatense de Casciari puede convertir una supuesta stop word en una palabra informativa.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Stop words: quitar sin destruir significado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Definición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Palabras frecuentes que no aportan a distinguir el contenido en una tarea concreta.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Ejemplo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“la comida llegó fría, el servicio fue muy malo” → “comida llegó fría, servicio malo”.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Riesgo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Una lista genérica puede borrar expresiones relevantes del dominio o región.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Curación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Combinar listas existentes con stop words adicionales revisadas.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Decisión analítica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Preguntar si cada término aporta información discriminante.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Taller Casciari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vocabulario rioplatense exige especial cuidado.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Lematización vs. stemming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Lematización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Busca una forma canónica o lema; mayor interpretabilidad.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Ejemplo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Variantes flexionadas deberían converger a una forma común.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Stemming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Recorta hacia una raíz mediante reglas simples.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Ventaja stemming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Extremadamente rápido.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Costo stemming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Puede producir tokens no interpretables: “comida” → “com”.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Trade-off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Stemming &lt; lematización &lt; LLM en costo computacional, según la discusión de clase.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Diccionarios propios: donde entra el analista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lematizador no siempre unifica términos como se desea.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Solución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Agregar equivalencias al diccionario: variantes → término común.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Ejemplo de clase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Amabilidad y amable deberían poder tratarse como la misma idea.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Nombres y jerga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Palabras como “Chiri” pueden requerir conocimiento contextual.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Reducir dimensionalidad sin perder significado útil.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Capital humano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calidad depende del criterio del analista.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Expresiones regulares: alto retorno por poco costo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Qué detectan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Patrones formales en 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Correo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Cadena + @ + dominio + extensión.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Otros patrones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Precios, teléfonos, mayúsculas, símbolos y formatos repetitivos.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Uso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Limpiar o transformar grandes volúmenes de texto rápidamente.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Ventaja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Determinísticas, baratas y escalables.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Advertencia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Normalizar caracteres puede cambiar significado: “año” ≠ “ano”.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REPRESENTACIÓN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Bag of Words → Matriz Documento–Término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Cada documento se convierte en un vector de frecuencias sobre un vocabulario común.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7C4DA"/>
                </a:solidFill>
                <a:latin typeface="Aptos Display"/>
              </a:rPr>
              <a:t>Documento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C4DA"/>
                </a:solidFill>
                <a:latin typeface="Aptos Display"/>
              </a:rPr>
              <a:t>comida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C4DA"/>
                </a:solidFill>
                <a:latin typeface="Aptos Display"/>
              </a:rPr>
              <a:t>servicio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C4DA"/>
                </a:solidFill>
                <a:latin typeface="Aptos Display"/>
              </a:rPr>
              <a:t>fría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C4DA"/>
                </a:solidFill>
                <a:latin typeface="Aptos Display"/>
              </a:rPr>
              <a:t>malo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 Display"/>
              </a:rPr>
              <a:t>Doc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5786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6974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5786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6974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5786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6974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5786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6974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37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 Display"/>
              </a:rPr>
              <a:t>Doc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32644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33832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2644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33832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2644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3832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E6D7D"/>
                </a:solidFill>
                <a:latin typeface="Aptos Display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32644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3832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E6D7D"/>
                </a:solidFill>
                <a:latin typeface="Aptos Display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 Display"/>
              </a:rPr>
              <a:t>Doc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39502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E6D7D"/>
                </a:solidFill>
                <a:latin typeface="Aptos Display"/>
              </a:rP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39502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39502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E6D7D"/>
                </a:solidFill>
                <a:latin typeface="Aptos Display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3950208"/>
            <a:ext cx="1371600" cy="4572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4069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07492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2BE2E"/>
                </a:solidFill>
                <a:latin typeface="Aptos Display"/>
              </a:rPr>
              <a:t>En la sesión: 800 reseñas × ~215–264 términos, según la etapa de limpieza mostrada.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Matrices sparse: muchos ceros, poca información útil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Densidad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Proporción de entradas distintas de cero.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Ejemplo de clase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DTM mostrada tenía alrededor de 10% de entradas no cero.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Por qué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Cada reseña utiliza solo una fracción del vocabulario total.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Más vocabulario → más columnas → más ceros → desafíos computacionales.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Limpieza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Quitar términos inútiles reduce dimensionalidad.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Sparse statistics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clase menciona un área dedicada al procesamiento de matrices poco densas.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TF–IDF: premiar lo distintivo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Frecuencia del término dentro del documento.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Reduce el peso de términos presentes en muchos documentos.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Intuición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Una palabra repetida en todos los textos distingue poco.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Palabras raras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Pueden aportar más información para separar documentos.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Ejemplo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“plato” muy frecuente pierde peso relativo.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Resultado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 vector ponderado más útil para similitud y recuperación.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TF–IDF ≈ importancia local del término × rareza global.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GEOMETRÍA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Texto como vector: reutilizar similitud coseno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828800"/>
            <a:ext cx="9601200" cy="914400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103120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4439D"/>
                </a:solidFill>
                <a:latin typeface="Aptos Display"/>
              </a:rPr>
              <a:t>cos(dᵢ,dⱼ) = (dᵢ · dⱼ) / (||dᵢ|| ||dⱼ||)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154680"/>
            <a:ext cx="64008" cy="1325880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28269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Cercanía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648456"/>
            <a:ext cx="29718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Reseñas con palabras/pesos similares apuntan en direcciones parecidas.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31546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3154680"/>
            <a:ext cx="64008" cy="1325880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28269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48456"/>
            <a:ext cx="29718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Buscar textos similares y, por extensión, ítems similares.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1546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154680"/>
            <a:ext cx="64008" cy="1325880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28269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Ventaja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648456"/>
            <a:ext cx="29718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Una vez vectorizado, reutilizamos herramientas ya estudiadas.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852E"/>
                </a:solidFill>
                <a:latin typeface="Aptos Display"/>
              </a:rPr>
              <a:t>La clase obtuvo ~85% de coincidencia temática en el ejemplo sintético frente a 25% de referencia aleatoria para 4 temas.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Limitación crítica de Bag of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Mismas palabras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“comida excelente, servicio pésimo” y “servicio excelente, comida pésima”.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Mismo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Si solo contamos palabras, pueden verse idénticas.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Sin sinónimos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“mesero atento” y “atención impecable” pueden parecer distintas.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No hay orden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bolsa ignora la secuencia.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No hay semántica profunda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Coocurrencia léxica no equivale a meaning.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Pero...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Puede dar muchísimo rendimiento por muy poco costo.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Del Bag of Words al análisis semántico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Si muchos términos coocurren, ¿hay un tema subyacente?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LSA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clase recuerda el análisis semántico latente y la conexión con reducción de dimensión.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PCA/SVD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Una matriz vectorial permite buscar dimensiones latentes.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Paso siguiente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LDA modela explícitamente cómo los temas generan palabras.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Cambio conceptual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De distancia geométrica a proceso generador probabilístico.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Objetivo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Descubrir tópicos sin etiquetarlos previamente.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La historia generativa del lenguaje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938528" cy="13716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44168" y="1828800"/>
            <a:ext cx="594360" cy="594360"/>
          </a:xfrm>
          <a:prstGeom prst="round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9933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5420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Definir K temas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2148840"/>
            <a:ext cx="1938528" cy="13716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594360" cy="594360"/>
          </a:xfrm>
          <a:prstGeom prst="round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933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5420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Cada tema tiene una distribución sobre palabras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2148840"/>
            <a:ext cx="1938528" cy="13716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79592" y="1828800"/>
            <a:ext cx="594360" cy="594360"/>
          </a:xfrm>
          <a:prstGeom prst="round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19933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5420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Cada documento tiene una mezcla de temas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2148840"/>
            <a:ext cx="1938528" cy="13716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1828800"/>
            <a:ext cx="594360" cy="594360"/>
          </a:xfrm>
          <a:prstGeom prst="round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9933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5420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Para cada palabra se elige un tema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6648" y="2148840"/>
            <a:ext cx="1938528" cy="1371600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15016" y="1828800"/>
            <a:ext cx="594360" cy="59436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5016" y="19933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25420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Desde ese tema se elige una palabra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51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BE2E"/>
                </a:solidFill>
                <a:latin typeface="Aptos Display"/>
              </a:rPr>
              <a:t>Observamos únicamente las palabras. LDA intenta hacer la “ingeniería reversa” y recuperar temas y mezclas latentes.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Distribuciones tema → palabra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Tema comida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Mayor probabilidad para comida, sabor, plato.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Tema servicio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Mayor probabilidad para mesero, atención, espera.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Tema precio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Mayor probabilidad para precio, cuenta, cargo.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No exclusividad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Una palabra puede tener probabilidad positiva en varios temas.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Suma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Cada vector de probabilidades sobre vocabulario suma uno.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Coocurrencia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Los temas emergen porque ciertas palabras aparecen juntas con mayor frecuencia.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Cada documento es una mezcla de tópicos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Documento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Puede ser 31% comida, 64% servicio, 5% precio.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No etiqueta única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Un texto puede pertenecer simultáneamente a varios temas.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Unidad de análisis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Reseña, cuento, capítulo, página… la define el analista.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Taller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Cada cuento de Casciari funciona como documento.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Salida LDA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Matriz documento × tópico.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Interpretación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Cada fila indica cuánto pesa cada tema en ese documento.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Dirichlet: controlar cuánto se mezclan los temas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Genera vectores de probabilidades que suman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α grande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Documentos con temas más mezclados.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α pequeño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Documentos más concentrados en pocos temas.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Separación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Temas muy mezclados son más difíciles de distinguir.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β / 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Controla la distribución de palabras dentro de los temas.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Inferencia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Los hiperparámetros y distribuciones deben recuperarse desde palabras observadas.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LDA como clustering probabilístico jerárquico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Analogía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Agrupa palabras/documentos en temas latentes.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Diferencia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No usa solo distancias: plantea un proceso probabilístico generador.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Jerarquía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Tema → palabra y documento → mezcla de temas.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Bayesiano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sesión lo conecta con posterior, priors e hiperparámetros.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Ingeniería reversa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Partir de palabras observadas para recuperar la estructura oculta.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Interpretación humana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algoritmo entrega palabras por tópico; el analista nombra e interpreta.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Inferencia: el problema no es analíticamente simple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Posterior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probabilidad involucra sumas/productos/integración sobre variables latentes.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clase menciona muestreo de Gibbs colapsado.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Variacional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Aproxima un problema difícil con otro tratable.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Implementación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librería resuelve la inferencia sin derivar todo manualmente.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Idea 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Entender qué aproxima el algoritmo importa más que memorizar código.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Próxima conexión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clase anticipa máxima verosimilitud para la semana siguiente.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Ejemplo sintético: recuperar la verdad conocida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800 reseñas generadas con cuatro temas conocidos.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docente conoce temas y proporciones antes de estimar.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Prueba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Se “finge” no conocerlos y se ejecuta el algoritmo.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Resultado LDA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Recupera temas interpretables: ambiente, precio, comida y servicio.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Valor didáctico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Permite comprobar si el método reconstruye el proceso generador.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En práctica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verdad normalmente no está disponible.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Elegir el número de tópicos 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K no viene 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Como en K-means, el analista debe explorar el número de temas.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Perplejidad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La clase la vincula al ajuste/log-verosimilitud.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Train vs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No basta mirar desempeño dentro de muestra.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Sobreajuste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Más temas pueden mejorar train y empeorar fuera de muestra.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Sesgo–varianza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criterio general vuelve a aparecer.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Coherencia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Otra métrica mencionada: coocurrencia semántica de palabras.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Regla de estudio: seleccionar K por capacidad de generalización + interpretabilidad, no por una sola métrica.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Trade-off sesgo–varianza en topic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Pocos 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Modelo rígido: mayor sesgo, menor varianza.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Más temas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Mayor flexibilidad y menor error de entrenamiento.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Demasiados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modelo puede capturar particularidades y perder generalización.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Validación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Mirar perplejidad fuera de muestra.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Mínimo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Buscar una zona donde el desempeño de test sea favorable.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Lección transversal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 sobreajuste no desaparece por trabajar con texto.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Bang for the buck: criterio transversal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Regex / BoW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Muy baratos y escalables.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TF–IDF + coseno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Poca complejidad con buen rendimiento en muchos casos.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LDA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Más estructura temática sin llegar al costo de un LLM.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Potente, pero más costoso para procesar grandes corpus.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High stakes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Puede justificar análisis más costosos y redundantes.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Decisión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Elegir el modelo más simple que entregue valor suficiente.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La sofisticación técnica no es el objetivo; el objetivo es valor analítico por unidad de costo.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Errores que pueden costar puntos en el taller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Stop words automáticas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Eliminar palabras sin revisar contexto regional o semántico.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Ceros / sparse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Ignorar el impacto del vocabulario enorme.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BoW = semántica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Creer que contar palabras entiende significado.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K sin justificar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Aceptar el número de tópicos sugerido por una herramienta.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Tema = verdad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Nombrar tópicos sin inspeccionar palabras y documentos.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IA sin verificación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Presentar análisis o gráficos que no se entienden ni se pueden defender.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Quiz de estudio · 14 preguntas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9164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1. ¿Qué es cold start?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72768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69164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2. ¿Qué diferencia contenido y colaborativo?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03704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22576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3. ¿Qué es una stop word?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03704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322576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4. ¿Por qué lematizar?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39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953511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5. ¿Qué sacrifica stemming?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34639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953511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6. ¿Para qué sirven regex?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65576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584448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7. ¿Qué representa una DTM?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465576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584448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8. ¿Qué significa densidad 10%?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96511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215383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9. ¿Qué corrige TF–IDF?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96511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215383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10. ¿Qué ignora Bag of Words?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27448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84632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11. ¿Cómo genera lenguaje LDA?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727448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84632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12. ¿Qué representa α?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58383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477255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13. ¿Qué salida documento–tópico produce LDA?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358383"/>
            <a:ext cx="5257800" cy="475488"/>
          </a:xfrm>
          <a:prstGeom prst="roundRect">
            <a:avLst/>
          </a:prstGeom>
          <a:solidFill>
            <a:srgbClr val="F4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5477255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2530"/>
                </a:solidFill>
                <a:latin typeface="Aptos Display"/>
              </a:rPr>
              <a:t>14. ¿Por qué validar K fuera de muestra?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Mini taller: ¿Qué leemos después de Metegol?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353312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Paso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Define cada cuento como documento y revisa el corpus.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1353312"/>
          </a:xfrm>
          <a:prstGeom prst="rect">
            <a:avLst/>
          </a:prstGeom>
          <a:solidFill>
            <a:srgbClr val="F2B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Construye y justifica stop words adicionales para el lenguaje de Casciari.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353312"/>
          </a:xfrm>
          <a:prstGeom prst="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96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Paso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85416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Limpia, lematiza y documenta decisiones que cambien significado.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47288"/>
            <a:ext cx="64008" cy="1353312"/>
          </a:xfrm>
          <a:prstGeom prst="rect">
            <a:avLst/>
          </a:prstGeom>
          <a:solidFill>
            <a:srgbClr val="744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Paso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Vectoriza con BoW/TF–IDF y analiza similitudes.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47288"/>
            <a:ext cx="64008" cy="1353312"/>
          </a:xfrm>
          <a:prstGeom prst="rect">
            <a:avLst/>
          </a:prstGeom>
          <a:solidFill>
            <a:srgbClr val="E88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Paso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Estima LDA para distintos K y revisa tópicos.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4728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47288"/>
            <a:ext cx="64008" cy="1353312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Paso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41064"/>
            <a:ext cx="30175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5E6D7D"/>
                </a:solidFill>
                <a:latin typeface="Aptos"/>
              </a:rPr>
              <a:t>Compara métodos y recomienda el siguiente cuento con argumento técnico.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La defensa debe explicar decisiones, no solo mostrar una salida de código.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D4B4B"/>
                </a:solidFill>
                <a:latin typeface="Aptos Display"/>
              </a:rPr>
              <a:t>COLD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sin interacción previa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36192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7C4DA"/>
                </a:solidFill>
                <a:latin typeface="Aptos Display"/>
              </a:rPr>
              <a:t>CONTENT-BASED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usar contenido del ítem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536192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2BE2E"/>
                </a:solidFill>
                <a:latin typeface="Aptos Display"/>
              </a:rPr>
              <a:t>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unidad mínima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144" y="1536192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D976B"/>
                </a:solidFill>
                <a:latin typeface="Aptos Display"/>
              </a:rPr>
              <a:t>LEMA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forma canónica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697480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8852E"/>
                </a:solidFill>
                <a:latin typeface="Aptos Display"/>
              </a:rPr>
              <a:t>REGEX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patrones determinísticos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697480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7C4DA"/>
                </a:solidFill>
                <a:latin typeface="Aptos Display"/>
              </a:rPr>
              <a:t>BOW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bolsa de palabras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2697480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4439D"/>
                </a:solidFill>
                <a:latin typeface="Aptos Display"/>
              </a:rPr>
              <a:t>DTM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documento × término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2697480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D4B4B"/>
                </a:solidFill>
                <a:latin typeface="Aptos Display"/>
              </a:rPr>
              <a:t>SPARSE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muchos ceros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58768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D976B"/>
                </a:solidFill>
                <a:latin typeface="Aptos Display"/>
              </a:rPr>
              <a:t>TF–IDF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frecuencia × rareza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858768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2BE2E"/>
                </a:solidFill>
                <a:latin typeface="Aptos Display"/>
              </a:rPr>
              <a:t>COSENO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similitud vectorial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3858768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4439D"/>
                </a:solidFill>
                <a:latin typeface="Aptos Display"/>
              </a:rPr>
              <a:t>LDA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mezcla de tópicos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53144" y="3858768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44584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8852E"/>
                </a:solidFill>
                <a:latin typeface="Aptos Display"/>
              </a:rPr>
              <a:t>DIRICHLET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probabilidades que suman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020056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7C4DA"/>
                </a:solidFill>
                <a:latin typeface="Aptos Display"/>
              </a:rPr>
              <a:t>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número de tópicos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29000" y="5020056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D976B"/>
                </a:solidFill>
                <a:latin typeface="Aptos Display"/>
              </a:rPr>
              <a:t>PERPLEJIDAD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ajuste/generalización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2" y="5020056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2BE2E"/>
                </a:solidFill>
                <a:latin typeface="Aptos Display"/>
              </a:rPr>
              <a:t>COHERENCIA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coocurrencia temática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53144" y="5020056"/>
            <a:ext cx="2578608" cy="841248"/>
          </a:xfrm>
          <a:prstGeom prst="roundRect">
            <a:avLst/>
          </a:prstGeom>
          <a:solidFill>
            <a:srgbClr val="0D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44584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D4B4B"/>
                </a:solidFill>
                <a:latin typeface="Aptos Display"/>
              </a:rPr>
              <a:t>CRITERIO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4584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valor / costo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Sistemas de recomendación con texto · LDA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C2530"/>
                </a:solidFill>
                <a:latin typeface="Aptos Display"/>
              </a:rPr>
              <a:t>Checklist para poder defender la semana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07592"/>
            <a:ext cx="10881360" cy="36576"/>
          </a:xfrm>
          <a:prstGeom prst="rect">
            <a:avLst/>
          </a:prstGeom>
          <a:solidFill>
            <a:srgbClr val="17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E6D7D"/>
                </a:solidFill>
                <a:latin typeface="Aptos Display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36192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91056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2704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1">
                <a:solidFill>
                  <a:srgbClr val="1C2530"/>
                </a:solidFill>
                <a:latin typeface="Aptos Display"/>
              </a:rPr>
              <a:t>Explico el arranque frío y por qué usar contenido.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536192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91056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52704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Diferencio filtro colaborativo, contenido e híbrido.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93976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4884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8483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Justifico cada paso de limpieza.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093976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214884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08483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Sé cuándo NO remover un término.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651760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706624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4261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Diferencio lematización y stemming.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2651760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706624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64261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1">
                <a:solidFill>
                  <a:srgbClr val="1C2530"/>
                </a:solidFill>
                <a:latin typeface="Aptos Display"/>
              </a:rPr>
              <a:t>Puedo explicar una expresión regular.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209544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264408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0040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Construyo conceptualmente una DTM.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209544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4" y="3264408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320040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Interpreto densidad y sparsity.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767328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82219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758184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1">
                <a:solidFill>
                  <a:srgbClr val="1C2530"/>
                </a:solidFill>
                <a:latin typeface="Aptos Display"/>
              </a:rPr>
              <a:t>Explico TF–IDF sin memorizar código.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3767328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382219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3758184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Sé qué pierde Bag of Words.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325112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379975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31596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1">
                <a:solidFill>
                  <a:srgbClr val="1C2530"/>
                </a:solidFill>
                <a:latin typeface="Aptos Display"/>
              </a:rPr>
              <a:t>Explico LDA como proceso generador.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4325112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4379975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431596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Interpreto mezcla documento–tópico.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4882896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937759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87375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Entiendo el rol de Dirichlet/α.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72784" y="4882896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4937759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487375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1">
                <a:solidFill>
                  <a:srgbClr val="1C2530"/>
                </a:solidFill>
                <a:latin typeface="Aptos Display"/>
              </a:rPr>
              <a:t>Justifico K con validación fuera de muestra.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440679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495543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43153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1C2530"/>
                </a:solidFill>
                <a:latin typeface="Aptos"/>
              </a:rPr>
              <a:t>Relaciono sobreajuste con sesgo–varianza.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5440679"/>
            <a:ext cx="274320" cy="274320"/>
          </a:xfrm>
          <a:prstGeom prst="roundRect">
            <a:avLst/>
          </a:prstGeom>
          <a:solidFill>
            <a:srgbClr val="2D9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2784" y="5495543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543153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1">
                <a:solidFill>
                  <a:srgbClr val="1C2530"/>
                </a:solidFill>
                <a:latin typeface="Aptos Display"/>
              </a:rPr>
              <a:t>Puedo defender por qué un método barato puede ser preferible a un LLM.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6108192"/>
            <a:ext cx="10469880" cy="310896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6163056"/>
            <a:ext cx="10195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74439D"/>
                </a:solidFill>
                <a:latin typeface="Aptos Display"/>
              </a:rPr>
              <a:t>Fuente principal: transcripción suministrada por el usuario · no se añadieron resultados externos.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