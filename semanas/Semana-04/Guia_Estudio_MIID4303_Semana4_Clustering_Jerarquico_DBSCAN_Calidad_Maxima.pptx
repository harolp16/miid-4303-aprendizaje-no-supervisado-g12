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C1D6"/>
                </a:solidFill>
                <a:latin typeface="Aptos Display"/>
              </a:rPr>
              <a:t>MIID 4303 · SEMANA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9692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Clustering Jerárquico
y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5E2ED"/>
                </a:solidFill>
                <a:latin typeface="Aptos"/>
              </a:rPr>
              <a:t>Cómo elegir un método cuando los grupos tienen jerarquías, formas no esféricas, densidades distintas o ruido.</a:t>
            </a:r>
          </a:p>
        </p:txBody>
      </p:sp>
      <p:sp>
        <p:nvSpPr>
          <p:cNvPr id="5" name="Oval 4"/>
          <p:cNvSpPr/>
          <p:nvPr/>
        </p:nvSpPr>
        <p:spPr>
          <a:xfrm>
            <a:off x="9509760" y="4709160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4572000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89778" y="4604597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21298" y="4676562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30705" y="4504604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2225" y="4776555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35125" y="4413551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66645" y="4867608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07213" y="4335417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38733" y="4945742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2560" y="4273618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84080" y="5007541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77925" y="4230854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9445" y="5050305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90940" y="4208995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22460" y="5072164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99779" y="4208995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1299" y="5072164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12794" y="4230854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44314" y="5050305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38160" y="4273618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69680" y="5007541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83506" y="4335417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15026" y="4945742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855594" y="4413551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87114" y="4867608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60014" y="4504604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91534" y="4776555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00941" y="4604597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32461" y="4676562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80960" y="4709160"/>
            <a:ext cx="100584" cy="100584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12480" y="4572000"/>
            <a:ext cx="100584" cy="100584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8978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BD30"/>
                </a:solidFill>
                <a:latin typeface="Aptos Display"/>
              </a:rPr>
              <a:t>Distancias · Linkage · Dendrogramas · Ward · DBSCAN · eps · min_samples · ruido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RUTA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Qué debes dominar esta semana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02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74519"/>
            <a:ext cx="457200" cy="45720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24871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Limitaciones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16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7C"/>
                </a:solidFill>
                <a:latin typeface="Aptos"/>
              </a:rPr>
              <a:t>K-means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52728" y="2103120"/>
            <a:ext cx="941832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651760" y="1874519"/>
            <a:ext cx="457200" cy="45720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99339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4871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Distancias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816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7C"/>
                </a:solidFill>
                <a:latin typeface="Aptos"/>
              </a:rPr>
              <a:t>y escala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27248" y="2103120"/>
            <a:ext cx="941832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526279" y="1874519"/>
            <a:ext cx="457200" cy="457200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99339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24871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Jerárquico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816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7C"/>
                </a:solidFill>
                <a:latin typeface="Aptos"/>
              </a:rPr>
              <a:t>linkage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01767" y="2103120"/>
            <a:ext cx="941832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799" y="1874519"/>
            <a:ext cx="457200" cy="457200"/>
          </a:xfrm>
          <a:prstGeom prst="ellipse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799" y="199339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19" y="24871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Dendrograma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2816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7C"/>
                </a:solidFill>
                <a:latin typeface="Aptos"/>
              </a:rPr>
              <a:t>cortes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76288" y="2103120"/>
            <a:ext cx="941831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75319" y="1874519"/>
            <a:ext cx="457200" cy="457200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199339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4871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DBSCAN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816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7C"/>
                </a:solidFill>
                <a:latin typeface="Aptos"/>
              </a:rPr>
              <a:t>densidad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50807" y="2103120"/>
            <a:ext cx="941833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149840" y="1874519"/>
            <a:ext cx="457200" cy="457200"/>
          </a:xfrm>
          <a:prstGeom prst="ellipse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199339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4871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Elegir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816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7C"/>
                </a:solidFill>
                <a:latin typeface="Aptos"/>
              </a:rPr>
              <a:t>método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384048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3840480"/>
            <a:ext cx="64008" cy="146304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3977640"/>
            <a:ext cx="475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Pregunta central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4389120"/>
            <a:ext cx="47548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¿Qué estructura tienen mis datos y qué definición de “grupo” es coherente con ella?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84048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3840480"/>
            <a:ext cx="64008" cy="146304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397764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Resultado esperado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389120"/>
            <a:ext cx="470915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No memorizar algoritmos: reconocer cuándo una estructura jerárquica o una estructura por densidad es más apropiada.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MOTIVACIÓN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Cuando K-means deja de ser suficiente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Formas no esféricas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El video muestra half moons: existen dos grupos claros, pero una partición por centroides puede cortarlos incorrectamente.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Densidades distintas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86000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Un grupo puede ser muy homogéneo y otro mucho más disperso. Esa heterogeneidad importa para negocio, política o ingeniería.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Arsenal metodológico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Conocer varios algoritmos permite adaptar el método a la geometría real de los datos.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57600"/>
            <a:ext cx="5029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06040" y="4800600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77639" y="4572000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89203" y="4702771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60803" y="4669828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39154" y="4607611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10754" y="4764988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57257" y="4517715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28857" y="4854884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45746" y="4435536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17346" y="4937063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07663" y="4363315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79263" y="5009284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46774" y="4303021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18374" y="5069578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67468" y="4256300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239068" y="5116299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74637" y="4224427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46237" y="5148172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473539" y="4208270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845139" y="5164329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69660" y="4208270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641260" y="5164329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8562" y="4224427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440162" y="5148172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5731" y="4256300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247331" y="5116299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96425" y="4303021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068025" y="5069578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35536" y="4363315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907136" y="5009284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7453" y="4435536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769053" y="4937063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85942" y="4517715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57542" y="4854884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04045" y="4607611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575645" y="4764988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53996" y="4702771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525596" y="4669828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37159" y="4800600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08760" y="4572000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3886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2733"/>
                </a:solidFill>
                <a:latin typeface="Aptos Display"/>
              </a:rPr>
              <a:t>Dos grupos con geometría curva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2200" y="365760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72200" y="3657600"/>
            <a:ext cx="64008" cy="196596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3368" y="379476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Idea de la clase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3368" y="4206240"/>
            <a:ext cx="4709159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El profesor enfatiza que algunos grupos son internamente homogéneos y otros heterogéneos. La forma y densidad del dato condicionan qué algoritmo funciona.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PREPROCESAMIENTO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Distancia y estandarización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55448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Problema de escala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4709159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Si una variable está en miles y otra entre 0 y 100, la primera puede dominar artificialmente la distancia.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64008" cy="155448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7451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Estandarizar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709159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Lleva variables a unidades comparables para que la agrupación refleje estructura y no solo magnitud numérica.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Regla práctica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104698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07408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2733"/>
                </a:solidFill>
                <a:latin typeface="Aptos Display"/>
              </a:rPr>
              <a:t>Antes de interpretar un dendrograma o DBSCAN, pregunta: ¿la distancia que estoy usando representa realmente similitud en este problema?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532120"/>
            <a:ext cx="5074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532120"/>
            <a:ext cx="64008" cy="68580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66928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Datos numéricos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6080759"/>
            <a:ext cx="4709159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La distancia euclidiana es una opción habitual cuando la escala ha sido tratada.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532120"/>
            <a:ext cx="5074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5532120"/>
            <a:ext cx="64008" cy="68580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566928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Datos mixtos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6080759"/>
            <a:ext cx="4709159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La guía del módulo incorpora Gower como alternativa para combinar tipos de variables.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Aglomerativo: de individuos a una jerarquía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965960"/>
            <a:ext cx="475488" cy="475488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2331720" cy="12344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 Display"/>
              </a:rPr>
              <a:t>Cada observación
empieza sola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3337560"/>
            <a:ext cx="365760" cy="0"/>
          </a:xfrm>
          <a:prstGeom prst="line">
            <a:avLst/>
          </a:prstGeom>
          <a:ln w="25400">
            <a:solidFill>
              <a:srgbClr val="96B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1879" y="1965960"/>
            <a:ext cx="475488" cy="475488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2103120"/>
            <a:ext cx="4754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2743200"/>
            <a:ext cx="2331720" cy="12344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30175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 Display"/>
              </a:rPr>
              <a:t>Unir los dos
grupos más cercanos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3337560"/>
            <a:ext cx="365759" cy="0"/>
          </a:xfrm>
          <a:prstGeom prst="line">
            <a:avLst/>
          </a:prstGeom>
          <a:ln w="25400">
            <a:solidFill>
              <a:srgbClr val="96B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400800" y="1965960"/>
            <a:ext cx="475488" cy="475488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4754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43200"/>
            <a:ext cx="2331720" cy="12344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0175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 Display"/>
              </a:rPr>
              <a:t>Recalcular
distancias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49640" y="3337560"/>
            <a:ext cx="365760" cy="0"/>
          </a:xfrm>
          <a:prstGeom prst="line">
            <a:avLst/>
          </a:prstGeom>
          <a:ln w="25400">
            <a:solidFill>
              <a:srgbClr val="96B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189719" y="1965960"/>
            <a:ext cx="475488" cy="47548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2103120"/>
            <a:ext cx="4754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19" y="2743200"/>
            <a:ext cx="2331720" cy="12344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19" y="30175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 Display"/>
              </a:rPr>
              <a:t>Repetir hasta
un solo árbol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09160"/>
            <a:ext cx="10469880" cy="9601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709160"/>
            <a:ext cx="64008" cy="9601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846320"/>
            <a:ext cx="10104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Lo que cambia entre métodos de enlace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257800"/>
            <a:ext cx="101041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La definición de distancia entre dos clusters. Esa decisión cambia qué grupos se fusionan primero.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LINKAGE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Simple, completo y 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56432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64008" cy="32461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Enlace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31720"/>
            <a:ext cx="3090672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Usa la menor distancia entre puntos de dos grupos.
Puede formar cadenas cuando existen puntos cercanos que conectan regiones.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783080"/>
            <a:ext cx="3456432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7992" y="1783080"/>
            <a:ext cx="64008" cy="32461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920240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Enlace completo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331720"/>
            <a:ext cx="3090672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Usa la mayor distancia entre puntos de dos grupos.
Tiende a exigir que todos los puntos de los grupos permanezcan relativamente cercanos.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0183" y="1783080"/>
            <a:ext cx="3456432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30183" y="1783080"/>
            <a:ext cx="64008" cy="32461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1920240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331720"/>
            <a:ext cx="3090672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Fusiona buscando el menor incremento de variabilidad interna.
Favorece grupos compactos; en el taller se trabaja explícitamente con esta alternativa.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778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A4848"/>
                </a:solidFill>
                <a:latin typeface="Aptos Display"/>
              </a:rPr>
              <a:t>No digas “Ward siempre es mejor”. La selección depende de los datos, la escala, la calidad del agrupamiento y la interpretabilidad.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DENDROGRAMA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Leer el árbol y decidir dónde cortar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731520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143000" y="5074920"/>
            <a:ext cx="0" cy="365760"/>
          </a:xfrm>
          <a:prstGeom prst="line">
            <a:avLst/>
          </a:prstGeom>
          <a:ln w="12700">
            <a:solidFill>
              <a:srgbClr val="1C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828800" y="5074920"/>
            <a:ext cx="0" cy="365760"/>
          </a:xfrm>
          <a:prstGeom prst="line">
            <a:avLst/>
          </a:prstGeom>
          <a:ln w="12700">
            <a:solidFill>
              <a:srgbClr val="1C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560320" y="5074920"/>
            <a:ext cx="0" cy="365760"/>
          </a:xfrm>
          <a:prstGeom prst="line">
            <a:avLst/>
          </a:prstGeom>
          <a:ln w="12700">
            <a:solidFill>
              <a:srgbClr val="1C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246120" y="5074920"/>
            <a:ext cx="0" cy="365760"/>
          </a:xfrm>
          <a:prstGeom prst="line">
            <a:avLst/>
          </a:prstGeom>
          <a:ln w="12700">
            <a:solidFill>
              <a:srgbClr val="1C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297680" y="5074920"/>
            <a:ext cx="0" cy="365760"/>
          </a:xfrm>
          <a:prstGeom prst="line">
            <a:avLst/>
          </a:prstGeom>
          <a:ln w="12700">
            <a:solidFill>
              <a:srgbClr val="1C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983480" y="5074920"/>
            <a:ext cx="0" cy="365760"/>
          </a:xfrm>
          <a:prstGeom prst="line">
            <a:avLst/>
          </a:prstGeom>
          <a:ln w="12700">
            <a:solidFill>
              <a:srgbClr val="1C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989320" y="5074920"/>
            <a:ext cx="0" cy="365760"/>
          </a:xfrm>
          <a:prstGeom prst="line">
            <a:avLst/>
          </a:prstGeom>
          <a:ln w="12700">
            <a:solidFill>
              <a:srgbClr val="1C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720840" y="5074920"/>
            <a:ext cx="0" cy="365760"/>
          </a:xfrm>
          <a:prstGeom prst="line">
            <a:avLst/>
          </a:prstGeom>
          <a:ln w="12700">
            <a:solidFill>
              <a:srgbClr val="1C2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5074920"/>
            <a:ext cx="685800" cy="0"/>
          </a:xfrm>
          <a:prstGeom prst="line">
            <a:avLst/>
          </a:prstGeom>
          <a:ln w="25400">
            <a:solidFill>
              <a:srgbClr val="15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85900" y="4434840"/>
            <a:ext cx="0" cy="640080"/>
          </a:xfrm>
          <a:prstGeom prst="line">
            <a:avLst/>
          </a:prstGeom>
          <a:ln w="25400">
            <a:solidFill>
              <a:srgbClr val="15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60320" y="4892040"/>
            <a:ext cx="685800" cy="0"/>
          </a:xfrm>
          <a:prstGeom prst="line">
            <a:avLst/>
          </a:prstGeom>
          <a:ln w="25400">
            <a:solidFill>
              <a:srgbClr val="15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903220" y="4251959"/>
            <a:ext cx="0" cy="640081"/>
          </a:xfrm>
          <a:prstGeom prst="line">
            <a:avLst/>
          </a:prstGeom>
          <a:ln w="25400">
            <a:solidFill>
              <a:srgbClr val="15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4754880"/>
            <a:ext cx="685800" cy="0"/>
          </a:xfrm>
          <a:prstGeom prst="line">
            <a:avLst/>
          </a:prstGeom>
          <a:ln w="25400">
            <a:solidFill>
              <a:srgbClr val="6F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40580" y="4114800"/>
            <a:ext cx="0" cy="640080"/>
          </a:xfrm>
          <a:prstGeom prst="line">
            <a:avLst/>
          </a:prstGeom>
          <a:ln w="25400">
            <a:solidFill>
              <a:srgbClr val="6F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89320" y="4572000"/>
            <a:ext cx="731520" cy="0"/>
          </a:xfrm>
          <a:prstGeom prst="line">
            <a:avLst/>
          </a:prstGeom>
          <a:ln w="25400">
            <a:solidFill>
              <a:srgbClr val="6F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355079" y="3931920"/>
            <a:ext cx="0" cy="640080"/>
          </a:xfrm>
          <a:prstGeom prst="line">
            <a:avLst/>
          </a:prstGeom>
          <a:ln w="25400">
            <a:solidFill>
              <a:srgbClr val="6F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85900" y="4434840"/>
            <a:ext cx="1417320" cy="0"/>
          </a:xfrm>
          <a:prstGeom prst="line">
            <a:avLst/>
          </a:prstGeom>
          <a:ln w="25400">
            <a:solidFill>
              <a:srgbClr val="15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194560" y="3566160"/>
            <a:ext cx="0" cy="868680"/>
          </a:xfrm>
          <a:prstGeom prst="line">
            <a:avLst/>
          </a:prstGeom>
          <a:ln w="25400">
            <a:solidFill>
              <a:srgbClr val="15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40580" y="4114800"/>
            <a:ext cx="1714500" cy="0"/>
          </a:xfrm>
          <a:prstGeom prst="line">
            <a:avLst/>
          </a:prstGeom>
          <a:ln w="25400">
            <a:solidFill>
              <a:srgbClr val="6F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86400" y="3246120"/>
            <a:ext cx="0" cy="868680"/>
          </a:xfrm>
          <a:prstGeom prst="line">
            <a:avLst/>
          </a:prstGeom>
          <a:ln w="25400">
            <a:solidFill>
              <a:srgbClr val="6F4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194560" y="3566160"/>
            <a:ext cx="3291840" cy="0"/>
          </a:xfrm>
          <a:prstGeom prst="line">
            <a:avLst/>
          </a:prstGeom>
          <a:ln w="25400">
            <a:solidFill>
              <a:srgbClr val="F2BD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40480" y="2423160"/>
            <a:ext cx="0" cy="1143000"/>
          </a:xfrm>
          <a:prstGeom prst="line">
            <a:avLst/>
          </a:prstGeom>
          <a:ln w="25400">
            <a:solidFill>
              <a:srgbClr val="F2BD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" y="3886200"/>
            <a:ext cx="6675120" cy="0"/>
          </a:xfrm>
          <a:prstGeom prst="line">
            <a:avLst/>
          </a:prstGeom>
          <a:ln w="16510">
            <a:solidFill>
              <a:srgbClr val="CA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80760" y="36118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A4848"/>
                </a:solidFill>
                <a:latin typeface="Aptos Display"/>
              </a:rPr>
              <a:t>corte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1783080"/>
            <a:ext cx="2971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66760" y="1783080"/>
            <a:ext cx="64008" cy="137160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67928" y="19202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Altura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7928" y="2331720"/>
            <a:ext cx="2606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Representa el nivel de disimilitud al que se produce una fusión.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3429000"/>
            <a:ext cx="2971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66760" y="3429000"/>
            <a:ext cx="64008" cy="137160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67928" y="35661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Corte horizontal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7928" y="3977639"/>
            <a:ext cx="2606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El número de ramas interceptadas determina una partición posible.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66760" y="507492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66760" y="5074920"/>
            <a:ext cx="64008" cy="82296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7928" y="52120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Interpretar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67928" y="5623559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Buscar saltos relevantes + utilidad del resultado.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DISTANCIAS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Gower para variables mixtas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60020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Edad, ingreso, género o variables ordinales no necesariamente deben tratarse con la misma fórmula de distancia.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64008" cy="160020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Idea de Gower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Construye una disimilitud combinando contribuciones comparables de distintos tipos de variables.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37360"/>
            <a:ext cx="64008" cy="160020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Aplicación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Permite plantear clustering jerárquico cuando el conjunto contiene variables numéricas y categóricas.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77639"/>
            <a:ext cx="10469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2452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2733"/>
                </a:solidFill>
                <a:latin typeface="Aptos Display"/>
              </a:rPr>
              <a:t>Clave metodológica: la distancia no es un detalle técnico. Define qué significa que dos observaciones sean parecidas y, por tanto, modifica la estructura del clustering.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Clusters como regiones densas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60020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60020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Radio de vecindad: qué tan cerca debe estar otro punto para considerarlo vecino.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83280" cy="160020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64008" cy="160020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min_samples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Número mínimo de observaciones requerido para considerar suficientemente densa una región.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383280" cy="160020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37360"/>
            <a:ext cx="64008" cy="160020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Ruido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Puntos que no quedan conectados a una región suficientemente densa pueden etiquetarse como outliers.</a:t>
            </a:r>
          </a:p>
        </p:txBody>
      </p:sp>
      <p:sp>
        <p:nvSpPr>
          <p:cNvPr id="18" name="Oval 17"/>
          <p:cNvSpPr/>
          <p:nvPr/>
        </p:nvSpPr>
        <p:spPr>
          <a:xfrm>
            <a:off x="2880360" y="4754880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67889" y="4867291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72803" y="4518958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10212" y="4998725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11964" y="4689045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858943" y="4703362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81429" y="4915585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587339" y="4544677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55435" y="4860359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44451" y="4898858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801380" y="4667933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14261" y="4913692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50549" y="4636041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71919" y="4689053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32692" y="5063707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25648" y="4659657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924900" y="4862204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05152" y="4764517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54518" y="4538304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17903" y="5132111"/>
            <a:ext cx="91440" cy="914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83880" y="4572000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871409" y="4684411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76323" y="4336078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13732" y="4815845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515484" y="4506165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62463" y="4520482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84949" y="4732705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90859" y="4361797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58955" y="4677479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47971" y="4715978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104900" y="4485053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17781" y="4730812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754069" y="4453161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75439" y="4506173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736212" y="4880827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029168" y="4476777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8420" y="4679324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708672" y="4581637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58038" y="4355424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21423" y="4949231"/>
            <a:ext cx="91440" cy="914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88720" y="4206240"/>
            <a:ext cx="100584" cy="100584"/>
          </a:xfrm>
          <a:prstGeom prst="ellipse">
            <a:avLst/>
          </a:prstGeom>
          <a:solidFill>
            <a:srgbClr val="AA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486400" y="5303520"/>
            <a:ext cx="100584" cy="100584"/>
          </a:xfrm>
          <a:prstGeom prst="ellipse">
            <a:avLst/>
          </a:prstGeom>
          <a:solidFill>
            <a:srgbClr val="AA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424160" y="3886200"/>
            <a:ext cx="100584" cy="100584"/>
          </a:xfrm>
          <a:prstGeom prst="ellipse">
            <a:avLst/>
          </a:prstGeom>
          <a:solidFill>
            <a:srgbClr val="AA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5715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densidad + conectividad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Qué ocurre cuando cambia 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82880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eps muy pequeño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017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Pocos puntos quedan dentro de cada vecindad. Una gran parte puede terminar marcada como ruido / valores atípicos.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64008" cy="182880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eps razonable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86000"/>
            <a:ext cx="3017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Permite conectar puntos que pertenecen a regiones densas sin fusionar indiscriminadamente estructuras separadas.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37360"/>
            <a:ext cx="64008" cy="182880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eps demasiado grande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017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Vecindades extensas pueden conectar regiones distintas y agrupar demasiadas observaciones.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Punto de quiz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72000"/>
            <a:ext cx="1046988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800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2733"/>
                </a:solidFill>
                <a:latin typeface="Aptos Display"/>
              </a:rPr>
              <a:t>En el quiz de Semana 4 aparece explícitamente la consecuencia de un eps muy pequeño: gran parte de los datos se marca como valores atípicos y no se agrupa.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Cómo pensar min_samples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6459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Significado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4709159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Controla cuántos vecinos se requieren para declarar que una zona tiene densidad suficiente.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64008" cy="16459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7451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Selección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709159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El material de evaluación contempla conocimiento experto y reglas prácticas ligadas a la dimensionalidad.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No memorices aislado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97680"/>
            <a:ext cx="10469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4456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2733"/>
                </a:solidFill>
                <a:latin typeface="Aptos Display"/>
              </a:rPr>
              <a:t>eps y min_samples trabajan juntos. Un valor solo no define el resultado: ambos determinan qué se considera una región suficientemente densa.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LIMITACIÓN DE 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Densidades muy diferentes pueden complicar una única configuración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486400" cy="393192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59152" y="3657600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27966" y="3756828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09149" y="3520976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84527" y="3660938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61185" y="3863008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51823" y="3409387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09775" y="3668492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46967" y="3719468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33043" y="3555571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42554" y="3665503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77245" y="3823722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78875" y="3442435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67519" y="3676563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04026" y="3925620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54502" y="3591576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00547" y="3667253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95779" y="3785788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03532" y="3476980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525134" y="3681808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19747" y="3885575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56421" y="3360684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358645" y="3666190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16715" y="3749327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25725" y="3512897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482761" y="3684228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37927" y="3846930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81899" y="3395347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606256" y="3706438"/>
            <a:ext cx="82296" cy="82296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36592" y="3840480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29553" y="4010972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76031" y="3596607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89216" y="3846568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242327" y="4220262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14196" y="3377149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41494" y="3860956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84176" y="3937922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42015" y="3665176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971214" y="3854588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88665" y="4143435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289051" y="3442660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322719" y="3875878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083311" y="4344314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01130" y="3736492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853161" y="3857065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41938" y="4069296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357149" y="3511087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203626" y="3885238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128659" y="4266035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4018" y="3282327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735453" y="3854009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401937" y="3998083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418298" y="3582185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084616" y="3889042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80896" y="4190534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94399" y="3350942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432043" y="3932288"/>
            <a:ext cx="82296" cy="82296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4300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2733"/>
                </a:solidFill>
                <a:latin typeface="Aptos Display"/>
              </a:rPr>
              <a:t>Grupo denso vs. grupo disperso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0" y="1828800"/>
            <a:ext cx="4709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583680" y="182880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84848" y="1965960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Problema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84848" y="2377440"/>
            <a:ext cx="43434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Un mismo eps puede ser adecuado para una región y demasiado pequeño o grande para otra.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0" y="3520440"/>
            <a:ext cx="4709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83680" y="352044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84848" y="3657600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Desventaja evaluada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84848" y="4069080"/>
            <a:ext cx="43434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El quiz señala que DBSCAN requiere que no existan grandes diferencias entre las densidades que conforman los puntos.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COMPARACIÓN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Jerárquico vs. DBSCAN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Definición del grupo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618488"/>
            <a:ext cx="347472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737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Jerarquía de similitud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618488"/>
            <a:ext cx="379476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73736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BD30"/>
                </a:solidFill>
                <a:latin typeface="Aptos Display"/>
              </a:rPr>
              <a:t>Región densa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Número de clusters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331720"/>
            <a:ext cx="347472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450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Se decide al cortar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331720"/>
            <a:ext cx="379476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450592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BD30"/>
                </a:solidFill>
                <a:latin typeface="Aptos Display"/>
              </a:rPr>
              <a:t>Surge de densidad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906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Forma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044952"/>
            <a:ext cx="347472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31638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Depende de distancia/linkage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3044952"/>
            <a:ext cx="379476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163824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BD30"/>
                </a:solidFill>
                <a:latin typeface="Aptos Display"/>
              </a:rPr>
              <a:t>Puede capturar formas no convexas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03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Outliers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758184"/>
            <a:ext cx="347472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38770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No es su foco principal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3758184"/>
            <a:ext cx="379476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3877056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BD30"/>
                </a:solidFill>
                <a:latin typeface="Aptos Display"/>
              </a:rPr>
              <a:t>Puede marcarlos como ruido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17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Parámetros clave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471416"/>
            <a:ext cx="347472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45902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Distancia + linkage + corte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4471416"/>
            <a:ext cx="379476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459028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BD30"/>
                </a:solidFill>
                <a:latin typeface="Aptos Display"/>
              </a:rPr>
              <a:t>eps + min_samples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230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Salida visual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5184648"/>
            <a:ext cx="347472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5303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Dendrograma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5184648"/>
            <a:ext cx="379476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530352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BD30"/>
                </a:solidFill>
                <a:latin typeface="Aptos Display"/>
              </a:rPr>
              <a:t>Clusters + ruido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9893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5C1D6"/>
                </a:solidFill>
                <a:latin typeface="Aptos Display"/>
              </a:rPr>
              <a:t>La geometría de los datos manda.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DECISIÓN METODOLÓGICA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¿Cuál método elegir?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6459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Jerárquico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017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Útil si quieres explorar relaciones anidadas, visualizar fusiones y estudiar cortes mediante dendrograma.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64008" cy="16459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DBSCAN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86000"/>
            <a:ext cx="3017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Útil si esperas regiones densas, formas no convexas y quieres detectar puntos que no pertenecen claramente a un cluster.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37360"/>
            <a:ext cx="64008" cy="16459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No hay ganador universal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017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Compara estructura, escala, densidad, estabilidad, interpretabilidad y objetivo del problema.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69080"/>
            <a:ext cx="10469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15968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2733"/>
                </a:solidFill>
                <a:latin typeface="Aptos Display"/>
              </a:rPr>
              <a:t>Secuencia recomendada: entender datos → definir similitud → preparar escalas → probar alternativas → evaluar estructura → interpretar → comunicar decisión.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PREPARACIÓN PARA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10 preguntas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64208"/>
            <a:ext cx="320040" cy="3200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465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162763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C2733"/>
                </a:solidFill>
                <a:latin typeface="Aptos Display"/>
              </a:rPr>
              <a:t>eps muy pequeño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276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B6C7C"/>
                </a:solidFill>
                <a:latin typeface="Aptos"/>
              </a:rPr>
              <a:t>Mucho ruido / puntos no agrupados.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1664208"/>
            <a:ext cx="320040" cy="3200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465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9984" y="162763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C2733"/>
                </a:solidFill>
                <a:latin typeface="Aptos Display"/>
              </a:rPr>
              <a:t>Desventaja DBSCAN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6276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B6C7C"/>
                </a:solidFill>
                <a:latin typeface="Aptos"/>
              </a:rPr>
              <a:t>Problemas con densidades muy diferentes.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2578608"/>
            <a:ext cx="320040" cy="3200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609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" y="254203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C2733"/>
                </a:solidFill>
                <a:latin typeface="Aptos Display"/>
              </a:rPr>
              <a:t>Uso adicional DBSCAN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5420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B6C7C"/>
                </a:solidFill>
                <a:latin typeface="Aptos"/>
              </a:rPr>
              <a:t>Detección de outliers.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2578608"/>
            <a:ext cx="320040" cy="3200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6609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254203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C2733"/>
                </a:solidFill>
                <a:latin typeface="Aptos Display"/>
              </a:rPr>
              <a:t>min_samples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5420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B6C7C"/>
                </a:solidFill>
                <a:latin typeface="Aptos"/>
              </a:rPr>
              <a:t>Puede apoyarse en conocimiento experto / dimensionalidad.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493008"/>
            <a:ext cx="320040" cy="3200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753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" y="345643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C2733"/>
                </a:solidFill>
                <a:latin typeface="Aptos Display"/>
              </a:rPr>
              <a:t>Enlace simple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4564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B6C7C"/>
                </a:solidFill>
                <a:latin typeface="Aptos"/>
              </a:rPr>
              <a:t>Usa la distancia mínima entre clusters.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3493008"/>
            <a:ext cx="320040" cy="3200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5753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4" y="345643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C2733"/>
                </a:solidFill>
                <a:latin typeface="Aptos Display"/>
              </a:rPr>
              <a:t>Enlace completo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4564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B6C7C"/>
                </a:solidFill>
                <a:latin typeface="Aptos"/>
              </a:rPr>
              <a:t>Usa la distancia máxima.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4407408"/>
            <a:ext cx="320040" cy="3200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897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" y="437083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C2733"/>
                </a:solidFill>
                <a:latin typeface="Aptos Display"/>
              </a:rPr>
              <a:t>Ward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3708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B6C7C"/>
                </a:solidFill>
                <a:latin typeface="Aptos"/>
              </a:rPr>
              <a:t>Busca limitar el aumento de variabilidad interna.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0" y="4407408"/>
            <a:ext cx="320040" cy="3200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4897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37083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C2733"/>
                </a:solidFill>
                <a:latin typeface="Aptos Display"/>
              </a:rPr>
              <a:t>Dendrograma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3708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B6C7C"/>
                </a:solidFill>
                <a:latin typeface="Aptos"/>
              </a:rPr>
              <a:t>Representa la jerarquía de fusiones.</a:t>
            </a:r>
          </a:p>
        </p:txBody>
      </p:sp>
      <p:sp>
        <p:nvSpPr>
          <p:cNvPr id="38" name="Oval 37"/>
          <p:cNvSpPr/>
          <p:nvPr/>
        </p:nvSpPr>
        <p:spPr>
          <a:xfrm>
            <a:off x="685800" y="5321808"/>
            <a:ext cx="320040" cy="3200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4041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" y="528523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C2733"/>
                </a:solidFill>
                <a:latin typeface="Aptos Display"/>
              </a:rPr>
              <a:t>Corte horizontal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2852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B6C7C"/>
                </a:solidFill>
                <a:latin typeface="Aptos"/>
              </a:rPr>
              <a:t>Produce una partición en clusters.</a:t>
            </a:r>
          </a:p>
        </p:txBody>
      </p:sp>
      <p:sp>
        <p:nvSpPr>
          <p:cNvPr id="42" name="Oval 41"/>
          <p:cNvSpPr/>
          <p:nvPr/>
        </p:nvSpPr>
        <p:spPr>
          <a:xfrm>
            <a:off x="6309360" y="5321808"/>
            <a:ext cx="320040" cy="3200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54041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9984" y="528523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C2733"/>
                </a:solidFill>
                <a:latin typeface="Aptos Display"/>
              </a:rPr>
              <a:t>Escala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52852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B6C7C"/>
                </a:solidFill>
                <a:latin typeface="Aptos"/>
              </a:rPr>
              <a:t>Puede alterar fuertemente las distancias y el clustering.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Cómo usarlo en “¿A quién le vendemos?”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150876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74519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1 · Estandarizar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30632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Ingreso y puntaje de gasto están en escalas diferentes.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7373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737360"/>
            <a:ext cx="64008" cy="150876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874519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2 · Jerárquico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286000"/>
            <a:ext cx="30632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Comparar Ward y otra configuración solicitada.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7373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737360"/>
            <a:ext cx="64008" cy="150876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874519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3 · Dendrograma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286000"/>
            <a:ext cx="30632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Examinar cortes plausibles y número de segmentos.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64008" cy="150876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8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4 · Evaluar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51959"/>
            <a:ext cx="30632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No usar una sola métrica: calidad + estabilidad + interpretación.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3703320"/>
            <a:ext cx="64008" cy="150876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384048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5 · DBSCAN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251959"/>
            <a:ext cx="30632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Analizar eps, min_samples, clusters y ruido.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703320"/>
            <a:ext cx="64008" cy="150876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384048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6 · Decidir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251959"/>
            <a:ext cx="30632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Separar número de segmentos de la restricción de 2 campañas.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1C2733"/>
                </a:solidFill>
                <a:latin typeface="Aptos Display"/>
              </a:rPr>
              <a:t>En el trabajo del grupo, Ward estandarizado se eligió por equilibrio entre calidad, estabilidad e interpretabilidad; no porque Ward sea universalmente superior.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Qué debes evitar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50876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No estandarizar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Una variable de mayor escala puede dominar la distancia.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79" y="17373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79" y="1737360"/>
            <a:ext cx="64008" cy="150876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Leer el dendrograma como scatter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7" y="2286000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El dendrograma muestra fusiones y alturas de disimilitud.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7373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19" y="1737360"/>
            <a:ext cx="64008" cy="150876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Elegir k por presupuesto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286000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Primero se descubre estructura; después se priorizan segmentos.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703320"/>
            <a:ext cx="64008" cy="150876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eps muy pequeño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59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Puede convertir gran parte de la base en ruido.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79" y="3703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79" y="3703320"/>
            <a:ext cx="64008" cy="150876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7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DBSCAN siempre mejor para formas raras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4251959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También depende de densidades y parámetros.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9" y="3703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19" y="3703320"/>
            <a:ext cx="64008" cy="150876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Usar solo silhouette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251959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La utilidad exige además estabilidad e interpretabilidad.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Semana 4 en una sola página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5C1D6"/>
                </a:solidFill>
                <a:latin typeface="Aptos Display"/>
              </a:rPr>
              <a:t>DISTANCIA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 Display"/>
              </a:rPr>
              <a:t>Define similitud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1051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F439B"/>
                </a:solidFill>
                <a:latin typeface="Aptos Display"/>
              </a:rPr>
              <a:t>ESCALA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1284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 Display"/>
              </a:rPr>
              <a:t>Estandarizar cuando corresponde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4592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81051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2BD30"/>
                </a:solidFill>
                <a:latin typeface="Aptos Display"/>
              </a:rPr>
              <a:t>JERÁRQUICO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21284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 Display"/>
              </a:rPr>
              <a:t>Fusionar + linkage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2783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88530"/>
                </a:solidFill>
                <a:latin typeface="Aptos Display"/>
              </a:rPr>
              <a:t>DENDROGRAMA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3016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 Display"/>
              </a:rPr>
              <a:t>Jerarquía + corte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06324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22783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B9669"/>
                </a:solidFill>
                <a:latin typeface="Aptos Display"/>
              </a:rPr>
              <a:t>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63016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 Display"/>
              </a:rPr>
              <a:t>Compactar variabilidad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06324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22783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5C1D6"/>
                </a:solidFill>
                <a:latin typeface="Aptos Display"/>
              </a:rPr>
              <a:t>DBSCAN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63016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 Display"/>
              </a:rPr>
              <a:t>Densidad + ruido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8056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4515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F439B"/>
                </a:solidFill>
                <a:latin typeface="Aptos Display"/>
              </a:rPr>
              <a:t>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4748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 Display"/>
              </a:rPr>
              <a:t>Radio de vecindad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48056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64515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2BD30"/>
                </a:solidFill>
                <a:latin typeface="Aptos Display"/>
              </a:rPr>
              <a:t>min_samples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04748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 Display"/>
              </a:rPr>
              <a:t>Densidad mínima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448056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464515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A4848"/>
                </a:solidFill>
                <a:latin typeface="Aptos Display"/>
              </a:rPr>
              <a:t>OUTLIER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04748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 Display"/>
              </a:rPr>
              <a:t>DBSCAN puede detectarlo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9893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Pregunta final: ¿mis grupos se entienden mejor como una jerarquía o como regiones densas?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4 · Clustering II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CHECKLIST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¿Estoy listo para el quiz y el taller?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19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91640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64792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6420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1C2733"/>
                </a:solidFill>
                <a:latin typeface="Aptos"/>
              </a:rPr>
              <a:t>Explico por qué K-means puede fallar con half moons.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1691640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66420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1C2733"/>
                </a:solidFill>
                <a:latin typeface="Aptos"/>
              </a:rPr>
              <a:t>Entiendo por qué la escala afecta las distancias.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404872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78024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7744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1C2733"/>
                </a:solidFill>
                <a:latin typeface="Aptos"/>
              </a:rPr>
              <a:t>Puedo explicar clustering jerárquico aglomerativo.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2404872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478024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37744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1">
                <a:solidFill>
                  <a:srgbClr val="1C2733"/>
                </a:solidFill>
                <a:latin typeface="Aptos Display"/>
              </a:rPr>
              <a:t>Diferencio enlace simple, completo y Ward.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118103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91256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09067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1">
                <a:solidFill>
                  <a:srgbClr val="1C2733"/>
                </a:solidFill>
                <a:latin typeface="Aptos Display"/>
              </a:rPr>
              <a:t>Puedo leer un dendrograma y explicar un corte.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3118103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191256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09067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1C2733"/>
                </a:solidFill>
                <a:latin typeface="Aptos"/>
              </a:rPr>
              <a:t>Entiendo para qué sirve una distancia como Gower.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3831336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04488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803904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1C2733"/>
                </a:solidFill>
                <a:latin typeface="Aptos"/>
              </a:rPr>
              <a:t>Puedo explicar eps sin mirar apuntes.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831336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904488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803904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1C2733"/>
                </a:solidFill>
                <a:latin typeface="Aptos"/>
              </a:rPr>
              <a:t>Puedo explicar min_samples sin mirar apuntes.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4544568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17720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517136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1C2733"/>
                </a:solidFill>
                <a:latin typeface="Aptos"/>
              </a:rPr>
              <a:t>Sé qué significa ruido en DBSCAN.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4544568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617720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517136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1">
                <a:solidFill>
                  <a:srgbClr val="1C2733"/>
                </a:solidFill>
                <a:latin typeface="Aptos Display"/>
              </a:rPr>
              <a:t>Sé qué pasa cuando eps es demasiado pequeño.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5257800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330952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23036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1">
                <a:solidFill>
                  <a:srgbClr val="1C2733"/>
                </a:solidFill>
                <a:latin typeface="Aptos Display"/>
              </a:rPr>
              <a:t>Reconozco el problema de densidades muy diferentes.</a:t>
            </a:r>
          </a:p>
        </p:txBody>
      </p:sp>
      <p:sp>
        <p:nvSpPr>
          <p:cNvPr id="39" name="Oval 38"/>
          <p:cNvSpPr/>
          <p:nvPr/>
        </p:nvSpPr>
        <p:spPr>
          <a:xfrm>
            <a:off x="6309360" y="5257800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5330952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523036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1C2733"/>
                </a:solidFill>
                <a:latin typeface="Aptos"/>
              </a:rPr>
              <a:t>Puedo justificar jerárquico vs. DBSCAN según los datos.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6053328"/>
            <a:ext cx="10378440" cy="438912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6153912"/>
            <a:ext cx="10149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F439B"/>
                </a:solidFill>
                <a:latin typeface="Aptos Display"/>
              </a:rPr>
              <a:t>Guía visual construida a partir del material cargado de Semana 4 y los elementos de evaluación disponibles.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