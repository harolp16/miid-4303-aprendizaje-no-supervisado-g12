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838c2b4474356" /><Relationship Type="http://schemas.openxmlformats.org/officeDocument/2006/relationships/extended-properties" Target="/docProps/app.xml" Id="R4d814483e07b4488" /><Relationship Type="http://schemas.openxmlformats.org/officeDocument/2006/relationships/officeDocument" Target="/ppt/presentation.xml" Id="Rcc345e24bc94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3edd007ac444d6"/>
  </p:sldMasterIdLst>
  <p:notesMasterIdLst>
    <p:notesMasterId xmlns:r="http://schemas.openxmlformats.org/officeDocument/2006/relationships" r:id="Re65c75e6802d46be"/>
  </p:notesMasterIdLst>
  <p:sldIdLst>
    <p:sldId xmlns:r="http://schemas.openxmlformats.org/officeDocument/2006/relationships" id="256" r:id="Rbeea41adb7fa4d6a"/>
    <p:sldId xmlns:r="http://schemas.openxmlformats.org/officeDocument/2006/relationships" id="257" r:id="R6adc9d55a1a54031"/>
    <p:sldId xmlns:r="http://schemas.openxmlformats.org/officeDocument/2006/relationships" id="258" r:id="Rdf0cf58525174a90"/>
    <p:sldId xmlns:r="http://schemas.openxmlformats.org/officeDocument/2006/relationships" id="259" r:id="R73cbf61f002f41a9"/>
    <p:sldId xmlns:r="http://schemas.openxmlformats.org/officeDocument/2006/relationships" id="260" r:id="R5f03bd533e7148bb"/>
    <p:sldId xmlns:r="http://schemas.openxmlformats.org/officeDocument/2006/relationships" id="261" r:id="R24845ba3b34b4c05"/>
    <p:sldId xmlns:r="http://schemas.openxmlformats.org/officeDocument/2006/relationships" id="262" r:id="R161567fccf334f01"/>
    <p:sldId xmlns:r="http://schemas.openxmlformats.org/officeDocument/2006/relationships" id="263" r:id="R660269456bb8471a"/>
    <p:sldId xmlns:r="http://schemas.openxmlformats.org/officeDocument/2006/relationships" id="264" r:id="Rcd16fd056400491f"/>
    <p:sldId xmlns:r="http://schemas.openxmlformats.org/officeDocument/2006/relationships" id="265" r:id="Rc3a64a02efcd4954"/>
    <p:sldId xmlns:r="http://schemas.openxmlformats.org/officeDocument/2006/relationships" id="266" r:id="Rf15ee3f208f544c1"/>
    <p:sldId xmlns:r="http://schemas.openxmlformats.org/officeDocument/2006/relationships" id="267" r:id="R1d1aa9aa6e33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672c134c4433a" /><Relationship Type="http://schemas.openxmlformats.org/officeDocument/2006/relationships/slideMaster" Target="/ppt/slideMasters/slideMaster1.xml" Id="R523edd007ac444d6" /><Relationship Type="http://schemas.openxmlformats.org/officeDocument/2006/relationships/notesMaster" Target="/ppt/notesMasters/notesMaster1.xml" Id="Re65c75e6802d46be" /><Relationship Type="http://schemas.openxmlformats.org/officeDocument/2006/relationships/presProps" Target="/ppt/presProps.xml" Id="Ra9c73929743f4f78" /><Relationship Type="http://schemas.openxmlformats.org/officeDocument/2006/relationships/tableStyles" Target="/ppt/tableStyles.xml" Id="R1d593d1d6d4f423c" /><Relationship Type="http://schemas.openxmlformats.org/officeDocument/2006/relationships/slide" Target="/ppt/slides/slide1.xml" Id="Rbeea41adb7fa4d6a" /><Relationship Type="http://schemas.openxmlformats.org/officeDocument/2006/relationships/slide" Target="/ppt/slides/slide2.xml" Id="R6adc9d55a1a54031" /><Relationship Type="http://schemas.openxmlformats.org/officeDocument/2006/relationships/slide" Target="/ppt/slides/slide3.xml" Id="Rdf0cf58525174a90" /><Relationship Type="http://schemas.openxmlformats.org/officeDocument/2006/relationships/slide" Target="/ppt/slides/slide4.xml" Id="R73cbf61f002f41a9" /><Relationship Type="http://schemas.openxmlformats.org/officeDocument/2006/relationships/slide" Target="/ppt/slides/slide5.xml" Id="R5f03bd533e7148bb" /><Relationship Type="http://schemas.openxmlformats.org/officeDocument/2006/relationships/slide" Target="/ppt/slides/slide6.xml" Id="R24845ba3b34b4c05" /><Relationship Type="http://schemas.openxmlformats.org/officeDocument/2006/relationships/slide" Target="/ppt/slides/slide7.xml" Id="R161567fccf334f01" /><Relationship Type="http://schemas.openxmlformats.org/officeDocument/2006/relationships/slide" Target="/ppt/slides/slide8.xml" Id="R660269456bb8471a" /><Relationship Type="http://schemas.openxmlformats.org/officeDocument/2006/relationships/slide" Target="/ppt/slides/slide9.xml" Id="Rcd16fd056400491f" /><Relationship Type="http://schemas.openxmlformats.org/officeDocument/2006/relationships/slide" Target="/ppt/slides/slide10.xml" Id="Rc3a64a02efcd4954" /><Relationship Type="http://schemas.openxmlformats.org/officeDocument/2006/relationships/slide" Target="/ppt/slides/slide11.xml" Id="Rf15ee3f208f544c1" /><Relationship Type="http://schemas.openxmlformats.org/officeDocument/2006/relationships/slide" Target="/ppt/slides/slide12.xml" Id="R1d1aa9aa6e33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6790d43704d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fd8864f9594093" /><Relationship Type="http://schemas.openxmlformats.org/officeDocument/2006/relationships/notesMaster" Target="/ppt/notesMasters/notesMaster1.xml" Id="R8c696afa70714c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5c202ce9b49c0" /><Relationship Type="http://schemas.openxmlformats.org/officeDocument/2006/relationships/notesMaster" Target="/ppt/notesMasters/notesMaster1.xml" Id="R7dda278bfc7543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13950d6cd4ee0" /><Relationship Type="http://schemas.openxmlformats.org/officeDocument/2006/relationships/notesMaster" Target="/ppt/notesMasters/notesMaster1.xml" Id="Rda71bb6b61e0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d29faa41d4fa6" /><Relationship Type="http://schemas.openxmlformats.org/officeDocument/2006/relationships/notesMaster" Target="/ppt/notesMasters/notesMaster1.xml" Id="Ra3900b2e497f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baab8eb3674303" /><Relationship Type="http://schemas.openxmlformats.org/officeDocument/2006/relationships/notesMaster" Target="/ppt/notesMasters/notesMaster1.xml" Id="R4f27c7d475604b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39721c6a7490a" /><Relationship Type="http://schemas.openxmlformats.org/officeDocument/2006/relationships/notesMaster" Target="/ppt/notesMasters/notesMaster1.xml" Id="Rd6e5f93fc245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f089974194b7e" /><Relationship Type="http://schemas.openxmlformats.org/officeDocument/2006/relationships/notesMaster" Target="/ppt/notesMasters/notesMaster1.xml" Id="Ra5460b45e054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4450447b84101" /><Relationship Type="http://schemas.openxmlformats.org/officeDocument/2006/relationships/notesMaster" Target="/ppt/notesMasters/notesMaster1.xml" Id="Rcee311db667642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fa4890f66b49fa" /><Relationship Type="http://schemas.openxmlformats.org/officeDocument/2006/relationships/notesMaster" Target="/ppt/notesMasters/notesMaster1.xml" Id="Rb52613c9e5c748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af2b207bef4110" /><Relationship Type="http://schemas.openxmlformats.org/officeDocument/2006/relationships/notesMaster" Target="/ppt/notesMasters/notesMaster1.xml" Id="Rb9b914dd81f949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a28f173815441a" /><Relationship Type="http://schemas.openxmlformats.org/officeDocument/2006/relationships/notesMaster" Target="/ppt/notesMasters/notesMaster1.xml" Id="R08924498844a4a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83efe6805a4a11" /><Relationship Type="http://schemas.openxmlformats.org/officeDocument/2006/relationships/notesMaster" Target="/ppt/notesMasters/notesMaster1.xml" Id="R1b5e1ab59a0e4a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presentación responde desde el inicio qué procedimiento adoptar y qué puede transferirse a Bogotá.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mapa de calor genera candidatos. La decisión final incorpora capacidad operativa, exposición, revisión humana y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datos cubren homicidios y robos entre el 1 de junio y el 31 de agosto de 2019. La unión espacial contrasta el identificador informado con el polígono que contiene cada punto.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C:\Users\harol\OneDrive\Documentos\GitHub\MIID-4303-Aprendizaje-No-Supervisado-G12\semanas\Semana-07\entrega-taller-07\resultados\calidad_union.csv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conteos favorecen áreas con mayor actividad o tamaño. La tasa por km² compara concentración espacial, pero no reemplaza denominadores de exposición como población flotante.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C:\Users\harol\OneDrive\Documentos\GitHub\MIID-4303-Aprendizaje-No-Supervisado-G12\semanas\Semana-07\entrega-taller-07\resultados\top10_conteo.csv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C:\Users\harol\OneDrive\Documentos\GitHub\MIID-4303-Aprendizaje-No-Supervisado-G12\semanas\Semana-07\entrega-taller-07\resultados\top10_densidad_area.csv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resultado impide construir un único mapa agregado. Los homicidios requieren mayor suavizado y reglas más conservadoras por su menor tamaño muestral.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C:\Users\harol\OneDrive\Documentos\GitHub\MIID-4303-Aprendizaje-No-Supervisado-G12\semanas\Semana-07\entrega-taller-07\resultados\areas_atipicas_correlacion.csv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Distancias euclidianas calculadas después de proyectar a NAD83 / UTM 16N. GridSearchCV comparó cuatro kernels y 20 anchos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C:\Users\harol\OneDrive\Documentos\GitHub\MIID-4303-Aprendizaje-No-Supervisado-G12\semanas\Semana-07\entrega-taller-07\resultados\kde_distancia_modelos.csv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Statsmodels KDEMultivariate. Robos usa una muestra fija de 600 puntos para el ajuste del ancho de banda; homicidios usa los 144 casos. Los picos se separan al menos 3 km.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C:\Users\harol\OneDrive\Documentos\GitHub\MIID-4303-Aprendizaje-No-Supervisado-G12\semanas\Semana-07\entrega-taller-07\resultados\kde_bivariada_modelos.csv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C:\Users\harol\OneDrive\Documentos\GitHub\MIID-4303-Aprendizaje-No-Supervisado-G12\semanas\Semana-07\entrega-taller-07\resultados\estabilidad_kde.csv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correlación espacial no prueba causalidad. La descarga de OpenStreetMap se conserva dentro de la carpeta data para reproducibilidad.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matriz de decisión usa una escala de 1 a 5. Los pesos priorizan la utilidad para patrullaje y la estabilidad, no el nivel de detalle por sí solo.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C:\Users\harol\OneDrive\Documentos\GitHub\MIID-4303-Aprendizaje-No-Supervisado-G12\semanas\Semana-07\entrega-taller-07\resultados\ranking_procedimientos.csv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Policía Nacional define el microterritorio como área geográfica para priorizar y focalizar el servicio. La base oficial de cuadrantes combina características delictivas, sociales, demográficas, geográficas y económicas.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  <a:p xmlns:a="http://schemas.openxmlformats.org/drawingml/2006/main">
            <a:r>
              <a:t>- https://www.policia.gov.co/modelo-del-servicio-policia</a:t>
            </a:r>
          </a:p>
          <a:p xmlns:a="http://schemas.openxmlformats.org/drawingml/2006/main">
            <a:r>
              <a:t>- https://datosabiertos.bogota.gov.co/en/dataset/cuadrantes-de-policia-bogota-d-c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evaluación debe medir delitos, victimización, tiempos de respuesta, delitos por hora-patrulla, desplazamiento, quejas y distribución de contactos policiales.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el análisis identifica asociaciones y prioridades. No demuestra por sí solo la efectividad causal del patrullaje focalizado.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</a:t>
            </a:r>
          </a:p>
          <a:p xmlns:a="http://schemas.openxmlformats.org/drawingml/2006/main">
            <a:r>
              <a:t>- C:\Users\harol\OneDrive\Documentos\GitHub\MIID-4303-Aprendizaje-No-Supervisado-G12\semanas\Semana-07\entrega-taller-07\Taller_07_Mapas_Calor_Patrullaje_G12.ipynb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008232a76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11fc40bb242ef" /><Relationship Type="http://schemas.openxmlformats.org/officeDocument/2006/relationships/slideLayout" Target="/ppt/slideLayouts/slideLayout1.xml" Id="Reb4cc6ce0461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cc6ce0461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808f41f0443c8" /><Relationship Type="http://schemas.openxmlformats.org/officeDocument/2006/relationships/notesSlide" Target="/ppt/notesSlides/notesSlide1.xml" Id="Rc6365da252ca46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363e30404945" /><Relationship Type="http://schemas.openxmlformats.org/officeDocument/2006/relationships/notesSlide" Target="/ppt/notesSlides/notesSlide2.xml" Id="Rb363278b0571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21bef519c4f3f" /><Relationship Type="http://schemas.openxmlformats.org/officeDocument/2006/relationships/notesSlide" Target="/ppt/notesSlides/notesSlide3.xml" Id="Rb5fa1defb7f3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d518cc43145dd" /><Relationship Type="http://schemas.openxmlformats.org/officeDocument/2006/relationships/image" Target="/ppt/media/image.png" Id="R84e1af26132b49fc" /><Relationship Type="http://schemas.openxmlformats.org/officeDocument/2006/relationships/chart" Target="/ppt/slides/charts/chart1.xml" Id="R054f54b7be354465" /><Relationship Type="http://schemas.openxmlformats.org/officeDocument/2006/relationships/notesSlide" Target="/ppt/notesSlides/notesSlide4.xml" Id="R61b56072d814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91ac43de54875" /><Relationship Type="http://schemas.openxmlformats.org/officeDocument/2006/relationships/image" Target="/ppt/media/image2.png" Id="R3c465f26410c4453" /><Relationship Type="http://schemas.openxmlformats.org/officeDocument/2006/relationships/notesSlide" Target="/ppt/notesSlides/notesSlide5.xml" Id="R5909494bfcd4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88904d36a46a7" /><Relationship Type="http://schemas.openxmlformats.org/officeDocument/2006/relationships/chart" Target="/ppt/slides/charts/chart2.xml" Id="R8e14e5df35c84429" /><Relationship Type="http://schemas.openxmlformats.org/officeDocument/2006/relationships/notesSlide" Target="/ppt/notesSlides/notesSlide6.xml" Id="Rb2e2536f0923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bff42e3ee42c2" /><Relationship Type="http://schemas.openxmlformats.org/officeDocument/2006/relationships/image" Target="/ppt/media/image3.png" Id="R7ccdb0a7afdb4579" /><Relationship Type="http://schemas.openxmlformats.org/officeDocument/2006/relationships/notesSlide" Target="/ppt/notesSlides/notesSlide7.xml" Id="R9ba199f8d9ec4a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3958cdef5444d" /><Relationship Type="http://schemas.openxmlformats.org/officeDocument/2006/relationships/chart" Target="/ppt/slides/charts/chart3.xml" Id="Rcec0df1a7edb43e1" /><Relationship Type="http://schemas.openxmlformats.org/officeDocument/2006/relationships/notesSlide" Target="/ppt/notesSlides/notesSlide8.xml" Id="R59911bcfdee64d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fab23326042e2" /><Relationship Type="http://schemas.openxmlformats.org/officeDocument/2006/relationships/chart" Target="/ppt/slides/charts/chart4.xml" Id="R084d725ef05c43ba" /><Relationship Type="http://schemas.openxmlformats.org/officeDocument/2006/relationships/notesSlide" Target="/ppt/notesSlides/notesSlide9.xml" Id="Rd9889a36b5ec4c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d172d87fe4375" /><Relationship Type="http://schemas.openxmlformats.org/officeDocument/2006/relationships/notesSlide" Target="/ppt/notesSlides/notesSlide10.xml" Id="R66f82c73a7cb42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7d44b92884986" /><Relationship Type="http://schemas.openxmlformats.org/officeDocument/2006/relationships/notesSlide" Target="/ppt/notesSlides/notesSlide11.xml" Id="R84e0db96ceec49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4782001af445b" /><Relationship Type="http://schemas.openxmlformats.org/officeDocument/2006/relationships/notesSlide" Target="/ppt/notesSlides/notesSlide12.xml" Id="Re85ada419fff404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Delitos</c:v>
          </c:tx>
          <c:spPr>
            <a:solidFill xmlns:a="http://schemas.openxmlformats.org/drawingml/2006/main">
              <a:srgbClr val="E5AD3D"/>
            </a:solidFill>
          </c:spPr>
          <c:cat>
            <c:strLit>
              <c:ptCount val="5"/>
              <c:pt idx="0">
                <c:v>LOOP</c:v>
              </c:pt>
              <c:pt idx="1">
                <c:v>N. NORTH SIDE</c:v>
              </c:pt>
              <c:pt idx="2">
                <c:v>N. WEST SIDE</c:v>
              </c:pt>
              <c:pt idx="3">
                <c:v>WEST TOWN</c:v>
              </c:pt>
              <c:pt idx="4">
                <c:v>LAKE VIEW</c:v>
              </c:pt>
            </c:strLit>
          </c:cat>
          <c:val>
            <c:numLit>
              <c:formatCode>General</c:formatCode>
              <c:ptCount val="5"/>
              <c:pt idx="0">
                <c:v>1589</c:v>
              </c:pt>
              <c:pt idx="1">
                <c:v>1559</c:v>
              </c:pt>
              <c:pt idx="2">
                <c:v>914</c:v>
              </c:pt>
              <c:pt idx="3">
                <c:v>799</c:v>
              </c:pt>
              <c:pt idx="4">
                <c:v>763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Robos</c:v>
          </c:tx>
          <c:spPr>
            <a:ln xmlns:a="http://schemas.openxmlformats.org/drawingml/2006/main" w="28575">
              <a:solidFill>
                <a:srgbClr val="118C8B"/>
              </a:solidFill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0.0</c:v>
              </c:pt>
              <c:pt idx="1">
                <c:v>1.6</c:v>
              </c:pt>
              <c:pt idx="2">
                <c:v>3.2</c:v>
              </c:pt>
              <c:pt idx="3">
                <c:v>4.9</c:v>
              </c:pt>
              <c:pt idx="4">
                <c:v>6.5</c:v>
              </c:pt>
              <c:pt idx="5">
                <c:v>8.1</c:v>
              </c:pt>
              <c:pt idx="6">
                <c:v>9.7</c:v>
              </c:pt>
              <c:pt idx="7">
                <c:v>11.3</c:v>
              </c:pt>
              <c:pt idx="8">
                <c:v>13.0</c:v>
              </c:pt>
              <c:pt idx="9">
                <c:v>14.6</c:v>
              </c:pt>
              <c:pt idx="10">
                <c:v>16.2</c:v>
              </c:pt>
              <c:pt idx="11">
                <c:v>17.8</c:v>
              </c:pt>
              <c:pt idx="12">
                <c:v>19.4</c:v>
              </c:pt>
              <c:pt idx="13">
                <c:v>21.1</c:v>
              </c:pt>
              <c:pt idx="14">
                <c:v>22.7</c:v>
              </c:pt>
              <c:pt idx="15">
                <c:v>24.3</c:v>
              </c:pt>
              <c:pt idx="16">
                <c:v>25.9</c:v>
              </c:pt>
              <c:pt idx="17">
                <c:v>27.5</c:v>
              </c:pt>
            </c:numLit>
          </c:cat>
          <c:val>
            <c:numLit>
              <c:formatCode>General</c:formatCode>
              <c:ptCount val="18"/>
              <c:pt idx="0">
                <c:v>0.04602171319077689</c:v>
              </c:pt>
              <c:pt idx="1">
                <c:v>0.10081516473795096</c:v>
              </c:pt>
              <c:pt idx="2">
                <c:v>0.043014454593845855</c:v>
              </c:pt>
              <c:pt idx="3">
                <c:v>0.046485427991784775</c:v>
              </c:pt>
              <c:pt idx="4">
                <c:v>0.05669204307174433</c:v>
              </c:pt>
              <c:pt idx="5">
                <c:v>0.061485229576647475</c:v>
              </c:pt>
              <c:pt idx="6">
                <c:v>0.06118155758866359</c:v>
              </c:pt>
              <c:pt idx="7">
                <c:v>0.05792401388656088</c:v>
              </c:pt>
              <c:pt idx="8">
                <c:v>0.05752344187438123</c:v>
              </c:pt>
              <c:pt idx="9">
                <c:v>0.05131720849955042</c:v>
              </c:pt>
              <c:pt idx="10">
                <c:v>0.04204503612027599</c:v>
              </c:pt>
              <c:pt idx="11">
                <c:v>0.021048744737891444</c:v>
              </c:pt>
              <c:pt idx="12">
                <c:v>0.012187724326980212</c:v>
              </c:pt>
              <c:pt idx="13">
                <c:v>0.01516924150415785</c:v>
              </c:pt>
              <c:pt idx="14">
                <c:v>0.008596978665863196</c:v>
              </c:pt>
              <c:pt idx="15">
                <c:v>0.0019486879909531188</c:v>
              </c:pt>
              <c:pt idx="16">
                <c:v>0.0013583520234637676</c:v>
              </c:pt>
              <c:pt idx="17">
                <c:v>0</c:v>
              </c:pt>
            </c:numLit>
          </c:val>
        </c:ser>
        <c:ser>
          <c:idx val="1"/>
          <c:order val="1"/>
          <c:tx>
            <c:v>Homicidios</c:v>
          </c:tx>
          <c:spPr>
            <a:ln xmlns:a="http://schemas.openxmlformats.org/drawingml/2006/main" w="28575">
              <a:solidFill>
                <a:srgbClr val="F06449"/>
              </a:solidFill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0.0</c:v>
              </c:pt>
              <c:pt idx="1">
                <c:v>1.6</c:v>
              </c:pt>
              <c:pt idx="2">
                <c:v>3.2</c:v>
              </c:pt>
              <c:pt idx="3">
                <c:v>4.9</c:v>
              </c:pt>
              <c:pt idx="4">
                <c:v>6.5</c:v>
              </c:pt>
              <c:pt idx="5">
                <c:v>8.1</c:v>
              </c:pt>
              <c:pt idx="6">
                <c:v>9.7</c:v>
              </c:pt>
              <c:pt idx="7">
                <c:v>11.3</c:v>
              </c:pt>
              <c:pt idx="8">
                <c:v>13.0</c:v>
              </c:pt>
              <c:pt idx="9">
                <c:v>14.6</c:v>
              </c:pt>
              <c:pt idx="10">
                <c:v>16.2</c:v>
              </c:pt>
              <c:pt idx="11">
                <c:v>17.8</c:v>
              </c:pt>
              <c:pt idx="12">
                <c:v>19.4</c:v>
              </c:pt>
              <c:pt idx="13">
                <c:v>21.1</c:v>
              </c:pt>
              <c:pt idx="14">
                <c:v>22.7</c:v>
              </c:pt>
              <c:pt idx="15">
                <c:v>24.3</c:v>
              </c:pt>
              <c:pt idx="16">
                <c:v>25.9</c:v>
              </c:pt>
              <c:pt idx="17">
                <c:v>27.5</c:v>
              </c:pt>
            </c:numLit>
          </c:cat>
          <c:val>
            <c:numLit>
              <c:formatCode>General</c:formatCode>
              <c:ptCount val="18"/>
              <c:pt idx="0">
                <c:v>0</c:v>
              </c:pt>
              <c:pt idx="1">
                <c:v>0.00011086176356887093</c:v>
              </c:pt>
              <c:pt idx="2">
                <c:v>0.02133185914845892</c:v>
              </c:pt>
              <c:pt idx="3">
                <c:v>0.016145960136335492</c:v>
              </c:pt>
              <c:pt idx="4">
                <c:v>0.06964432951081621</c:v>
              </c:pt>
              <c:pt idx="5">
                <c:v>0.09545473323091838</c:v>
              </c:pt>
              <c:pt idx="6">
                <c:v>0.08802360660090644</c:v>
              </c:pt>
              <c:pt idx="7">
                <c:v>0.0812045239692975</c:v>
              </c:pt>
              <c:pt idx="8">
                <c:v>0.061848667492124546</c:v>
              </c:pt>
              <c:pt idx="9">
                <c:v>0.06606843649682825</c:v>
              </c:pt>
              <c:pt idx="10">
                <c:v>0.04354628564370851</c:v>
              </c:pt>
              <c:pt idx="11">
                <c:v>0.025190616528165184</c:v>
              </c:pt>
              <c:pt idx="12">
                <c:v>0.02379466613068978</c:v>
              </c:pt>
              <c:pt idx="13">
                <c:v>0.012836976974516337</c:v>
              </c:pt>
              <c:pt idx="14">
                <c:v>0.01106960669773432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Pearson r × 100</c:v>
          </c:tx>
          <c:spPr>
            <a:solidFill xmlns:a="http://schemas.openxmlformats.org/drawingml/2006/main">
              <a:srgbClr val="E5AD3D"/>
            </a:solidFill>
          </c:spPr>
          <c:invertIfNegative val="0"/>
          <c:cat>
            <c:strLit>
              <c:ptCount val="4"/>
              <c:pt idx="0">
                <c:v>Robos
conteo</c:v>
              </c:pt>
              <c:pt idx="1">
                <c:v>Homicidios
conteo</c:v>
              </c:pt>
              <c:pt idx="2">
                <c:v>Robos
por km²</c:v>
              </c:pt>
              <c:pt idx="3">
                <c:v>Homicidios
por km²</c:v>
              </c:pt>
            </c:strLit>
          </c:cat>
          <c:val>
            <c:numLit>
              <c:formatCode>General</c:formatCode>
              <c:ptCount val="4"/>
              <c:pt idx="0">
                <c:v>84</c:v>
              </c:pt>
              <c:pt idx="1">
                <c:v>-12</c:v>
              </c:pt>
              <c:pt idx="2">
                <c:v>86</c:v>
              </c:pt>
              <c:pt idx="3">
                <c:v>-21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Puntaje</c:v>
          </c:tx>
          <c:spPr>
            <a:solidFill xmlns:a="http://schemas.openxmlformats.org/drawingml/2006/main">
              <a:srgbClr val="123B5D"/>
            </a:solidFill>
          </c:spPr>
          <c:cat>
            <c:strLit>
              <c:ptCount val="5"/>
              <c:pt idx="0">
                <c:v>KDE 2D cv ml</c:v>
              </c:pt>
              <c:pt idx="1">
                <c:v>KDE 2D normal reference</c:v>
              </c:pt>
              <c:pt idx="2">
                <c:v>Conteo por área</c:v>
              </c:pt>
              <c:pt idx="3">
                <c:v>Tasa por km²</c:v>
              </c:pt>
              <c:pt idx="4">
                <c:v>Distancia al centro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3.75</c:v>
              </c:pt>
              <c:pt idx="2">
                <c:v>3.65</c:v>
              </c:pt>
              <c:pt idx="3">
                <c:v>3.3</c:v>
              </c:pt>
              <c:pt idx="4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8A126-E1A9-4602-85C3-BE03EAA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91915-94C5-4712-9D69-EBD4976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1E11D-2656-48E7-A6D5-21C7F15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8B9C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B9C6"/>
                </a:solidFill>
                <a:latin typeface="Arial"/>
                <a:ea typeface="Arial"/>
                <a:cs typeface="Arial"/>
              </a:rPr>
              <a:t>MIID 4303 · SEMANA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8C3C1-1A8E-4B0D-A5DB-96D22947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 de calor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patrullaje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310FC-67E0-4090-8788-4A326B6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Recomendación para un piloto en Bogotá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8D557-55E8-40D2-BD8D-7DB3AF2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9C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20AE0-C565-437C-A362-9DAE7D3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8E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DE8EC"/>
                </a:solidFill>
                <a:latin typeface="Arial"/>
                <a:ea typeface="Arial"/>
                <a:cs typeface="Arial"/>
              </a:rPr>
              <a:t>Chicago, verano de 2019</a:t>
            </a:r>
          </a:p>
          <a:p xmlns:a="http://schemas.openxmlformats.org/drawingml/2006/main">
            <a:pPr algn="l">
              <a:defRPr sz="1650" b="0" i="0">
                <a:solidFill>
                  <a:srgbClr val="DDE8E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DE8EC"/>
                </a:solidFill>
                <a:latin typeface="Arial"/>
                <a:ea typeface="Arial"/>
                <a:cs typeface="Arial"/>
              </a:rPr>
              <a:t>17.747 delitos georreferenciados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D1686-91A1-43AF-B77C-9850FC99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76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F924D-6F5F-449E-B1B6-3EDEA809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714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Probar KDE por delito, con controles territoriales y evaluación causal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BBFA5-5AD1-4855-A243-0BF4C9D7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8E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DE8EC"/>
                </a:solidFill>
                <a:latin typeface="Arial"/>
                <a:ea typeface="Arial"/>
                <a:cs typeface="Arial"/>
              </a:rPr>
              <a:t>Grupo 12</a:t>
            </a:r>
          </a:p>
        </p:txBody>
      </p:sp>
    </p:spTree>
    <p:extLst>
      <p:ext uri="{BB962C8B-B14F-4D97-AF65-F5344CB8AC3E}">
        <p14:creationId xmlns:p14="http://schemas.microsoft.com/office/powerpoint/2010/main" val="749472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C0AE3-FBDC-4441-95D0-31111D02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1B9BA-D8D9-44D2-BBF1-44E8064B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7FE0F-3F1A-4142-913E-AE4C09C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Recomendación ejecutiva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342CB-B006-4F4E-B8F4-26E2F13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F248F-14E4-400C-AD0F-CF3B6ECF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4BE3F-224F-437A-875B-10200979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1282A-3E53-40D1-9E3B-BD4B4E7D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KDE 2D con cv_ml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9E7A8-D174-42DE-9347-FB6A213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Capa táctica para localizar concentraciones dentro de los territorios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0F148-CC42-4336-8F68-7B3B400E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1874F-9441-4A8B-895D-E44346C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Conteos y tasas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835E-70AB-4683-9F47-DC880686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7645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Controlan estabilidad, permiten auditoría y facilitan la rendición de cuentas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D28C7-AB4E-4D5C-BB77-AF05700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Separar robos y homicidios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C21D2-C394-4DA9-8C38-E221C9C3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La agregación ocultaría el patrón de homicidios porque los robos representan 99,2% de los casos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136EC-1FE7-4601-BA96-BFAA145A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Decisión concreta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8F8AE-7215-4889-9C6B-36033622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98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Autorizar un piloto limitado de 8 a 12 semanas antes de escalar</a:t>
            </a:r>
          </a:p>
        </p:txBody>
      </p:sp>
    </p:spTree>
    <p:extLst>
      <p:ext uri="{BB962C8B-B14F-4D97-AF65-F5344CB8AC3E}">
        <p14:creationId xmlns:p14="http://schemas.microsoft.com/office/powerpoint/2010/main" val="133459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6CFEC-D056-4DE5-9B6B-7A85E96A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2D8B0-CED4-4728-B192-E125ABE9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4F171-3757-4FC2-880B-BDA4FD7D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Datos y calidad de la unión espacial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682C7-0FF0-4EF7-A9D9-5EBC75B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D6AF2-5DD4-415B-B17A-5F1505C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37168-A71F-4370-8286-6E0F78C3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4C3CD-CF96-4BEC-BCC8-6DCD581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17.747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8FE9-5E23-4246-946C-FA07F79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76A65-B8DB-4F1B-8040-DFCD2A9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543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17.603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7D41E-0592-40AE-A292-363908FD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95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robos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0CC2-0608-4843-B760-AA71904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43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144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7E31F-3141-49AB-BB61-672734D3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homicidios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85719-5DF4-44BE-836A-B88CC503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43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E5AD3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E5AD3D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C024A-CB33-4FA3-8ED1-A2F74C9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95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áreas comunitarias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D9A1B-DCF8-4146-B3F9-85437CA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099DA-9FAD-4C6E-A870-B63372F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99,59%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E731B-A983-4091-8CDA-021DC41C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de los puntos cae dentro de un polígono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DD1EA-B6FF-4380-ACEB-C4DBE24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96,93%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AFC6D-F21D-482F-A75A-1D82BE6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coincide además con el área reportada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AA7D2-F18C-4E3D-83F1-2C120AA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Las discrepancias se conservan para auditoría. No se corrigen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969547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3C68D-7A7B-4941-9E21-3BEF061F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17ABC-D902-415A-84FA-D8BEB7D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5AD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AD3D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B19BA-A43B-40D7-B742-11BB101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Conteo y densidad por superficie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2FFE6-46DA-40F7-9C60-66E536E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6210D-83D2-431C-B51E-3350D87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52937-2EFB-4E67-9867-2360D934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1af26132b49fc"/>
          <a:stretch xmlns:a="http://schemas.openxmlformats.org/drawingml/2006/main"/>
        </p:blipFill>
        <p:spPr>
          <a:xfrm xmlns:a="http://schemas.openxmlformats.org/drawingml/2006/main">
            <a:off x="495300" y="1946825"/>
            <a:ext cx="6667500" cy="3307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524750" y="1666875"/>
          <a:ext xmlns:a="http://schemas.openxmlformats.org/drawingml/2006/main" cx="3905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f54b7be35446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1DBB1-04FC-491C-A77D-25059060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31,7%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3F9F2-5156-4E2A-9ADD-65A8EA5F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291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de los eventos está en cinco áreas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3260B-D378-476F-B282-337EDB5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Nueve áreas permanecen en ambos top 10, pero el orden cambia al normalizar.</a:t>
            </a:r>
          </a:p>
        </p:txBody>
      </p:sp>
    </p:spTree>
    <p:extLst>
      <p:ext uri="{BB962C8B-B14F-4D97-AF65-F5344CB8AC3E}">
        <p14:creationId xmlns:p14="http://schemas.microsoft.com/office/powerpoint/2010/main" val="290235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BB6D9-57FD-46AA-8607-870F38C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1377C-5625-4C96-8BB2-F59DBEF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1993-3334-4CB7-AFD1-408D23D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Robos y homicidios siguen patrones distintos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589DA-D340-4F63-B33C-3DE2A96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03AD6-F946-47C6-90AD-716024BF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FFC1F-7FF3-4D9C-863D-C4E3A21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65f26410c4453"/>
          <a:stretch xmlns:a="http://schemas.openxmlformats.org/drawingml/2006/main"/>
        </p:blipFill>
        <p:spPr>
          <a:xfrm xmlns:a="http://schemas.openxmlformats.org/drawingml/2006/main">
            <a:off x="819073" y="1428750"/>
            <a:ext cx="5838979" cy="4333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7C2E8-EB22-4BF7-8412-1E7F0DB5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r = 0,17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F7B1D-2B54-41C4-B353-F1E09DB9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correlación lineal débil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04000-9ABD-47B1-8157-E47CCC3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R² = 0,03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B252F-67B9-4E53-890A-345F1A8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los robos casi no explican la variación de homicidios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433F7-B02C-4273-ADDE-B1F43BE6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52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Austin, North Lawndale y Humboldt Park tienen más homicidios de lo esperado por su número de robos.</a:t>
            </a:r>
          </a:p>
        </p:txBody>
      </p:sp>
    </p:spTree>
    <p:extLst>
      <p:ext uri="{BB962C8B-B14F-4D97-AF65-F5344CB8AC3E}">
        <p14:creationId xmlns:p14="http://schemas.microsoft.com/office/powerpoint/2010/main" val="1968458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0AE44-D2BC-4A83-9457-1E98479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9C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0BA20-F74F-46B2-B471-96839C1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B9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B9C6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EDCFF-74DB-40C8-95A7-216C613B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La distancia al centro sirve como diagnóstico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6EBD9-D943-4E01-86F8-ED6F99C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2CBFF-5364-40D2-9119-47761584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1E1E4-ED10-4D35-B8B2-2D4F568F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14e5df35c8442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DE13D-9A34-48BF-834F-3FFBAF5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Robos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A30B3-9E9D-44DF-98F1-A59ACAC8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Kernel lineal</a:t>
            </a:r>
          </a:p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h = 0,25 km</a:t>
            </a:r>
          </a:p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mediana = 8,64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077DD-5232-4539-B40C-16EB008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Homicidios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A344F-D3F8-4159-9B07-CF8F103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Kernel lineal</a:t>
            </a:r>
          </a:p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h = 1,47 km</a:t>
            </a:r>
          </a:p>
          <a:p xmlns:a="http://schemas.openxmlformats.org/drawingml/2006/main">
            <a:pPr algn="l">
              <a:defRPr sz="150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mediana = 10,72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28075-C52C-450D-8E2B-7D30EED0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Un anillo alrededor del centro no identifica una calle ni una ruta de patrullaje.</a:t>
            </a:r>
          </a:p>
        </p:txBody>
      </p:sp>
    </p:spTree>
    <p:extLst>
      <p:ext uri="{BB962C8B-B14F-4D97-AF65-F5344CB8AC3E}">
        <p14:creationId xmlns:p14="http://schemas.microsoft.com/office/powerpoint/2010/main" val="545777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4419A-5853-4460-A8F7-5588A29E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D76BF-D46C-436C-8DBA-95D344E6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4E57D-DDF9-40DB-B672-C72320D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El ancho de banda cambia los puntos calientes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148C0-3E30-4881-9489-6621F97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90DDB-7FB9-4F06-9192-A8E7E2E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BEADA-A98F-4750-8FCB-711A521F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db0a7afdb4579"/>
          <a:stretch xmlns:a="http://schemas.openxmlformats.org/drawingml/2006/main"/>
        </p:blipFill>
        <p:spPr>
          <a:xfrm xmlns:a="http://schemas.openxmlformats.org/drawingml/2006/main">
            <a:off x="1252079" y="1381125"/>
            <a:ext cx="6163591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94771-F412-496F-9F3F-DE67FF7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Robos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769FD-EF3D-4539-B3FA-48B7D3C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Acuerdo de áreas</a:t>
            </a:r>
          </a:p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Jaccard = 0,67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41EFF-2704-4F03-97BE-C7847E02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Homicidios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768C6-CFB0-4C4E-8B21-CD779C7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Acuerdo de áreas</a:t>
            </a:r>
          </a:p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Jaccard = 0,25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B093E-53C9-4309-ACEF-29F96FE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El detalle de cv_ml ayuda a localizar. La baja estabilidad obliga a exigir persistencia.</a:t>
            </a:r>
          </a:p>
        </p:txBody>
      </p:sp>
    </p:spTree>
    <p:extLst>
      <p:ext uri="{BB962C8B-B14F-4D97-AF65-F5344CB8AC3E}">
        <p14:creationId xmlns:p14="http://schemas.microsoft.com/office/powerpoint/2010/main" val="1458285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3202E-8A34-4F6F-8D96-C537DF2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D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FDC45-0656-4AF0-87CC-1519F7A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5AD3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AD3D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10237-42B7-49B4-AF6B-1BB044A1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La actividad comercial se asocia con robos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12F06-D702-4EBC-8F4B-166ACD3E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6CC89-B225-4600-A477-5D47BFC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F9C2D-9D6F-4526-BDC9-9F460166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c0df1a7edb43e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43E9A-56FC-4A11-A36D-8BD119FA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Pearson r × 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EC1DA-0A31-4E54-806D-B5A54CDB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24.885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2A66F-5CF6-48CC-8786-6AD4EC2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38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elementos comerciales OSM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10B55-9BBF-4E41-B880-E707BD4E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Interpretación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1C7B1-64F4-498A-BBF8-3E08E52D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19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76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Más comercio implica mayor exposición y oportunidad de robo. El patrón no aparece para homicidios.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A6D56-AD60-472E-BB0E-8BCC425C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Límite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D0F54-984D-4616-883B-51DD53CE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86375"/>
            <a:ext cx="319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OSM 2026 es un proxy, no una medición causal contemporánea al delito de 2019.</a:t>
            </a:r>
          </a:p>
        </p:txBody>
      </p:sp>
    </p:spTree>
    <p:extLst>
      <p:ext uri="{BB962C8B-B14F-4D97-AF65-F5344CB8AC3E}">
        <p14:creationId xmlns:p14="http://schemas.microsoft.com/office/powerpoint/2010/main" val="1036574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4EBCB-6244-443E-88C4-F459A83A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B5C50-C8BE-4860-8ACF-3320C283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8347F-0EA6-4086-AFA0-3FC196D3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Ranking de procedimientos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86D0A-E6CB-442F-8C3F-F40AA9CE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1F460-1689-4169-BFEB-A5D3142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3CB45-BE11-4FF3-99C4-35B0EB1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d725ef05c43b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5E240-9281-4708-8204-9B56EB6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Criterios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C7291-07BE-48DD-B5DB-AC4E0C2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85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Utilidad operativa 30%</a:t>
            </a:r>
          </a:p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Estabilidad 25%</a:t>
            </a:r>
          </a:p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Granularidad 20%</a:t>
            </a:r>
          </a:p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Comparabilidad 15%</a:t>
            </a:r>
          </a:p>
          <a:p xmlns:a="http://schemas.openxmlformats.org/drawingml/2006/main">
            <a:pPr algn="l">
              <a:defRPr sz="157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Transparencia 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F950A-AD57-4ED0-8CCB-1EA5DEA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02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KDE cv_ml ocupa el primer lugar, pero necesita la capa territorial para controlar estabilidad y rendir cuentas.</a:t>
            </a:r>
          </a:p>
        </p:txBody>
      </p:sp>
    </p:spTree>
    <p:extLst>
      <p:ext uri="{BB962C8B-B14F-4D97-AF65-F5344CB8AC3E}">
        <p14:creationId xmlns:p14="http://schemas.microsoft.com/office/powerpoint/2010/main" val="266524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799BB-9EA1-40B4-A586-F42ECF24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9C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24CA-77EE-48AB-BA47-E1A5F08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B9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B9C6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76510-9CDA-47A0-9FA8-068BB20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Transferencia de Chicago a Bogotá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FE0DF-2EEE-4DD6-8D7C-41E2F8A9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B320C-7AE0-4F4F-8AA4-9AE8F12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68895-F226-4647-B979-633A298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7D566-0B8B-4D9E-944D-3F77ECFF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Se transfiere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CF955-67B1-44DC-B06A-68FC0D1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Validar CRS y coordenadas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Separar delitos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Comparar métodos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Probar sensibilidad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Definir una regla operativa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39455-4134-448F-BD12-80CF938B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240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74862-6F49-4880-BADF-1D6234A4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Se vuelve a estimar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47810-3557-442C-A887-CF59775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Anchos de banda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Puntos calientes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Horarios y exposición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Geografías de control</a:t>
            </a:r>
          </a:p>
          <a:p xmlns:a="http://schemas.openxmlformats.org/drawingml/2006/main">
            <a:pPr algn="l">
              <a:defRPr sz="1725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Mezcla de delitos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28DB6-0F7D-4B8C-AC33-6AC21F83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Escala propuesta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1C61A-3510-49D0-A99A-90582ED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23B5D"/>
                </a:solidFill>
                <a:latin typeface="Arial"/>
                <a:ea typeface="Arial"/>
                <a:cs typeface="Arial"/>
              </a:rPr>
              <a:t>Cuadrantes o microterritorios, con MAGNA-SIRGAS para medir y conocimiento local para revisar factibilidad.</a:t>
            </a:r>
          </a:p>
        </p:txBody>
      </p:sp>
    </p:spTree>
    <p:extLst>
      <p:ext uri="{BB962C8B-B14F-4D97-AF65-F5344CB8AC3E}">
        <p14:creationId xmlns:p14="http://schemas.microsoft.com/office/powerpoint/2010/main" val="16770354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B43CA-0ADB-4CBB-B8A3-F7148E87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11B8B-00A7-4672-81AC-63E3C9B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8C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8C8B"/>
                </a:solidFill>
                <a:latin typeface="Arial"/>
                <a:ea typeface="Arial"/>
                <a:cs typeface="Arial"/>
              </a:rPr>
              <a:t>TALLER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59EEF-2168-41F4-BF96-565C826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Piloto de 8 a 12 semanas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0F487-04CA-4BB1-9B8E-311F95F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8CB6E-7F39-42A4-B0FD-47395E06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MIID 4303 · Aprendizaje No Supervisado · Grupo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7BFEA-E9E9-455F-A35E-979850F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40312-2A08-451D-B701-94E69A81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D087-6D8A-41D8-80A8-36F69E1A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8FCDC-144F-409B-B0D7-0A57FC2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Línea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4F710-AD5A-4F11-8AC2-9A21590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Delitos, llamadas, respuesta y patrullaje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7993B-67D2-474C-9C15-519F766A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D4CEA-2840-4537-9FF0-72C9D7CB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0F9EC-D3FB-44CC-B74E-A00B809E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81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AF02-D8EF-4BFE-8656-AB71929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28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Asignación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BDBFE-3611-4BE3-B57B-5000C8A1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Microterritorios comparables y despliegue escalonado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98C20-2630-450B-88A4-AC0A7A51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82B47-6A6D-46DC-A320-FC4D230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529B8-F9E2-4C10-BC2E-BDF1ECA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81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E90AC-8373-4E00-805A-D24A878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718B7-B54B-476D-AC6A-CA97A0D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Persistencia, desplazamiento, quejas y contactos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79A5-61C1-4271-820F-E080D05E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17315-7E61-4581-B198-B7FD81DE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D3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C7FAA-395C-4DAE-9A36-FEC1D206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81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84FE3-7722-4313-ABBE-20BFA51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288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46A8E-9AFA-4FB8-9F57-1DBEF213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F7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F79"/>
                </a:solidFill>
                <a:latin typeface="Arial"/>
                <a:ea typeface="Arial"/>
                <a:cs typeface="Arial"/>
              </a:rPr>
              <a:t>Escalar, ajustar o retirar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EB8B0-4EEC-499A-AAF0-69C88B9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0CAEB-B2D6-442F-A594-5A7827A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064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06449"/>
                </a:solidFill>
                <a:latin typeface="Arial"/>
                <a:ea typeface="Arial"/>
                <a:cs typeface="Arial"/>
              </a:rPr>
              <a:t>Resguardos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C2FD7-15E3-4996-BF1A-B544D383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Revisión humana · auditoría de sesgo · separación de delitos · ventana temporal · retiro automático de zonas inestables</a:t>
            </a:r>
          </a:p>
        </p:txBody>
      </p:sp>
    </p:spTree>
    <p:extLst>
      <p:ext uri="{BB962C8B-B14F-4D97-AF65-F5344CB8AC3E}">
        <p14:creationId xmlns:p14="http://schemas.microsoft.com/office/powerpoint/2010/main" val="316203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DD880-7408-447F-9A0A-1C6A615F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8B9C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8B9C6"/>
                </a:solidFill>
                <a:latin typeface="Arial"/>
                <a:ea typeface="Arial"/>
                <a:cs typeface="Arial"/>
              </a:rPr>
              <a:t>Decisión solicitada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F33C-DA8A-4E71-BD03-DDDAC218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Autorizar un piloto limitado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9734A-3524-49B5-9ACB-E03343D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KDE por delito para localizar. Conteos y tasas para controlar. Evaluación para decidir si funciona.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8E58-997B-4505-8831-8378CAF1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A3C11-ADDF-41FA-AE0E-326C419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DE8E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DDE8EC"/>
                </a:solidFill>
                <a:latin typeface="Arial"/>
                <a:ea typeface="Arial"/>
                <a:cs typeface="Arial"/>
              </a:rPr>
              <a:t>El mapa de calor orienta la pregunta operativa. El piloto determina si la intervención reduce daño.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64BA3-C2A4-4438-9356-82D54C54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8E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DE8EC"/>
                </a:solidFill>
                <a:latin typeface="Arial"/>
                <a:ea typeface="Arial"/>
                <a:cs typeface="Arial"/>
              </a:rPr>
              <a:t>Cuaderno reproducible y resultados disponibles en la carpeta de entrega</a:t>
            </a:r>
          </a:p>
        </p:txBody>
      </p:sp>
    </p:spTree>
    <p:extLst>
      <p:ext uri="{BB962C8B-B14F-4D97-AF65-F5344CB8AC3E}">
        <p14:creationId xmlns:p14="http://schemas.microsoft.com/office/powerpoint/2010/main" val="947093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2026-09-17T02:10:25.9150000Z</dcterms:created>
  <dcterms:modified xsi:type="dcterms:W3CDTF">2026-09-17T02:10:25.9150000Z</dcterms:modified>
</coreProperties>
</file>