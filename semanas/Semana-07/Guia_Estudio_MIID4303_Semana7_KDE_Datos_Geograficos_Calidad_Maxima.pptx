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6C7DD"/>
                </a:solidFill>
                <a:latin typeface="Aptos Display"/>
              </a:rPr>
              <a:t>MIID 4303 · ANÁLISIS DE PUNTOS CALIENTES GEOGRÁFICOS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98448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Aptos Display"/>
              </a:rPr>
              <a:t>KDE en profundidad:
del histograma al mapa de densidad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90672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D7E4EE"/>
                </a:solidFill>
                <a:latin typeface="Aptos"/>
              </a:rPr>
              <a:t>Densidad, kernels, ancho de banda, sesgo-varianza, validación cruzada, CRS y estimación multivariada aplicada a crimen.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681728"/>
            <a:ext cx="1993392" cy="6400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19933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4C031"/>
                </a:solidFill>
                <a:latin typeface="Aptos Display"/>
              </a:rPr>
              <a:t>HISTOGRAMA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99232" y="4681728"/>
            <a:ext cx="1993392" cy="6400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4892040"/>
            <a:ext cx="19933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C7DD"/>
                </a:solidFill>
                <a:latin typeface="Aptos Display"/>
              </a:rPr>
              <a:t>KERNEL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66944" y="4681728"/>
            <a:ext cx="1993392" cy="6400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4892040"/>
            <a:ext cx="19933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C9469"/>
                </a:solidFill>
                <a:latin typeface="Aptos Display"/>
              </a:rPr>
              <a:t>BANDWIDTH 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34656" y="4681728"/>
            <a:ext cx="1993392" cy="6400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4656" y="4892040"/>
            <a:ext cx="19933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B892C"/>
                </a:solidFill>
                <a:latin typeface="Aptos Display"/>
              </a:rPr>
              <a:t>CRS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4681728"/>
            <a:ext cx="1993392" cy="6400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02368" y="4892040"/>
            <a:ext cx="19933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1429B"/>
                </a:solidFill>
                <a:latin typeface="Aptos Display"/>
              </a:rPr>
              <a:t>HOTSPOTS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33872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C031"/>
                </a:solidFill>
                <a:latin typeface="Aptos Display"/>
              </a:rPr>
              <a:t>ENTENDER → CALCULAR → VALIDAR → MAPEAR → DEFENDER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Ruta conceptual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1 · Densidad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Por qué estimarla y dónde aparece en ML.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2 · Paramétrico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Normal: asumir forma funcional y estimar μ, σ.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3 · No paramétrico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Estimar f sin imponer una familia específica.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4 · Histograma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Primer estimador de densidad y sus limitaciones.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5 · KDE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Kernel + ancho de banda 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6 · Geografía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CRS, distancias, KDE 2D y hotspots.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0" b="1">
                <a:solidFill>
                  <a:srgbClr val="1C2530"/>
                </a:solidFill>
                <a:latin typeface="Aptos Display"/>
              </a:rPr>
              <a:t>La sesión prepara directamente el taller de Chicago: homicidios y robos pueden tener densidades espaciales distintas.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¿Por qué estimar densidades?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Clustering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DBSCAN ya usa la idea de regiones con mayor densidad.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KDE / GMM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semana 7 estima densidades; la siguiente extiende al enfoque paramétrico de mezclas.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Regresión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esperanza condicional puede expresarse mediante densidades.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Clasificación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 densidades y Bayes se pueden estimar probabilidades.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Bootstrap / bosques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conecta la CDF empírica y Glivenko-Cantelli con herramientas previas.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Principio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Dejar que los datos revelen patrones con la menor estructura necesaria.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FUNDAMENTO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CDF, densidad y esperanza condicional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749808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92224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1429B"/>
                </a:solidFill>
                <a:latin typeface="Aptos Display"/>
              </a:rPr>
              <a:t>f(x) = dF(x) / dx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97480"/>
            <a:ext cx="59436" cy="141732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825496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CDF empírica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63824"/>
            <a:ext cx="29169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recuerda que aproxima la CDF verdadera cuando aumenta 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6974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697480"/>
            <a:ext cx="59436" cy="141732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825496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Target supervisado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163824"/>
            <a:ext cx="29169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 pérdida cuadrática, f*(x) = E[Y | X=x].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697480"/>
            <a:ext cx="59436" cy="141732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825496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Conexión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163824"/>
            <a:ext cx="291693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E[Y|X=x] se construye integrando y respecto a una densidad condicional.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C2530"/>
                </a:solidFill>
                <a:latin typeface="Aptos Display"/>
              </a:rPr>
              <a:t>Mensaje del profesor: estimar densidades no es un tema aislado; conecta estadística, ML supervisado y no supervisado.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Paramétrico vs. no paramétrico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Paramétrico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Se asume una familia funcional, por ejemplo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Ventaja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Si la forma es correcta, basta estimar pocos parámetros.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Normal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reduce el problema a μ y σ.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Máxima verosimilitud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Media y varianza muestral aparecen como estimadores MLE en el ejemplo.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No paramétrico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impone una forma funcional particular para 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Más flexibilidad a cambio de mayor costo y decisiones de suavizado.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0" b="1">
                <a:solidFill>
                  <a:srgbClr val="1C2530"/>
                </a:solidFill>
                <a:latin typeface="Aptos Display"/>
              </a:rPr>
              <a:t>Caveat de la clase: el estimador MLE de la varianza es sesgado en muestra finita, aunque consistente.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Histograma = primer estimador de densidad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Intervalos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Se definen desde un punto inicial A y un ancho 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Frecuencia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Cuenta observaciones dentro de cada intervalo.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Altura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Densidad estimada ≈ n_j / (n·W).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Intuición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Más puntos en el intervalo → mayor densidad.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Área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Representa frecuencia relativa.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Valor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Es básico, barato y muy informativo cuando se usa bien.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Tres problemas del histograma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Origen sensible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Mover el punto inicial cambia la estimación.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Ancho sensible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Cambiar W puede ocultar o crear estructura aparente.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Discontinuidad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densidad salta en los bordes de los bins.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Robustez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Resultados que cambian demasiado por decisiones arbitrarias preocupan.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Cálculo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discontinuidad limita herramientas diferenciales.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Motivación KDE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Queremos una estimación suave que use información de todos los puntos.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KDE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La fórmula que organiza toda la semana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645920"/>
            <a:ext cx="10241280" cy="91440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38528"/>
            <a:ext cx="9875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F4C031"/>
                </a:solidFill>
                <a:latin typeface="Aptos Display"/>
              </a:rPr>
              <a:t>f̂_h(x) = (1 / n h) · Σ K((x - Xᵢ)/h)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99232"/>
            <a:ext cx="3246120" cy="15544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99232"/>
            <a:ext cx="59436" cy="155448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x ·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65576"/>
            <a:ext cx="29169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Punto donde queremos estimar la densidad.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2999232"/>
            <a:ext cx="3246120" cy="15544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999232"/>
            <a:ext cx="59436" cy="155448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312724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K ·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465576"/>
            <a:ext cx="29169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Convierte distancia al objetivo en un peso.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999232"/>
            <a:ext cx="3246120" cy="155448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999232"/>
            <a:ext cx="59436" cy="155448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3127248"/>
            <a:ext cx="2916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h · bandwidth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65576"/>
            <a:ext cx="29169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Controla la escala de influencia de las observaciones.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 Display"/>
              </a:rPr>
              <a:t>KDE conserva la lógica del histograma, pero reemplaza bins rígidos por contribuciones suaves.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¿Qué condiciones debe cumplir un kernel?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No negativo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Los pesos no deben ser negativos.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Simétrico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K(u)=K(-u): misma distancia, mismo peso.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Normalizado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Su integral sobre todo el dominio es 1.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Decreciente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 peso cae al alejarnos del centro.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Centrado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Por simetría/normalización, el valor esperado se ubica en 0.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Ejemplo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normal estándar cumple estas propiedades.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0" b="1">
                <a:solidFill>
                  <a:srgbClr val="1C2530"/>
                </a:solidFill>
                <a:latin typeface="Aptos Display"/>
              </a:rPr>
              <a:t>Usar un kernel gaussiano NO significa asumir que la densidad de los datos sea normal.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INTUICIÓN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Estimar la densidad en x =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2530"/>
                </a:solidFill>
                <a:latin typeface="Aptos Display"/>
              </a:rPr>
              <a:t>Supongamos kernel gaussiano y h = 1.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9875520" cy="36576"/>
          </a:xfrm>
          <a:prstGeom prst="rect">
            <a:avLst/>
          </a:prstGeom>
          <a:solidFill>
            <a:srgbClr val="5E6D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08307" y="2743200"/>
            <a:ext cx="164592" cy="164592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2003" y="3063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2530"/>
                </a:solidFill>
                <a:latin typeface="Aptos Display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4606082" y="2743200"/>
            <a:ext cx="164592" cy="16459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9778" y="3063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2530"/>
                </a:solidFill>
                <a:latin typeface="Aptos Display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6401631" y="2743200"/>
            <a:ext cx="164592" cy="16459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5327" y="3063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2530"/>
                </a:solidFill>
                <a:latin typeface="Aptos Display"/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9992729" y="2743200"/>
            <a:ext cx="164592" cy="164592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46425" y="306324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2530"/>
                </a:solidFill>
                <a:latin typeface="Aptos Display"/>
              </a:rPr>
              <a:t>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59436" cy="1234440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22776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Punto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Máxima contribución al estimar f(3). En clase: ≈ 0,398 para la normal estándar.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794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3794760"/>
            <a:ext cx="59436" cy="123444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3922776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Punto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261104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Está cerca: contribuye menos que 3, pero todavía pesa.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37947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5008" y="3794760"/>
            <a:ext cx="59436" cy="123444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922776"/>
            <a:ext cx="3008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Punto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261104"/>
            <a:ext cx="300837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Está lejos: contribución casi cero, pero no necesariamente exactamente cero.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B892C"/>
                </a:solidFill>
                <a:latin typeface="Aptos Display"/>
              </a:rPr>
              <a:t>Diferencia clave frente al histograma: todas las observaciones pueden contribuir, pero con pesos distintos.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Kernel ≠ densidad final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Confusión típica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Elegir kernel normal no obliga a que f̂ sea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Función de peso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 kernel decide cuánto aporta cada observación.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Superposición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Las contribuciones se suman para construir la densidad.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estimación final puede tener varios picos.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Kernel alternativo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Epanechnikov, top-hat/uniforme y triangular aparecen en la sesión.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Evidencia de clase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Los resultados suelen ser menos sensibles a K que a 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PARÁMETRO CRÍTICO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h controla el suavizado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0195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D4C4C"/>
                </a:solidFill>
                <a:latin typeface="Aptos Display"/>
              </a:rPr>
              <a:t>h pequeño</a:t>
            </a:r>
          </a:p>
        </p:txBody>
      </p:sp>
      <p:sp>
        <p:nvSpPr>
          <p:cNvPr id="8" name="Oval 7"/>
          <p:cNvSpPr/>
          <p:nvPr/>
        </p:nvSpPr>
        <p:spPr>
          <a:xfrm>
            <a:off x="1165860" y="2606040"/>
            <a:ext cx="411480" cy="271576"/>
          </a:xfrm>
          <a:prstGeom prst="ellipse">
            <a:avLst/>
          </a:prstGeom>
          <a:solidFill>
            <a:srgbClr val="CD4C4C"/>
          </a:solidFill>
          <a:ln>
            <a:solidFill>
              <a:srgbClr val="CD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34540" y="2606040"/>
            <a:ext cx="411480" cy="271576"/>
          </a:xfrm>
          <a:prstGeom prst="ellipse">
            <a:avLst/>
          </a:prstGeom>
          <a:solidFill>
            <a:srgbClr val="CD4C4C"/>
          </a:solidFill>
          <a:ln>
            <a:solidFill>
              <a:srgbClr val="CD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03220" y="2606040"/>
            <a:ext cx="411480" cy="271576"/>
          </a:xfrm>
          <a:prstGeom prst="ellipse">
            <a:avLst/>
          </a:prstGeom>
          <a:solidFill>
            <a:srgbClr val="CD4C4C"/>
          </a:solidFill>
          <a:ln>
            <a:solidFill>
              <a:srgbClr val="CD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47091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E6D7D"/>
                </a:solidFill>
                <a:latin typeface="Aptos Display"/>
              </a:rPr>
              <a:t>Vecindarios estrechos → mucho detalle → puede capturar ruido.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9469"/>
                </a:solidFill>
                <a:latin typeface="Aptos Display"/>
              </a:rPr>
              <a:t>h intermedio</a:t>
            </a:r>
          </a:p>
        </p:txBody>
      </p:sp>
      <p:sp>
        <p:nvSpPr>
          <p:cNvPr id="14" name="Oval 13"/>
          <p:cNvSpPr/>
          <p:nvPr/>
        </p:nvSpPr>
        <p:spPr>
          <a:xfrm>
            <a:off x="4754880" y="2468880"/>
            <a:ext cx="822960" cy="543153"/>
          </a:xfrm>
          <a:prstGeom prst="ellipse">
            <a:avLst/>
          </a:prstGeom>
          <a:solidFill>
            <a:srgbClr val="2C9469"/>
          </a:solidFill>
          <a:ln>
            <a:solidFill>
              <a:srgbClr val="2C9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23560" y="2468880"/>
            <a:ext cx="822960" cy="543153"/>
          </a:xfrm>
          <a:prstGeom prst="ellipse">
            <a:avLst/>
          </a:prstGeom>
          <a:solidFill>
            <a:srgbClr val="2C9469"/>
          </a:solidFill>
          <a:ln>
            <a:solidFill>
              <a:srgbClr val="2C9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2468880"/>
            <a:ext cx="822960" cy="543153"/>
          </a:xfrm>
          <a:prstGeom prst="ellipse">
            <a:avLst/>
          </a:prstGeom>
          <a:solidFill>
            <a:srgbClr val="2C9469"/>
          </a:solidFill>
          <a:ln>
            <a:solidFill>
              <a:srgbClr val="2C9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47091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E6D7D"/>
                </a:solidFill>
                <a:latin typeface="Aptos Display"/>
              </a:rPr>
              <a:t>Equilibra señal y variabilidad.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645920"/>
            <a:ext cx="342900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0195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C7DD"/>
                </a:solidFill>
                <a:latin typeface="Aptos Display"/>
              </a:rPr>
              <a:t>h grande</a:t>
            </a:r>
          </a:p>
        </p:txBody>
      </p:sp>
      <p:sp>
        <p:nvSpPr>
          <p:cNvPr id="20" name="Oval 19"/>
          <p:cNvSpPr/>
          <p:nvPr/>
        </p:nvSpPr>
        <p:spPr>
          <a:xfrm>
            <a:off x="8298180" y="2301240"/>
            <a:ext cx="1325880" cy="87508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66860" y="2301240"/>
            <a:ext cx="1325880" cy="87508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5540" y="2301240"/>
            <a:ext cx="1325880" cy="875080"/>
          </a:xfrm>
          <a:prstGeom prst="ellipse">
            <a:avLst/>
          </a:prstGeom>
          <a:solidFill>
            <a:srgbClr val="16C7DD"/>
          </a:solidFill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47091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E6D7D"/>
                </a:solidFill>
                <a:latin typeface="Aptos Display"/>
              </a:rPr>
              <a:t>Influencia extensa → superficie muy suave → puede ocultar picos.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Sesgo-varianza en KDE: aquí h invierte la intuición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 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estimación se vuelve más suave.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Sesgo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Un h grande puede borrar particularidades reales.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Varianza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curva fluctúa menos entre muestras.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Mayor flexibilidad local.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Sesgo 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Puede seguir mejor la forma observada.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Varianza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Puede terminar modelando ruido.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0" b="1">
                <a:solidFill>
                  <a:srgbClr val="1C2530"/>
                </a:solidFill>
                <a:latin typeface="Aptos Display"/>
              </a:rPr>
              <a:t>Objetivo: elegir h que minimice el error cuadrático medio, equilibrando sesgo² y varianza.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¿Cómo elegir h?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Scott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Regla del pulgar basada en supuestos teóricos.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Silverman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Otra regla del pulgar clásica.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Problema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En el ejemplo simulado, ambas podían fusionar picos que debían separarse.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Proponer una grilla de valores candidatos.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Cross-validation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Buscar el bandwidth con mejor desempeño fuera de muestra.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Práctica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validación también puede sobreajustarse; hay que revisar robustez.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Selección conjunta: bandwidth + kernel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Candidatos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Gaussiano, Epanechnikov, top-hat, triangular.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Candidatos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Explorar varias escalas.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Evaluar combinaciones de hiperparámetros.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Hallazgo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enfatiza que h suele dominar la sensibilidad.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Teoría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Epanechnikov se menciona como óptimo bajo ciertos criterios teóricos.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Criterio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Validación y utilidad práctica pesan más que una optimalidad aislada.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Antes de medir: CRS y geometría terrestre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GeoPandas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Pandas extendido para datos geográficos.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Sistema de referencia de coordenadas: define cómo representamos ubicaciones.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Tierra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es plana; su geometría afecta distancias.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WGS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menciona el sistema global usado ampliamente por GPS/Google.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MAGNA-SIRGAS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Se menciona como referencia relevante para Colombia/Latinoamérica.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Regla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calcular distancias sin entender la representación espacial.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Distancia geográfica: detalle pequeño, impacto grande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Latitud / longitud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Grados no equivalen automáticamente a kilómetros.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Curvatura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 efecto de la representación aumenta según la zona del planeta.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 taller exige especial cuidado al medir distancias.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Geodésica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usa herramientas geodésicas para obtener distancias físicas.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Ejemplo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En datos simulados de Bogotá se calculan distancias desde Plaza de Bolívar.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Chequeo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Una distancia física negativa es una señal de representación/visualización incorrecta.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APLICACIÓN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Bogotá simulada: tres centros de restaurantes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400800" cy="443484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67712" y="4023360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59472" y="4157091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73452" y="4162337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3120" y="4397806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38528" y="4116011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68591" y="4157091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56231" y="4023360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04227" y="3836136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56231" y="3930708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3120" y="3755898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50008" y="3884382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51459" y="3836136"/>
            <a:ext cx="91440" cy="91440"/>
          </a:xfrm>
          <a:prstGeom prst="ellipse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22191" y="3383280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13952" y="3517011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27932" y="3522257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57600" y="3757726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93008" y="3475931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23071" y="3517011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10712" y="3383280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158707" y="3196056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10711" y="3290628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57600" y="3115818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904488" y="3244302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05939" y="3196056"/>
            <a:ext cx="91440" cy="91440"/>
          </a:xfrm>
          <a:prstGeom prst="ellipse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33872" y="2423160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25632" y="2556890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9612" y="2562137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69280" y="2797606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04688" y="2515811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34751" y="2556890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22392" y="2423160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70387" y="2235936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22392" y="2330508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69280" y="2155698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16168" y="2284182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17619" y="2235936"/>
            <a:ext cx="91440" cy="91440"/>
          </a:xfrm>
          <a:prstGeom prst="ellipse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48640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 Display"/>
              </a:rPr>
              <a:t>Centro · Chapinero/Teusaquillo · Usaquén (datos simulados)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1691640"/>
            <a:ext cx="3840480" cy="123444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1691640"/>
            <a:ext cx="59436" cy="123444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1819656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Scott / Silverman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157984"/>
            <a:ext cx="35112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Pueden suavizar demasiado y detectar solo dos picos.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3154680"/>
            <a:ext cx="3840480" cy="123444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452360" y="3154680"/>
            <a:ext cx="59436" cy="123444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35240" y="3282696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Validación cruzada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621024"/>
            <a:ext cx="35112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Busca un h que recupere mejor la estructura de tres densidades.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4617720"/>
            <a:ext cx="3840480" cy="1234440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2360" y="4617720"/>
            <a:ext cx="59436" cy="1234440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4745736"/>
            <a:ext cx="3511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FFFFFF"/>
                </a:solidFill>
                <a:latin typeface="Aptos Display"/>
              </a:rPr>
              <a:t>Lección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5084064"/>
            <a:ext cx="351129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DAE6EF"/>
                </a:solidFill>
                <a:latin typeface="Aptos"/>
              </a:rPr>
              <a:t>Si conocemos la verdad simulada, podemos ver cuándo el suavizado fusiona estructuras.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De una dimensión al espacio 2D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1D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Primero se ilustra KDE sobre distancia a un punto de referencia.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Para el mapa necesitamos longitud y latitud.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Bandwidths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necesariamente deben ser iguales en ambas dimensiones.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CV multivariada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selecciona h por variable mediante validación cruzada.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Supuesto práctico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Producto de densidades implica independencia; el profesor lo reconoce como fuerte.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Alternativa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Dependencia más compleja puede modelarse, por ejemplo, con cópulas, a mayor costo.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Cuadrícula: cómo convertir KDE en un mapa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Extensión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Tomar mínimos y máximos de longitud/latitud.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Meshgrid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Crear una cuadrícula de puntos objetivo.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Resolución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Ejemplo: 200×200; 300×300 puede ser suficiente en muchos casos.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Predicción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Evaluar la densidad KDE en cada punto de la cuadrícula.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Velocidad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siempre hace falta evaluar millones de puntos.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Visualización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superficie puede representarse con colores y curvas de nivel.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Curvas de nivel = cortes de una montaña de densidad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6675120" cy="4297680"/>
          </a:xfrm>
          <a:prstGeom prst="roundRect">
            <a:avLst/>
          </a:prstGeom>
          <a:solidFill>
            <a:srgbClr val="EBF4F9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17320" y="3314700"/>
            <a:ext cx="1737360" cy="1051560"/>
          </a:xfrm>
          <a:prstGeom prst="ellipse">
            <a:avLst/>
          </a:prstGeom>
          <a:noFill/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1912" y="3415284"/>
            <a:ext cx="1408176" cy="850392"/>
          </a:xfrm>
          <a:prstGeom prst="ellipse">
            <a:avLst/>
          </a:prstGeom>
          <a:noFill/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46504" y="3515868"/>
            <a:ext cx="1078992" cy="649224"/>
          </a:xfrm>
          <a:prstGeom prst="ellipse">
            <a:avLst/>
          </a:prstGeom>
          <a:noFill/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11095" y="3616452"/>
            <a:ext cx="749807" cy="448055"/>
          </a:xfrm>
          <a:prstGeom prst="ellipse">
            <a:avLst/>
          </a:prstGeom>
          <a:noFill/>
          <a:ln>
            <a:solidFill>
              <a:srgbClr val="16C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628900"/>
            <a:ext cx="1737360" cy="1051560"/>
          </a:xfrm>
          <a:prstGeom prst="ellipse">
            <a:avLst/>
          </a:prstGeom>
          <a:noFill/>
          <a:ln>
            <a:solidFill>
              <a:srgbClr val="71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10712" y="2729484"/>
            <a:ext cx="1408176" cy="850392"/>
          </a:xfrm>
          <a:prstGeom prst="ellipse">
            <a:avLst/>
          </a:prstGeom>
          <a:noFill/>
          <a:ln>
            <a:solidFill>
              <a:srgbClr val="71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75304" y="2830068"/>
            <a:ext cx="1078992" cy="649224"/>
          </a:xfrm>
          <a:prstGeom prst="ellipse">
            <a:avLst/>
          </a:prstGeom>
          <a:noFill/>
          <a:ln>
            <a:solidFill>
              <a:srgbClr val="71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39896" y="2930652"/>
            <a:ext cx="749807" cy="448055"/>
          </a:xfrm>
          <a:prstGeom prst="ellipse">
            <a:avLst/>
          </a:prstGeom>
          <a:noFill/>
          <a:ln>
            <a:solidFill>
              <a:srgbClr val="71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0" y="2034539"/>
            <a:ext cx="1737360" cy="1051560"/>
          </a:xfrm>
          <a:prstGeom prst="ellipse">
            <a:avLst/>
          </a:prstGeom>
          <a:noFill/>
          <a:ln>
            <a:solidFill>
              <a:srgbClr val="F4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93792" y="2135124"/>
            <a:ext cx="1408176" cy="850392"/>
          </a:xfrm>
          <a:prstGeom prst="ellipse">
            <a:avLst/>
          </a:prstGeom>
          <a:noFill/>
          <a:ln>
            <a:solidFill>
              <a:srgbClr val="F4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58384" y="2235708"/>
            <a:ext cx="1078992" cy="649224"/>
          </a:xfrm>
          <a:prstGeom prst="ellipse">
            <a:avLst/>
          </a:prstGeom>
          <a:noFill/>
          <a:ln>
            <a:solidFill>
              <a:srgbClr val="F4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22976" y="2336291"/>
            <a:ext cx="749807" cy="448055"/>
          </a:xfrm>
          <a:prstGeom prst="ellipse">
            <a:avLst/>
          </a:prstGeom>
          <a:noFill/>
          <a:ln>
            <a:solidFill>
              <a:srgbClr val="F4C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18120" y="173736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1737360"/>
            <a:ext cx="59436" cy="1188720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86537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Cumbre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203704"/>
            <a:ext cx="3099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Región pequeña y central = mayor densidad.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1546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154680"/>
            <a:ext cx="59436" cy="1188720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28269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Contornos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621024"/>
            <a:ext cx="3099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Cada curva une puntos con nivel de densidad comparable.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5720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4572000"/>
            <a:ext cx="59436" cy="1188720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700016"/>
            <a:ext cx="3099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Probabilidad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5038344"/>
            <a:ext cx="309981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Integrar la densidad sobre un área produce probabilidad para esa región.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KDE vs. DBSCAN: parecen cercanos, responden distinto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DBSCAN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Asigna puntos a clusters o ruido.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Devuelve una función/valor de densidad.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Pregunta DBSCAN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¿A qué grupo pertenece este punto?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Pregunta KDE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¿Qué tan concentrado/probable es el evento en esta zona?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Espacio continuo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KDE permite evaluar zonas sin observaciones exactamente allí.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Hotspot policing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Para crimen, interesa la concentración sobre áreas, no solo etiquetas de cluster.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Taller Chicago: homicidios y robos NO comparten necesariamente 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Homicidios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Pueden concentrarse en ciertas zonas del sur/oeste según la discusión de clase.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Robos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Pueden concentrarse más en zonas centrales/comerciales.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Dispersión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Los dos fenómenos pueden tener escalas espaciales diferentes.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Bandwidth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Por ello, no imponer automáticamente el mismo 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Hotspots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Los puntos calientes de cada delito deben estimarse por separado.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Defensa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Explicar por qué la geografía y el tipo de evento cambian el suavizado.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Uso de la tierra como explicación espacial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Comercio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Más actividad comercial puede asociarse con mayor concentración de ciertos hurtos.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Ojos en la calle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discute cómo la presencia de personas puede relacionarse con patrones de violencia.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OpenStreetMap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Fuente abierta para extraer usos de suelo y amenidades.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Community areas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Chicago tiene 77 áreas comunitarias mencionadas para dividir el trabajo.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Correlación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El taller pide explorar relación entre crimen y patrones de uso del suelo.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Cuidado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Correlación espacial no implica causalidad.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Cuando el volumen de datos supera tu computador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Descargar/procesar toda una ciudad puede trabar equipos modestos.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Estrategia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“Un bocado a la vez”: dividir por barrios/áreas.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Procesar community area por community area.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OpenStreetMap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Hacer consultas espaciales más pequeñas.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Spark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La sesión menciona frameworks distribuidos como opción cuando realmente se necesitan.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Principio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sobredimensionar infraestructura si una estrategia simple resuelve el problema.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Robustez: lo que debes mostrar en el taller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Bandwidth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Comparar reglas del pulgar y validación cruzada.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Mostrar sensibilidad a varias funciones.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Documentar sistema de referencia y unidades.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Delito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Estimar homicidios y robos por separado.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Mapa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Interpretar densidades y contornos, no solo “dibujar bonito”.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Negocio/política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Conectar hotspot con asignación de recursos y uso del suelo.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Errores que pueden costar puntos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Kernel normal = datos normales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Falso: el kernel es un ponderador.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h arbitrario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No justificar el bandwidth.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Mismo h para todo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Ignorar que fenómenos/dimensiones pueden requerir escalas distintas.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CRS ignorado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Calcular distancias directamente sin revisar representación.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KDE = DBSCAN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Confundir densidad continua con asignación a clusters.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Mapa sin interpretación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Mostrar hotspots sin explicar por qué aparecen.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Quiz de estudio · 16 preguntas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27048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36776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1. ¿Qué relación hay entre F y 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1527048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5" y="1636776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2. ¿Qué asume un estimador paramétrico?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93976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203704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3. ¿Qué estima MLE en el ejemplo Normal?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093976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5" y="2203704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4. ¿Qué hace un histograma como estimador?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660904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770632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5. ¿Por qué el origen del histograma importa?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5936" y="2660904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2770632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6. ¿Qué reemplaza KDE frente a bins rígidos?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227832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37560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7. ¿Qué condiciones cumple un kernel?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3227832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3337560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8. ¿Kernel gaussiano implica datos normales?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04488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9. ¿Qué significa h pequeño?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3794760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5" y="3904488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10. ¿Qué ocurre con sesgo y varianza cuando h aumenta?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61688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471416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11. ¿Por qué usar cross-validation?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5936" y="4361688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5" y="4471416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12. ¿Qué es un CRS?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28616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038344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13. ¿Por qué latitud/longitud no deben tratarse ingenuamente como km?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45936" y="4928616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5" y="5038344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14. ¿Qué devuelve KDE que DBSCAN no devuelve?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495544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605272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15. ¿Qué es una cuadrícula de evaluación?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5936" y="5495544"/>
            <a:ext cx="5303520" cy="438912"/>
          </a:xfrm>
          <a:prstGeom prst="roundRect">
            <a:avLst/>
          </a:prstGeom>
          <a:solidFill>
            <a:srgbClr val="F4F8FC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7375" y="5605272"/>
            <a:ext cx="51023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1">
                <a:solidFill>
                  <a:srgbClr val="1C2530"/>
                </a:solidFill>
                <a:latin typeface="Aptos Display"/>
              </a:rPr>
              <a:t>16. ¿Por qué homicidios y robos pueden requerir bandwidth distinto?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GUÍA DE ESTUDIO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Mini taller: defensa metodológica en 6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72768"/>
            <a:ext cx="59436" cy="1353312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1 ·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Describe evento, coordenadas y unidad espacial.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72768"/>
            <a:ext cx="59436" cy="1353312"/>
          </a:xfrm>
          <a:prstGeom prst="rect">
            <a:avLst/>
          </a:prstGeom>
          <a:solidFill>
            <a:srgbClr val="F4C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2 · CRS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Justifica la referencia usada antes de medir.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72768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72768"/>
            <a:ext cx="59436" cy="1353312"/>
          </a:xfrm>
          <a:prstGeom prst="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700784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3 · Exploración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039112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Histograma/KDE 1D para entender escala.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328415"/>
            <a:ext cx="59436" cy="1353312"/>
          </a:xfrm>
          <a:prstGeom prst="rect">
            <a:avLst/>
          </a:prstGeom>
          <a:solidFill>
            <a:srgbClr val="71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4 · Selección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Compara Scott, Silverman y CV para 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328415"/>
            <a:ext cx="59436" cy="1353312"/>
          </a:xfrm>
          <a:prstGeom prst="rect">
            <a:avLst/>
          </a:prstGeom>
          <a:solidFill>
            <a:srgbClr val="EB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5 · KDE 2D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Construye cuadrícula y superficie de densidad.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328415"/>
            <a:ext cx="3383280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2440" y="3328415"/>
            <a:ext cx="59436" cy="1353312"/>
          </a:xfrm>
          <a:prstGeom prst="rect">
            <a:avLst/>
          </a:prstGeom>
          <a:solidFill>
            <a:srgbClr val="CD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345643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C2530"/>
                </a:solidFill>
                <a:latin typeface="Aptos Display"/>
              </a:rPr>
              <a:t>6 · Interpretación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3794759"/>
            <a:ext cx="3054096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5E6D7D"/>
                </a:solidFill>
                <a:latin typeface="Aptos"/>
              </a:rPr>
              <a:t>Contrasta hotspots con uso del suelo y tipo de delito.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486400"/>
            <a:ext cx="10469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41848"/>
            <a:ext cx="10195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0" b="1">
                <a:solidFill>
                  <a:srgbClr val="1C2530"/>
                </a:solidFill>
                <a:latin typeface="Aptos Display"/>
              </a:rPr>
              <a:t>La meta no es solo ejecutar código: debes poder defender por qué cada decisión metodológica es razonable.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C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CCFDE"/>
                </a:solidFill>
                <a:latin typeface="Aptos Display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CCFDE"/>
                </a:solidFill>
                <a:latin typeface="Aptos Display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C7DD"/>
                </a:solidFill>
                <a:latin typeface="Aptos Display"/>
              </a:rPr>
              <a:t>f = F'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densidad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36192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1429B"/>
                </a:solidFill>
                <a:latin typeface="Aptos Display"/>
              </a:rPr>
              <a:t>MLE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máxima verosimilitud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536192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4C031"/>
                </a:solidFill>
                <a:latin typeface="Aptos Display"/>
              </a:rPr>
              <a:t>HIST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n_j/(nW)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53144" y="1536192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1691639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C9469"/>
                </a:solidFill>
                <a:latin typeface="Aptos Display"/>
              </a:rPr>
              <a:t>KDE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1993391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estimación suave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697480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B892C"/>
                </a:solidFill>
                <a:latin typeface="Aptos Display"/>
              </a:rPr>
              <a:t>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kernel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2697480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D4C4C"/>
                </a:solidFill>
                <a:latin typeface="Aptos Display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bandwidth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2697480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C7DD"/>
                </a:solidFill>
                <a:latin typeface="Aptos Display"/>
              </a:rPr>
              <a:t>h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sesgo ↑ / varianza 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2697480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44584" y="285292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C9469"/>
                </a:solidFill>
                <a:latin typeface="Aptos Display"/>
              </a:rPr>
              <a:t>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154680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selección de 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58768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1429B"/>
                </a:solidFill>
                <a:latin typeface="Aptos Display"/>
              </a:rPr>
              <a:t>CRS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referencia espacial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858768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4C031"/>
                </a:solidFill>
                <a:latin typeface="Aptos Display"/>
              </a:rPr>
              <a:t>GEODÉSICA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distancia física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3858768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B892C"/>
                </a:solidFill>
                <a:latin typeface="Aptos Display"/>
              </a:rPr>
              <a:t>GRID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puntos objetivo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3144" y="3858768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44584" y="4014215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CD4C4C"/>
                </a:solidFill>
                <a:latin typeface="Aptos Display"/>
              </a:rPr>
              <a:t>KDE 2D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4315968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densidad espacial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020056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6C7DD"/>
                </a:solidFill>
                <a:latin typeface="Aptos Display"/>
              </a:rPr>
              <a:t>CONTOUR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curva de nivel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29000" y="5020056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C9469"/>
                </a:solidFill>
                <a:latin typeface="Aptos Display"/>
              </a:rPr>
              <a:t>DBSCAN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cluster/ruido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91072" y="5020056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1429B"/>
                </a:solidFill>
                <a:latin typeface="Aptos Display"/>
              </a:rPr>
              <a:t>KDE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valor de densidad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53144" y="5020056"/>
            <a:ext cx="2578608" cy="841248"/>
          </a:xfrm>
          <a:prstGeom prst="roundRect">
            <a:avLst/>
          </a:prstGeom>
          <a:solidFill>
            <a:srgbClr val="0C3052"/>
          </a:solidFill>
          <a:ln>
            <a:solidFill>
              <a:srgbClr val="30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44584" y="5175504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4C031"/>
                </a:solidFill>
                <a:latin typeface="Aptos Display"/>
              </a:rPr>
              <a:t>CHICAGO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5477256"/>
            <a:ext cx="23957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 Display"/>
              </a:rPr>
              <a:t>hotspots por delito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73952"/>
            <a:ext cx="73152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5E6D7D"/>
                </a:solidFill>
                <a:latin typeface="Aptos"/>
              </a:rPr>
              <a:t>MIID 4303 · Semana 7 · KDE y análisis geográfico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E6D7D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530"/>
                </a:solidFill>
                <a:latin typeface="Aptos Display"/>
              </a:rPr>
              <a:t>Checklist para dominar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881360" cy="32004"/>
          </a:xfrm>
          <a:prstGeom prst="rect">
            <a:avLst/>
          </a:prstGeom>
          <a:solidFill>
            <a:srgbClr val="16C7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E6D7D"/>
                </a:solidFill>
                <a:latin typeface="Aptos Display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36192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86484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270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Explico por qué estimar densidades es útil en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536192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2784" y="1586484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52704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Diferencio enfoque paramétrico y no paramétrico.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93976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14426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848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Interpreto el histograma como estimador.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093976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14426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20848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Identifico sus tres limitaciones principales.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651760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702052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4261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Explico cada término de la fórmula KDE.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2784" y="2651760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702052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264261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Sé por qué un kernel normal no impone normalidad.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3209544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259836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20040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Interpreto h como escala de suavizado.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2784" y="3209544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2784" y="3259836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3200400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Relaciono h con sesgo-varianza.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3767328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381762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7581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Justifico Scott, Silverman y validación cruzada.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767328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3817620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37581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Entiendo qué es CRS y por qué importa.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325112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4375403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31596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Sé cómo pasar de KDE 1D a KDE espacial 2D.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4325112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4375403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2" y="431596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Explico la función de una cuadrícula.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4882896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93318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487375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Diferencio KDE de DBSCAN.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72784" y="4882896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4933188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56832" y="487375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Interpreto curvas de nivel de densidad.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" y="5440679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54909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4315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0">
                <a:solidFill>
                  <a:srgbClr val="1C2530"/>
                </a:solidFill>
                <a:latin typeface="Aptos"/>
              </a:rPr>
              <a:t>Justifico bandwidth separado por tipo de delito.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5440679"/>
            <a:ext cx="274320" cy="274320"/>
          </a:xfrm>
          <a:prstGeom prst="roundRect">
            <a:avLst/>
          </a:prstGeom>
          <a:solidFill>
            <a:srgbClr val="2C9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72784" y="5490971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56832" y="54315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35" b="1">
                <a:solidFill>
                  <a:srgbClr val="1C2530"/>
                </a:solidFill>
                <a:latin typeface="Aptos Display"/>
              </a:rPr>
              <a:t>Puedo defender el flujo del taller de Chicago.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6108192"/>
            <a:ext cx="10469880" cy="310896"/>
          </a:xfrm>
          <a:prstGeom prst="round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6163056"/>
            <a:ext cx="10195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" b="1">
                <a:solidFill>
                  <a:srgbClr val="71429B"/>
                </a:solidFill>
                <a:latin typeface="Aptos Display"/>
              </a:rPr>
              <a:t>Fuente principal: transcripción de la sesión sincrónica suministrada por el usuario.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