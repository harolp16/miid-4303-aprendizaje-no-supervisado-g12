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6C7DD"/>
                </a:solidFill>
                <a:latin typeface="Aptos Display"/>
              </a:rPr>
              <a:t>MIID 4303 · ANÁLISIS DE PUNTOS CALIENTES GEOGRÁFICOS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98448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Datos geográficos,
densidad y puntos calientes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99232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7E4EE"/>
                </a:solidFill>
                <a:latin typeface="Aptos"/>
              </a:rPr>
              <a:t>Introducción visual a KDE y mezclas gaussianas para comprender dónde se concentran los eventos en el espacio.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2331720" cy="65836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16C7DD"/>
                </a:solidFill>
                <a:latin typeface="Aptos Display"/>
              </a:rPr>
              <a:t>LATITUD / LONGITUD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572000"/>
            <a:ext cx="2331720" cy="65836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480060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4C031"/>
                </a:solidFill>
                <a:latin typeface="Aptos Display"/>
              </a:rPr>
              <a:t>DENSIDAD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572000"/>
            <a:ext cx="2331720" cy="65836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480060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2C9469"/>
                </a:solidFill>
                <a:latin typeface="Aptos Display"/>
              </a:rPr>
              <a:t>KDE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4572000"/>
            <a:ext cx="2331720" cy="65836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480060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71429B"/>
                </a:solidFill>
                <a:latin typeface="Aptos Display"/>
              </a:rPr>
              <a:t>GMM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C031"/>
                </a:solidFill>
                <a:latin typeface="Aptos Display"/>
              </a:rPr>
              <a:t>Objetivo: ENTENDER → EXPLICAR → COMPARAR → INTERPRETAR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¿Por qué importa la geografía?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Procesos sociales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Los fenómenos sociales pueden mostrar patrones espaciales irregulares.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Contextos físicos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El lugar condiciona dónde y con qué intensidad ocurren ciertos eventos.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Comportamiento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Las decisiones individuales también dejan huellas geográficas.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Nueva capacidad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La tecnología permite registrar, mapear y analizar estas concentraciones.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Pregunta analítica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¿Dónde aparecen concentraciones inusualmente altas?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Decisión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La respuesta puede orientar la asignación de recursos escasos.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C2530"/>
                </a:solidFill>
                <a:latin typeface="Aptos Display"/>
              </a:rPr>
              <a:t>La geografía no es solo una coordenada: puede revelar estructura en los datos.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CASO MOTIVADOR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Policía de Chicago: recursos escasos, ciudad extensa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530"/>
                </a:solidFill>
                <a:latin typeface="Aptos Display"/>
              </a:rPr>
              <a:t>Problema de decisión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D7D"/>
                </a:solidFill>
                <a:latin typeface="Aptos"/>
              </a:rPr>
              <a:t>Identificar dónde el crimen está más concentrado para orientar recursos hacia las zonas con mayor intensidad de eventos.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536192"/>
            <a:ext cx="6126480" cy="4343400"/>
          </a:xfrm>
          <a:prstGeom prst="roundRect">
            <a:avLst/>
          </a:prstGeom>
          <a:solidFill>
            <a:srgbClr val="EBF4F9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783080"/>
            <a:ext cx="22860" cy="3749039"/>
          </a:xfrm>
          <a:prstGeom prst="rect">
            <a:avLst/>
          </a:prstGeom>
          <a:solidFill>
            <a:srgbClr val="C5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783080"/>
            <a:ext cx="22860" cy="3749039"/>
          </a:xfrm>
          <a:prstGeom prst="rect">
            <a:avLst/>
          </a:prstGeom>
          <a:solidFill>
            <a:srgbClr val="C5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0" y="1783080"/>
            <a:ext cx="22860" cy="3749039"/>
          </a:xfrm>
          <a:prstGeom prst="rect">
            <a:avLst/>
          </a:prstGeom>
          <a:solidFill>
            <a:srgbClr val="C5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69680" y="1783080"/>
            <a:ext cx="22860" cy="3749039"/>
          </a:xfrm>
          <a:prstGeom prst="rect">
            <a:avLst/>
          </a:prstGeom>
          <a:solidFill>
            <a:srgbClr val="C5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1783080"/>
            <a:ext cx="22860" cy="3749039"/>
          </a:xfrm>
          <a:prstGeom prst="rect">
            <a:avLst/>
          </a:prstGeom>
          <a:solidFill>
            <a:srgbClr val="C5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49240" y="2103120"/>
            <a:ext cx="5440680" cy="22860"/>
          </a:xfrm>
          <a:prstGeom prst="rect">
            <a:avLst/>
          </a:prstGeom>
          <a:solidFill>
            <a:srgbClr val="C5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49240" y="2926080"/>
            <a:ext cx="5440680" cy="22860"/>
          </a:xfrm>
          <a:prstGeom prst="rect">
            <a:avLst/>
          </a:prstGeom>
          <a:solidFill>
            <a:srgbClr val="C5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49240" y="3840480"/>
            <a:ext cx="5440680" cy="22860"/>
          </a:xfrm>
          <a:prstGeom prst="rect">
            <a:avLst/>
          </a:prstGeom>
          <a:solidFill>
            <a:srgbClr val="C5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49240" y="4800600"/>
            <a:ext cx="5440680" cy="22860"/>
          </a:xfrm>
          <a:prstGeom prst="rect">
            <a:avLst/>
          </a:prstGeom>
          <a:solidFill>
            <a:srgbClr val="C5D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2160" y="2377440"/>
            <a:ext cx="137160" cy="137160"/>
          </a:xfrm>
          <a:prstGeom prst="ellipse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80" y="2560320"/>
            <a:ext cx="137160" cy="137160"/>
          </a:xfrm>
          <a:prstGeom prst="ellipse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0" y="2331720"/>
            <a:ext cx="137160" cy="137160"/>
          </a:xfrm>
          <a:prstGeom prst="ellipse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60" y="2468880"/>
            <a:ext cx="137160" cy="137160"/>
          </a:xfrm>
          <a:prstGeom prst="ellipse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38160" y="4069080"/>
            <a:ext cx="137160" cy="137160"/>
          </a:xfrm>
          <a:prstGeom prst="ellipse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75320" y="4206240"/>
            <a:ext cx="137160" cy="137160"/>
          </a:xfrm>
          <a:prstGeom prst="ellipse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0" y="4041648"/>
            <a:ext cx="137160" cy="137160"/>
          </a:xfrm>
          <a:prstGeom prst="ellipse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41080" y="4297680"/>
            <a:ext cx="137160" cy="137160"/>
          </a:xfrm>
          <a:prstGeom prst="ellipse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66960" y="2743200"/>
            <a:ext cx="137160" cy="137160"/>
          </a:xfrm>
          <a:prstGeom prst="ellipse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49840" y="2926080"/>
            <a:ext cx="137160" cy="137160"/>
          </a:xfrm>
          <a:prstGeom prst="ellipse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0" y="2697480"/>
            <a:ext cx="137160" cy="137160"/>
          </a:xfrm>
          <a:prstGeom prst="ellipse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541324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E6D7D"/>
                </a:solidFill>
                <a:latin typeface="Aptos"/>
              </a:rPr>
              <a:t>Cada punto representa la localización de un evento.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794760"/>
            <a:ext cx="3931920" cy="1234440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0233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C7DD"/>
                </a:solidFill>
                <a:latin typeface="Aptos Display"/>
              </a:rPr>
              <a:t>PUNTO CALIENTE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37083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2530"/>
                </a:solidFill>
                <a:latin typeface="Aptos Display"/>
              </a:rPr>
              <a:t>Área donde existe una mayor concentración de puntos de datos.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¿Qué es el análisis de puntos calientes?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Puntos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Observaciones georreferenciadas: pares longitud–latitud.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Concentración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Buscamos zonas donde aparecen eventos con mayor frecuencia.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Hotspot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Área con concentración inusualmente alta de puntos.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Análisis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Proceso de encontrar esas áreas de concentración.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Herramienta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Se suele estimar una función de densidad.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Interpretación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Mayor densidad estimada → mayor concentración espacial.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C2530"/>
                </a:solidFill>
                <a:latin typeface="Aptos Display"/>
              </a:rPr>
              <a:t>El foco no es únicamente “ver puntos”, sino estimar la estructura espacial que podría haberlos generado.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CCFDE"/>
                </a:solidFill>
                <a:latin typeface="Aptos Display"/>
              </a:rPr>
              <a:t>CONCEPTO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De puntos observados a una función de densidad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BCCFDE"/>
                </a:solidFill>
                <a:latin typeface="Aptos Display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C7DD"/>
                </a:solidFill>
                <a:latin typeface="Aptos Display"/>
              </a:rPr>
              <a:t>1 · OBSERVAMOS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286000"/>
            <a:ext cx="146304" cy="146304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08760" y="2560320"/>
            <a:ext cx="146304" cy="146304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2240280"/>
            <a:ext cx="146304" cy="146304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03120" y="2514600"/>
            <a:ext cx="146304" cy="146304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23160" y="2331720"/>
            <a:ext cx="146304" cy="146304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43200" y="2651760"/>
            <a:ext cx="146304" cy="146304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72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4C031"/>
                </a:solidFill>
                <a:latin typeface="Aptos Display"/>
              </a:rPr>
              <a:t>2 · ESTIMAMOS</a:t>
            </a:r>
          </a:p>
        </p:txBody>
      </p:sp>
      <p:sp>
        <p:nvSpPr>
          <p:cNvPr id="14" name="Oval 13"/>
          <p:cNvSpPr/>
          <p:nvPr/>
        </p:nvSpPr>
        <p:spPr>
          <a:xfrm>
            <a:off x="4709160" y="2011680"/>
            <a:ext cx="2743200" cy="1143000"/>
          </a:xfrm>
          <a:prstGeom prst="ellipse">
            <a:avLst/>
          </a:prstGeom>
          <a:solidFill>
            <a:srgbClr val="20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0" y="2148840"/>
            <a:ext cx="2103120" cy="868680"/>
          </a:xfrm>
          <a:prstGeom prst="ellipse">
            <a:avLst/>
          </a:prstGeom>
          <a:solidFill>
            <a:srgbClr val="1F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72100" y="2286000"/>
            <a:ext cx="1417320" cy="59436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7860" y="2446020"/>
            <a:ext cx="685800" cy="27432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572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9469"/>
                </a:solidFill>
                <a:latin typeface="Aptos Display"/>
              </a:rPr>
              <a:t>3 · INTERPRETAMOS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1031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Una función matemática describe dónde es más probable observar eventos.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CE8F1"/>
                </a:solidFill>
                <a:latin typeface="Aptos Display"/>
              </a:rPr>
              <a:t>Intuición del video: entre funciones candidatas buscamos una que pueda describir los datos observados y su concentración espacial.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Dos caminos para estimar densidad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KDE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Estimación de densidad de kernel.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Tipo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Enfoque NO PARAMÉTRICO.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Supuesto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No impone una distribución subyacente específica.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GMM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Modelo de mezclas gaussianas.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Tipo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Enfoque PARAMÉTRICO.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Supuesto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Los datos provienen de una combinación de distribuciones normales.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C2530"/>
                </a:solidFill>
                <a:latin typeface="Aptos Display"/>
              </a:rPr>
              <a:t>El módulo contrasta flexibilidad no paramétrica (KDE) con estructura probabilística paramétrica (GMM).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KDE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Estimación de densidad de kernel: intuición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515600" cy="914400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56231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71429B"/>
                </a:solidFill>
                <a:latin typeface="Aptos Display"/>
              </a:rPr>
              <a:t>KDE depende conceptualmente de h (ancho de banda) y K (kernel).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59436" cy="1417320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h · ancho de banda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55848"/>
            <a:ext cx="291693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Controla cuánto se expande la influencia de cada observación.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288036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2272" y="2880360"/>
            <a:ext cx="59436" cy="1417320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301752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K · kernel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355848"/>
            <a:ext cx="291693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Función que define el peso que recibe cada observación.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88036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880360"/>
            <a:ext cx="59436" cy="1417320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3017520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Resultado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355848"/>
            <a:ext cx="291693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La suma de influencias produce una superficie de densidad.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2530"/>
                </a:solidFill>
                <a:latin typeface="Aptos Display"/>
              </a:rPr>
              <a:t>Idea visual: cada punto “derrama” influencia a su alrededor; la superposición revela zonas calientes.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KDE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El ancho de banda h controla el suavizado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C2530"/>
                </a:solidFill>
                <a:latin typeface="Aptos Display"/>
              </a:rPr>
              <a:t>h pequeño</a:t>
            </a:r>
          </a:p>
        </p:txBody>
      </p:sp>
      <p:sp>
        <p:nvSpPr>
          <p:cNvPr id="8" name="Oval 7"/>
          <p:cNvSpPr/>
          <p:nvPr/>
        </p:nvSpPr>
        <p:spPr>
          <a:xfrm>
            <a:off x="1755648" y="2761487"/>
            <a:ext cx="512064" cy="512064"/>
          </a:xfrm>
          <a:prstGeom prst="ellipse">
            <a:avLst/>
          </a:prstGeom>
          <a:solidFill>
            <a:srgbClr val="16C7DD"/>
          </a:solidFill>
          <a:ln>
            <a:solidFill>
              <a:srgbClr val="16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47672" y="2953512"/>
            <a:ext cx="128016" cy="128016"/>
          </a:xfrm>
          <a:prstGeom prst="ellipse">
            <a:avLst/>
          </a:prstGeom>
          <a:solidFill>
            <a:srgbClr val="05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61487" y="2487168"/>
            <a:ext cx="512064" cy="512064"/>
          </a:xfrm>
          <a:prstGeom prst="ellipse">
            <a:avLst/>
          </a:prstGeom>
          <a:solidFill>
            <a:srgbClr val="16C7DD"/>
          </a:solidFill>
          <a:ln>
            <a:solidFill>
              <a:srgbClr val="16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53512" y="2679192"/>
            <a:ext cx="128016" cy="128016"/>
          </a:xfrm>
          <a:prstGeom prst="ellipse">
            <a:avLst/>
          </a:prstGeom>
          <a:solidFill>
            <a:srgbClr val="05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67328" y="2898648"/>
            <a:ext cx="512064" cy="512064"/>
          </a:xfrm>
          <a:prstGeom prst="ellipse">
            <a:avLst/>
          </a:prstGeom>
          <a:solidFill>
            <a:srgbClr val="16C7DD"/>
          </a:solidFill>
          <a:ln>
            <a:solidFill>
              <a:srgbClr val="16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959352" y="3090672"/>
            <a:ext cx="128016" cy="128016"/>
          </a:xfrm>
          <a:prstGeom prst="ellipse">
            <a:avLst/>
          </a:prstGeom>
          <a:solidFill>
            <a:srgbClr val="05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61688" y="2578608"/>
            <a:ext cx="512064" cy="512064"/>
          </a:xfrm>
          <a:prstGeom prst="ellipse">
            <a:avLst/>
          </a:prstGeom>
          <a:solidFill>
            <a:srgbClr val="16C7DD"/>
          </a:solidFill>
          <a:ln>
            <a:solidFill>
              <a:srgbClr val="16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53712" y="2770632"/>
            <a:ext cx="128016" cy="128016"/>
          </a:xfrm>
          <a:prstGeom prst="ellipse">
            <a:avLst/>
          </a:prstGeom>
          <a:solidFill>
            <a:srgbClr val="05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892040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E6D7D"/>
                </a:solidFill>
                <a:latin typeface="Aptos Display"/>
              </a:rPr>
              <a:t>Influencia local: superficie más detallada.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60020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82880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C2530"/>
                </a:solidFill>
                <a:latin typeface="Aptos Display"/>
              </a:rPr>
              <a:t>h mayor</a:t>
            </a:r>
          </a:p>
        </p:txBody>
      </p:sp>
      <p:sp>
        <p:nvSpPr>
          <p:cNvPr id="19" name="Oval 18"/>
          <p:cNvSpPr/>
          <p:nvPr/>
        </p:nvSpPr>
        <p:spPr>
          <a:xfrm>
            <a:off x="7132319" y="2423160"/>
            <a:ext cx="1188720" cy="1188720"/>
          </a:xfrm>
          <a:prstGeom prst="ellipse">
            <a:avLst/>
          </a:prstGeom>
          <a:solidFill>
            <a:srgbClr val="16C7DD"/>
          </a:solidFill>
          <a:ln>
            <a:solidFill>
              <a:srgbClr val="16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62671" y="2953512"/>
            <a:ext cx="128016" cy="128016"/>
          </a:xfrm>
          <a:prstGeom prst="ellipse">
            <a:avLst/>
          </a:prstGeom>
          <a:solidFill>
            <a:srgbClr val="05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38160" y="2148840"/>
            <a:ext cx="1188720" cy="1188720"/>
          </a:xfrm>
          <a:prstGeom prst="ellipse">
            <a:avLst/>
          </a:prstGeom>
          <a:solidFill>
            <a:srgbClr val="16C7DD"/>
          </a:solidFill>
          <a:ln>
            <a:solidFill>
              <a:srgbClr val="16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68512" y="2679192"/>
            <a:ext cx="128016" cy="128016"/>
          </a:xfrm>
          <a:prstGeom prst="ellipse">
            <a:avLst/>
          </a:prstGeom>
          <a:solidFill>
            <a:srgbClr val="05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0" y="2560320"/>
            <a:ext cx="1188720" cy="1188720"/>
          </a:xfrm>
          <a:prstGeom prst="ellipse">
            <a:avLst/>
          </a:prstGeom>
          <a:solidFill>
            <a:srgbClr val="16C7DD"/>
          </a:solidFill>
          <a:ln>
            <a:solidFill>
              <a:srgbClr val="16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74352" y="3090672"/>
            <a:ext cx="128016" cy="128016"/>
          </a:xfrm>
          <a:prstGeom prst="ellipse">
            <a:avLst/>
          </a:prstGeom>
          <a:solidFill>
            <a:srgbClr val="05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38360" y="2240280"/>
            <a:ext cx="1188720" cy="1188720"/>
          </a:xfrm>
          <a:prstGeom prst="ellipse">
            <a:avLst/>
          </a:prstGeom>
          <a:solidFill>
            <a:srgbClr val="16C7DD"/>
          </a:solidFill>
          <a:ln>
            <a:solidFill>
              <a:srgbClr val="16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68712" y="2770632"/>
            <a:ext cx="128016" cy="128016"/>
          </a:xfrm>
          <a:prstGeom prst="ellipse">
            <a:avLst/>
          </a:prstGeom>
          <a:solidFill>
            <a:srgbClr val="05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59" y="4892040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E6D7D"/>
                </a:solidFill>
                <a:latin typeface="Aptos Display"/>
              </a:rPr>
              <a:t>Influencia más extendida: superficie más suave.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KDE: fortalezas y costo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Ventaja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No asume una forma específica para la distribución subyacente.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Flexibilidad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Puede adaptarse a patrones espaciales complejos.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Parámetro clave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h determina cuánto se suaviza la superficie.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Kernel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K define cómo decrece el peso alrededor de cada observación.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Costo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La flexibilidad puede implicar mayor demanda computacional.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Uso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Adecuado cuando no queremos imponer una forma paramétrica previa.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CCFDE"/>
                </a:solidFill>
                <a:latin typeface="Aptos Display"/>
              </a:rPr>
              <a:t>GMM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Mezclas gaussianas: varios componentes normales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BCCFDE"/>
                </a:solidFill>
                <a:latin typeface="Aptos Display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Supuesto: las observaciones surgen de una combinación de múltiples distribuciones normales.</a:t>
            </a:r>
          </a:p>
        </p:txBody>
      </p:sp>
      <p:sp>
        <p:nvSpPr>
          <p:cNvPr id="7" name="Oval 6"/>
          <p:cNvSpPr/>
          <p:nvPr/>
        </p:nvSpPr>
        <p:spPr>
          <a:xfrm>
            <a:off x="1783080" y="2606039"/>
            <a:ext cx="2286000" cy="1280160"/>
          </a:xfrm>
          <a:prstGeom prst="ellipse">
            <a:avLst/>
          </a:prstGeom>
          <a:solidFill>
            <a:srgbClr val="16C7DD"/>
          </a:solidFill>
          <a:ln>
            <a:solidFill>
              <a:srgbClr val="16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3136391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Componente 1</a:t>
            </a:r>
          </a:p>
        </p:txBody>
      </p:sp>
      <p:sp>
        <p:nvSpPr>
          <p:cNvPr id="9" name="Oval 8"/>
          <p:cNvSpPr/>
          <p:nvPr/>
        </p:nvSpPr>
        <p:spPr>
          <a:xfrm>
            <a:off x="4663440" y="2057400"/>
            <a:ext cx="2651760" cy="1554480"/>
          </a:xfrm>
          <a:prstGeom prst="ellipse">
            <a:avLst/>
          </a:prstGeom>
          <a:solidFill>
            <a:srgbClr val="71429B"/>
          </a:solidFill>
          <a:ln>
            <a:solidFill>
              <a:srgbClr val="714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72491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Componente 2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926079"/>
            <a:ext cx="2011680" cy="1097280"/>
          </a:xfrm>
          <a:prstGeom prst="ellipse">
            <a:avLst/>
          </a:prstGeom>
          <a:solidFill>
            <a:srgbClr val="F4C031"/>
          </a:solidFill>
          <a:ln>
            <a:solidFill>
              <a:srgbClr val="F4C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3364991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Componente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BE7F0"/>
                </a:solidFill>
                <a:latin typeface="Aptos Display"/>
              </a:rPr>
              <a:t>La densidad total se construye combinando las densidades de los componentes.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¿Qué debe estimar un GMM?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Media 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Centro de cada componente normal.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Varianza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Dispersión de cada componente.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Covarianza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Cómo varían conjuntamente las dimensiones.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Matriz 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Resume varianzas y covarianzas de cada componente.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Componentes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Cada normal representa una estructura probabilística dentro de la mezcla.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Pertenencia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Cada observación recibe probabilidades de pertenencia.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C2530"/>
                </a:solidFill>
                <a:latin typeface="Aptos Display"/>
              </a:rPr>
              <a:t>En datos geográficos bidimensionales, cada componente modela una distribución sobre longitud y latitud.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CONEXIÓN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GMM como generalización probabilística de k-medias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0749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59436" cy="3429000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45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K-MEDIAS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21408"/>
            <a:ext cx="4745736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Cada observación se asigna a un único cluster.
La pertenencia es “dura”: una observación queda en un grupo.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0749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9436" cy="3429000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745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MEZCLA GAUSSIANA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21408"/>
            <a:ext cx="4745736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Cada observación obtiene una distribución de probabilidad de pertenencia.
La pertenencia es “suave”: puede existir incertidumbre entre componentes.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B892C"/>
                </a:solidFill>
                <a:latin typeface="Aptos Display"/>
              </a:rPr>
              <a:t>Cambio clave: CLUSTER ÚNICO → PROBABILIDAD DE PERTENENCIA A CADA COMPONENTE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COMPARACIÓN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KDE vs. GMM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2011680" cy="530352"/>
          </a:xfrm>
          <a:prstGeom prst="roundRect">
            <a:avLst/>
          </a:prstGeom>
          <a:solidFill>
            <a:srgbClr val="05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2821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Criterio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1554480"/>
            <a:ext cx="3749039" cy="530352"/>
          </a:xfrm>
          <a:prstGeom prst="roundRect">
            <a:avLst/>
          </a:prstGeom>
          <a:solidFill>
            <a:srgbClr val="05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7208" y="1728216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KDE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1554480"/>
            <a:ext cx="3749039" cy="530352"/>
          </a:xfrm>
          <a:prstGeom prst="roundRect">
            <a:avLst/>
          </a:prstGeom>
          <a:solidFill>
            <a:srgbClr val="05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5976" y="1728216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GMM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12848"/>
            <a:ext cx="20116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350008"/>
            <a:ext cx="1865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5E6D7D"/>
                </a:solidFill>
                <a:latin typeface="Aptos Display"/>
              </a:rPr>
              <a:t>Enfoque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208" y="2212848"/>
            <a:ext cx="3749039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350008"/>
            <a:ext cx="360273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>
                <a:solidFill>
                  <a:srgbClr val="1C2530"/>
                </a:solidFill>
                <a:latin typeface="Aptos"/>
              </a:rPr>
              <a:t>No paramétrico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5976" y="2212848"/>
            <a:ext cx="3749039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2350008"/>
            <a:ext cx="360273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>
                <a:solidFill>
                  <a:srgbClr val="1C2530"/>
                </a:solidFill>
                <a:latin typeface="Aptos"/>
              </a:rPr>
              <a:t>Paramétrico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779776"/>
            <a:ext cx="20116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916936"/>
            <a:ext cx="1865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5E6D7D"/>
                </a:solidFill>
                <a:latin typeface="Aptos Display"/>
              </a:rPr>
              <a:t>Supuesto 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07208" y="2779776"/>
            <a:ext cx="3749039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2916936"/>
            <a:ext cx="360273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>
                <a:solidFill>
                  <a:srgbClr val="1C2530"/>
                </a:solidFill>
                <a:latin typeface="Aptos"/>
              </a:rPr>
              <a:t>No fija distribución subyacente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5976" y="2779776"/>
            <a:ext cx="3749039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2916936"/>
            <a:ext cx="360273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>
                <a:solidFill>
                  <a:srgbClr val="1C2530"/>
                </a:solidFill>
                <a:latin typeface="Aptos"/>
              </a:rPr>
              <a:t>Mezcla de normales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346704"/>
            <a:ext cx="20116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483864"/>
            <a:ext cx="1865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5E6D7D"/>
                </a:solidFill>
                <a:latin typeface="Aptos Display"/>
              </a:rPr>
              <a:t>Parámetros destacados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07208" y="3346704"/>
            <a:ext cx="3749039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3483864"/>
            <a:ext cx="360273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>
                <a:solidFill>
                  <a:srgbClr val="1C2530"/>
                </a:solidFill>
                <a:latin typeface="Aptos"/>
              </a:rPr>
              <a:t>h y 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5976" y="3346704"/>
            <a:ext cx="3749039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39128" y="3483864"/>
            <a:ext cx="360273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>
                <a:solidFill>
                  <a:srgbClr val="1C2530"/>
                </a:solidFill>
                <a:latin typeface="Aptos"/>
              </a:rPr>
              <a:t>μ y matriz varianza-covarianza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913631"/>
            <a:ext cx="20116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4050791"/>
            <a:ext cx="1865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5E6D7D"/>
                </a:solidFill>
                <a:latin typeface="Aptos Display"/>
              </a:rPr>
              <a:t>Salida conceptual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07208" y="3913631"/>
            <a:ext cx="3749039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4050791"/>
            <a:ext cx="360273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>
                <a:solidFill>
                  <a:srgbClr val="1C2530"/>
                </a:solidFill>
                <a:latin typeface="Aptos"/>
              </a:rPr>
              <a:t>Superficie de densidad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5976" y="3913631"/>
            <a:ext cx="3749039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39128" y="4050791"/>
            <a:ext cx="360273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>
                <a:solidFill>
                  <a:srgbClr val="1C2530"/>
                </a:solidFill>
                <a:latin typeface="Aptos"/>
              </a:rPr>
              <a:t>Mezcla probabilística de componentes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480560"/>
            <a:ext cx="20116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4617720"/>
            <a:ext cx="1865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5E6D7D"/>
                </a:solidFill>
                <a:latin typeface="Aptos Display"/>
              </a:rPr>
              <a:t>Fortaleza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07208" y="4480560"/>
            <a:ext cx="3749039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4617720"/>
            <a:ext cx="360273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>
                <a:solidFill>
                  <a:srgbClr val="1C2530"/>
                </a:solidFill>
                <a:latin typeface="Aptos"/>
              </a:rPr>
              <a:t>Flexibilidad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65976" y="4480560"/>
            <a:ext cx="3749039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39128" y="4617720"/>
            <a:ext cx="360273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>
                <a:solidFill>
                  <a:srgbClr val="1C2530"/>
                </a:solidFill>
                <a:latin typeface="Aptos"/>
              </a:rPr>
              <a:t>Estructura probabilística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5047488"/>
            <a:ext cx="20116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" y="5184648"/>
            <a:ext cx="1865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5E6D7D"/>
                </a:solidFill>
                <a:latin typeface="Aptos Display"/>
              </a:rPr>
              <a:t>Costo señalado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807208" y="5047488"/>
            <a:ext cx="3749039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80360" y="5184648"/>
            <a:ext cx="360273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>
                <a:solidFill>
                  <a:srgbClr val="1C2530"/>
                </a:solidFill>
                <a:latin typeface="Aptos"/>
              </a:rPr>
              <a:t>Más lento / demandante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65976" y="5047488"/>
            <a:ext cx="3749039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39128" y="5184648"/>
            <a:ext cx="360273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0">
                <a:solidFill>
                  <a:srgbClr val="1C2530"/>
                </a:solidFill>
                <a:latin typeface="Aptos"/>
              </a:rPr>
              <a:t>Debe estimar parámetros por componente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Flujo mental para resolver un problema geográfico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1 · Evento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Define qué punto representa cada observación.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2 · Coordenadas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Ubica el evento mediante longitud y latitud.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3 · Pregunta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Formula qué concentración espacial necesitas identificar.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4 · Densidad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Estima dónde los eventos aparecen con mayor frecuencia.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5 · Método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Contrasta KDE y GMM según el enfoque del módulo.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6 · Decisión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Interpreta hotspots para apoyar la asignación de recursos.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Errores conceptuales que debes evitar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Hotspot ≠ punto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Es un área de concentración, no una observación aislada.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Mapa ≠ análisis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Visualizar puntos no equivale a estimar densidad.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KDE ≠ distribución fija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El enfoque se presenta como no paramétrico.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GMM ≠ k-medias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La pertenencia es probabilística, no necesariamente única.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h ≠ kernel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h controla expansión; K define la función de peso.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Media sola no basta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GMM también requiere estructura de varianza-covarianza.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Quiz de estudio · 12 preguntas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5257800" cy="548640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190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C2530"/>
                </a:solidFill>
                <a:latin typeface="Aptos Display"/>
              </a:rPr>
              <a:t>1. ¿Qué es un punto caliente?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72768"/>
            <a:ext cx="5257800" cy="548640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7190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C2530"/>
                </a:solidFill>
                <a:latin typeface="Aptos Display"/>
              </a:rPr>
              <a:t>2. ¿Qué busca el análisis de hotspots?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86000"/>
            <a:ext cx="5257800" cy="548640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43230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C2530"/>
                </a:solidFill>
                <a:latin typeface="Aptos Display"/>
              </a:rPr>
              <a:t>3. ¿Qué representa un par longitud–latitud?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286000"/>
            <a:ext cx="5257800" cy="548640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243230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C2530"/>
                </a:solidFill>
                <a:latin typeface="Aptos Display"/>
              </a:rPr>
              <a:t>4. ¿Por qué estimamos una densidad?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99232"/>
            <a:ext cx="5257800" cy="548640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14553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C2530"/>
                </a:solidFill>
                <a:latin typeface="Aptos Display"/>
              </a:rPr>
              <a:t>5. ¿Qué dos enfoques presenta el módulo?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999232"/>
            <a:ext cx="5257800" cy="548640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314553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C2530"/>
                </a:solidFill>
                <a:latin typeface="Aptos Display"/>
              </a:rPr>
              <a:t>6. ¿Por qué KDE es no paramétrico?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12463"/>
            <a:ext cx="5257800" cy="548640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85876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C2530"/>
                </a:solidFill>
                <a:latin typeface="Aptos Display"/>
              </a:rPr>
              <a:t>7. ¿Qué controla h?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712463"/>
            <a:ext cx="5257800" cy="548640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85876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C2530"/>
                </a:solidFill>
                <a:latin typeface="Aptos Display"/>
              </a:rPr>
              <a:t>8. ¿Qué representa K en KDE?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25696"/>
            <a:ext cx="5257800" cy="548640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457200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C2530"/>
                </a:solidFill>
                <a:latin typeface="Aptos Display"/>
              </a:rPr>
              <a:t>9. ¿Qué supone un GMM?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425696"/>
            <a:ext cx="5257800" cy="548640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57200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C2530"/>
                </a:solidFill>
                <a:latin typeface="Aptos Display"/>
              </a:rPr>
              <a:t>10. ¿Qué parámetros definen cada componente?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138928"/>
            <a:ext cx="5257800" cy="548640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528523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C2530"/>
                </a:solidFill>
                <a:latin typeface="Aptos Display"/>
              </a:rPr>
              <a:t>11. ¿Cómo se relaciona GMM con k-medias?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5138928"/>
            <a:ext cx="5257800" cy="548640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528523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C2530"/>
                </a:solidFill>
                <a:latin typeface="Aptos Display"/>
              </a:rPr>
              <a:t>12. ¿Qué significa pertenencia probabilística?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Mini taller mental: delitos en una ciudad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Tienes coordenadas de delitos observados.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Objetivo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Detectar áreas con mayor concentración.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992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KDE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48256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Pregunta cómo cambia la superficie al modificar 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GMM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Piensa cuántos componentes probabilísticos podrían representar concentraciones.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Comparación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Describe qué supuesto agrega GMM frente a KDE.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65575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C2530"/>
                </a:solidFill>
                <a:latin typeface="Aptos Display"/>
              </a:rPr>
              <a:t>Decisión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803904"/>
            <a:ext cx="3054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5E6D7D"/>
                </a:solidFill>
                <a:latin typeface="Aptos"/>
              </a:rPr>
              <a:t>Explica cómo la densidad estimada apoyaría la asignación de recursos.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C2530"/>
                </a:solidFill>
                <a:latin typeface="Aptos Display"/>
              </a:rPr>
              <a:t>No necesitas resolverlo con código: el objetivo es poder explicar el razonamiento metodológico.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CCFDE"/>
                </a:solidFill>
                <a:latin typeface="Aptos Display"/>
              </a:rP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Cheat sheet · lo que debes recordar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BCCFDE"/>
                </a:solidFill>
                <a:latin typeface="Aptos Display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2560320" cy="93268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6479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CD4C4C"/>
                </a:solidFill>
                <a:latin typeface="Aptos Display"/>
              </a:rPr>
              <a:t>HOTSPOT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FFFFF"/>
                </a:solidFill>
                <a:latin typeface="Aptos Display"/>
              </a:rPr>
              <a:t>área de alta concentración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1600200"/>
            <a:ext cx="2560320" cy="93268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176479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16C7DD"/>
                </a:solidFill>
                <a:latin typeface="Aptos Display"/>
              </a:rPr>
              <a:t>DENSIDAD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210312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FFFFF"/>
                </a:solidFill>
                <a:latin typeface="Aptos Display"/>
              </a:rPr>
              <a:t>frecuencia espacial estimada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600200"/>
            <a:ext cx="2560320" cy="93268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76479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4C031"/>
                </a:solidFill>
                <a:latin typeface="Aptos Display"/>
              </a:rPr>
              <a:t>COORDENADAS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10312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FFFFF"/>
                </a:solidFill>
                <a:latin typeface="Aptos Display"/>
              </a:rPr>
              <a:t>longitud + latitud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17152" y="1600200"/>
            <a:ext cx="2560320" cy="93268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176479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2C9469"/>
                </a:solidFill>
                <a:latin typeface="Aptos Display"/>
              </a:rPr>
              <a:t>KDE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210312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FFFFF"/>
                </a:solidFill>
                <a:latin typeface="Aptos Display"/>
              </a:rPr>
              <a:t>no paramétrico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926080"/>
            <a:ext cx="2560320" cy="93268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09067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EB892C"/>
                </a:solidFill>
                <a:latin typeface="Aptos Display"/>
              </a:rPr>
              <a:t>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42900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FFFFF"/>
                </a:solidFill>
                <a:latin typeface="Aptos Display"/>
              </a:rPr>
              <a:t>ancho de banda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11296" y="2926080"/>
            <a:ext cx="2560320" cy="93268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2736" y="309067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71429B"/>
                </a:solidFill>
                <a:latin typeface="Aptos Display"/>
              </a:rPr>
              <a:t>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736" y="342900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FFFFF"/>
                </a:solidFill>
                <a:latin typeface="Aptos Display"/>
              </a:rPr>
              <a:t>kernel / función de peso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4224" y="2926080"/>
            <a:ext cx="2560320" cy="93268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309067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16C7DD"/>
                </a:solidFill>
                <a:latin typeface="Aptos Display"/>
              </a:rPr>
              <a:t>GMM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42900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FFFFF"/>
                </a:solidFill>
                <a:latin typeface="Aptos Display"/>
              </a:rPr>
              <a:t>mezcla de normales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17152" y="2926080"/>
            <a:ext cx="2560320" cy="93268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309067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2C9469"/>
                </a:solidFill>
                <a:latin typeface="Aptos Display"/>
              </a:rPr>
              <a:t>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342900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FFFFF"/>
                </a:solidFill>
                <a:latin typeface="Aptos Display"/>
              </a:rPr>
              <a:t>media del componente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251960"/>
            <a:ext cx="2560320" cy="93268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41655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4C031"/>
                </a:solidFill>
                <a:latin typeface="Aptos Display"/>
              </a:rPr>
              <a:t>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75488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FFFFF"/>
                </a:solidFill>
                <a:latin typeface="Aptos Display"/>
              </a:rPr>
              <a:t>varianza–covarianza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11296" y="4251960"/>
            <a:ext cx="2560320" cy="93268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02736" y="441655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EB892C"/>
                </a:solidFill>
                <a:latin typeface="Aptos Display"/>
              </a:rPr>
              <a:t>K-MEANS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2736" y="475488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FFFFF"/>
                </a:solidFill>
                <a:latin typeface="Aptos Display"/>
              </a:rPr>
              <a:t>asignación única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4224" y="4251960"/>
            <a:ext cx="2560320" cy="93268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5664" y="441655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71429B"/>
                </a:solidFill>
                <a:latin typeface="Aptos Display"/>
              </a:rPr>
              <a:t>GMM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475488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FFFFF"/>
                </a:solidFill>
                <a:latin typeface="Aptos Display"/>
              </a:rPr>
              <a:t>pertenencia probabilística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17152" y="4251960"/>
            <a:ext cx="2560320" cy="93268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08592" y="441655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CD4C4C"/>
                </a:solidFill>
                <a:latin typeface="Aptos Display"/>
              </a:rPr>
              <a:t>DECISIÓN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8592" y="475488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FFFFF"/>
                </a:solidFill>
                <a:latin typeface="Aptos Display"/>
              </a:rPr>
              <a:t>concentración → recursos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Datos geográficos y análisis de puntos calientes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Checklist para dominar el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283464" cy="283464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3060"/>
            <a:ext cx="2834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156362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>
                <a:solidFill>
                  <a:srgbClr val="1C2530"/>
                </a:solidFill>
                <a:latin typeface="Aptos Display"/>
              </a:rPr>
              <a:t>Defino correctamente qué es un punto caliente.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72768"/>
            <a:ext cx="283464" cy="283464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23060"/>
            <a:ext cx="2834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156362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1C2530"/>
                </a:solidFill>
                <a:latin typeface="Aptos"/>
              </a:rPr>
              <a:t>Explico por qué los hotspots son útiles cuando los recursos son escasos.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67712"/>
            <a:ext cx="283464" cy="283464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18004"/>
            <a:ext cx="2834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225856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1C2530"/>
                </a:solidFill>
                <a:latin typeface="Aptos"/>
              </a:rPr>
              <a:t>Entiendo la densidad como una función que describe concentración.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267712"/>
            <a:ext cx="283464" cy="283464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318004"/>
            <a:ext cx="2834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1" y="225856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1C2530"/>
                </a:solidFill>
                <a:latin typeface="Aptos"/>
              </a:rPr>
              <a:t>Relaciono longitud y latitud con datos geográficos.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62656"/>
            <a:ext cx="283464" cy="283464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12948"/>
            <a:ext cx="2834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295351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>
                <a:solidFill>
                  <a:srgbClr val="1C2530"/>
                </a:solidFill>
                <a:latin typeface="Aptos Display"/>
              </a:rPr>
              <a:t>Diferencio KDE y GMM.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962656"/>
            <a:ext cx="283464" cy="283464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012948"/>
            <a:ext cx="2834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1" y="295351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1C2530"/>
                </a:solidFill>
                <a:latin typeface="Aptos"/>
              </a:rPr>
              <a:t>Explico por qué KDE es no paramétrico.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283464" cy="283464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707891"/>
            <a:ext cx="2834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" y="364845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>
                <a:solidFill>
                  <a:srgbClr val="1C2530"/>
                </a:solidFill>
                <a:latin typeface="Aptos Display"/>
              </a:rPr>
              <a:t>Interpreto h como ancho de banda.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657600"/>
            <a:ext cx="283464" cy="283464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707891"/>
            <a:ext cx="2834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1" y="364845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1C2530"/>
                </a:solidFill>
                <a:latin typeface="Aptos"/>
              </a:rPr>
              <a:t>Interpreto K como kernel.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352544"/>
            <a:ext cx="283464" cy="283464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402836"/>
            <a:ext cx="2834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" y="434340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>
                <a:solidFill>
                  <a:srgbClr val="1C2530"/>
                </a:solidFill>
                <a:latin typeface="Aptos Display"/>
              </a:rPr>
              <a:t>Explico qué supone una mezcla gaussiana.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352544"/>
            <a:ext cx="283464" cy="283464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402836"/>
            <a:ext cx="2834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1" y="434340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1C2530"/>
                </a:solidFill>
                <a:latin typeface="Aptos"/>
              </a:rPr>
              <a:t>Identifico media y matriz varianza-covarianza.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047488"/>
            <a:ext cx="283464" cy="283464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097779"/>
            <a:ext cx="2834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" y="503834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1">
                <a:solidFill>
                  <a:srgbClr val="1C2530"/>
                </a:solidFill>
                <a:latin typeface="Aptos Display"/>
              </a:rPr>
              <a:t>Explico la diferencia entre asignación dura y probabilística.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5047488"/>
            <a:ext cx="283464" cy="283464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5097779"/>
            <a:ext cx="28346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1" y="503834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1C2530"/>
                </a:solidFill>
                <a:latin typeface="Aptos"/>
              </a:rPr>
              <a:t>Puedo contar el caso de Chicago sin leer la diapositiva.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5989320"/>
            <a:ext cx="10469880" cy="365760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6080760"/>
            <a:ext cx="10195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 b="1">
                <a:solidFill>
                  <a:srgbClr val="71429B"/>
                </a:solidFill>
                <a:latin typeface="Aptos Display"/>
              </a:rPr>
              <a:t>Fuente: transcripción suministrada. La guía conserva el alcance introductorio del video.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