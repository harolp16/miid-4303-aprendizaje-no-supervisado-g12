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7772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7C4DA"/>
                </a:solidFill>
                <a:latin typeface="Aptos Display"/>
              </a:rPr>
              <a:t>MIID 4303 · MÓDULO DE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960120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 Display"/>
              </a:rPr>
              <a:t>Introducción al
análisis de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94183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D3E1ED"/>
                </a:solidFill>
                <a:latin typeface="Aptos"/>
              </a:rPr>
              <a:t>Cómo agrupar observaciones similares cuando no existe una etiqueta que supervise la respuesta.</a:t>
            </a:r>
          </a:p>
        </p:txBody>
      </p:sp>
      <p:sp>
        <p:nvSpPr>
          <p:cNvPr id="5" name="Oval 4"/>
          <p:cNvSpPr/>
          <p:nvPr/>
        </p:nvSpPr>
        <p:spPr>
          <a:xfrm>
            <a:off x="8915400" y="4114800"/>
            <a:ext cx="146304" cy="14630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26045" y="4436508"/>
            <a:ext cx="146304" cy="14630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00569" y="4515963"/>
            <a:ext cx="146304" cy="14630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9364" y="4293334"/>
            <a:ext cx="146304" cy="14630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9364" y="3936265"/>
            <a:ext cx="146304" cy="14630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00569" y="3713636"/>
            <a:ext cx="146304" cy="14630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26045" y="3793091"/>
            <a:ext cx="146304" cy="14630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87000" y="3337560"/>
            <a:ext cx="146304" cy="14630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97645" y="3659268"/>
            <a:ext cx="146304" cy="14630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72169" y="3738723"/>
            <a:ext cx="146304" cy="14630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30964" y="3516094"/>
            <a:ext cx="146304" cy="14630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30964" y="3159025"/>
            <a:ext cx="146304" cy="14630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72169" y="2936396"/>
            <a:ext cx="146304" cy="14630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97645" y="3015851"/>
            <a:ext cx="146304" cy="14630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0" y="4800600"/>
            <a:ext cx="146304" cy="146304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0565" y="5122308"/>
            <a:ext cx="146304" cy="146304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75089" y="5201763"/>
            <a:ext cx="146304" cy="146304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33884" y="4979134"/>
            <a:ext cx="146304" cy="146304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33884" y="4622065"/>
            <a:ext cx="146304" cy="146304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75089" y="4399436"/>
            <a:ext cx="146304" cy="146304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00565" y="4478891"/>
            <a:ext cx="146304" cy="146304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897880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2BE2E"/>
                </a:solidFill>
                <a:latin typeface="Aptos Display"/>
              </a:rPr>
              <a:t>Centroides · Conectividad · Densidad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291072"/>
            <a:ext cx="54864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A5BED3"/>
                </a:solidFill>
                <a:latin typeface="Aptos"/>
              </a:rPr>
              <a:t>Guía visual basada en la transcripción del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B7C"/>
                </a:solidFill>
                <a:latin typeface="Aptos Display"/>
              </a:rPr>
              <a:t>CONCEPTO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D2733"/>
                </a:solidFill>
                <a:latin typeface="Aptos Display"/>
              </a:rPr>
              <a:t>¿Qué problema resuelve el clustering?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B7C"/>
                </a:solidFill>
                <a:latin typeface="Aptos Display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73152" cy="1554480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1883664"/>
            <a:ext cx="29992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Dentro del grupo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304288"/>
            <a:ext cx="2999232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Buscamos que las observaciones de un mismo cluster sean lo más similares posible.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373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37360"/>
            <a:ext cx="73152" cy="1554480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883664"/>
            <a:ext cx="29992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Entre grupos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304288"/>
            <a:ext cx="2999232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Queremos que observaciones pertenecientes a clusters diferentes sean lo más distintas posible.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373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737360"/>
            <a:ext cx="73152" cy="1554480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83664"/>
            <a:ext cx="29992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Sin respuesta observada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04288"/>
            <a:ext cx="2999232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El algoritmo debe descubrir estructura en los datos sin una etiqueta que indique el grupo correcto.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D2733"/>
                </a:solidFill>
                <a:latin typeface="Aptos Display"/>
              </a:rPr>
              <a:t>Idea visual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709160"/>
            <a:ext cx="128016" cy="128016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25880" y="4709160"/>
            <a:ext cx="128016" cy="128016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54480" y="4709160"/>
            <a:ext cx="128016" cy="128016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017520" y="4709160"/>
            <a:ext cx="128016" cy="128016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246120" y="4709160"/>
            <a:ext cx="128016" cy="128016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74720" y="4709160"/>
            <a:ext cx="128016" cy="128016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20640" y="4709160"/>
            <a:ext cx="128016" cy="128016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349240" y="4709160"/>
            <a:ext cx="128016" cy="128016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77840" y="4709160"/>
            <a:ext cx="128016" cy="128016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14400" y="5074920"/>
            <a:ext cx="5029200" cy="0"/>
          </a:xfrm>
          <a:prstGeom prst="line">
            <a:avLst/>
          </a:prstGeom>
          <a:ln w="12700">
            <a:solidFill>
              <a:srgbClr val="1D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0" y="4251960"/>
            <a:ext cx="457200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Para una persona, tres grupos separados pueden ser evidentes. Para una computadora, necesitamos una regla algorítmica que formalice esa intuición.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B6B7C"/>
                </a:solidFill>
                <a:latin typeface="Aptos"/>
              </a:rPr>
              <a:t>MIID 4303 · Aprendizaje No Supervisado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B7C"/>
                </a:solidFill>
                <a:latin typeface="Aptos Display"/>
              </a:rPr>
              <a:t>APLICACIONES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D2733"/>
                </a:solidFill>
                <a:latin typeface="Aptos Display"/>
              </a:rPr>
              <a:t>¿Dónde aparece este problema?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B7C"/>
                </a:solidFill>
                <a:latin typeface="Aptos Display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73152" cy="1508760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1929384"/>
            <a:ext cx="46908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Clientes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350008"/>
            <a:ext cx="4690872" cy="8138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Preferencias o sensibilidad a cambios de precio.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73152" cy="1508760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929384"/>
            <a:ext cx="46908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Música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350008"/>
            <a:ext cx="4690872" cy="8138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Usuarios agrupados por géneros o bandas preferidas.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49039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749039"/>
            <a:ext cx="73152" cy="1508760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3895344"/>
            <a:ext cx="46908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Votantes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5" y="4315968"/>
            <a:ext cx="4690872" cy="8138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Personas agrupadas por los temas que consideran importantes.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49039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749039"/>
            <a:ext cx="73152" cy="1508760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3895344"/>
            <a:ext cx="46908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Documentos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4315968"/>
            <a:ext cx="4690872" cy="8138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Corpus dividido en grupos asociados a temas.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104241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D2733"/>
                </a:solidFill>
                <a:latin typeface="Aptos Display"/>
              </a:rPr>
              <a:t>Patrón común: no conocemos los grupos de antemano; queremos descubrirlos a partir de similitud, cercanía o concentración.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B6B7C"/>
                </a:solidFill>
                <a:latin typeface="Aptos"/>
              </a:rPr>
              <a:t>MIID 4303 · Aprendizaje No Supervisado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B8CADA"/>
                </a:solidFill>
                <a:latin typeface="Aptos Display"/>
              </a:rPr>
              <a:t>MAPA DEL 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Tres familias de algoritmos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B8CADA"/>
                </a:solidFill>
                <a:latin typeface="Aptos Display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337560" cy="2743200"/>
          </a:xfrm>
          <a:prstGeom prst="roundRect">
            <a:avLst/>
          </a:prstGeom>
          <a:solidFill>
            <a:srgbClr val="0D3052"/>
          </a:solidFill>
          <a:ln w="12700">
            <a:solidFill>
              <a:srgbClr val="2D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73152" cy="2743200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2020824"/>
            <a:ext cx="295351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 Display"/>
              </a:rPr>
              <a:t>Centroides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441448"/>
            <a:ext cx="2953512" cy="20482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D8E5EF"/>
                </a:solidFill>
                <a:latin typeface="Aptos"/>
              </a:rPr>
              <a:t>Cada grupo se representa mediante un centro; los puntos se asignan al centroide más cercano.</a:t>
            </a:r>
          </a:p>
        </p:txBody>
      </p:sp>
      <p:sp>
        <p:nvSpPr>
          <p:cNvPr id="10" name="Oval 9"/>
          <p:cNvSpPr/>
          <p:nvPr/>
        </p:nvSpPr>
        <p:spPr>
          <a:xfrm>
            <a:off x="2103120" y="4937760"/>
            <a:ext cx="640080" cy="640080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5102352"/>
            <a:ext cx="6400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874519"/>
            <a:ext cx="3337560" cy="2743200"/>
          </a:xfrm>
          <a:prstGeom prst="roundRect">
            <a:avLst/>
          </a:prstGeom>
          <a:solidFill>
            <a:srgbClr val="0D3052"/>
          </a:solidFill>
          <a:ln w="12700">
            <a:solidFill>
              <a:srgbClr val="2D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07992" y="1874519"/>
            <a:ext cx="73152" cy="2743200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020824"/>
            <a:ext cx="295351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 Display"/>
              </a:rPr>
              <a:t>Conectividad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441448"/>
            <a:ext cx="2953512" cy="20482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D8E5EF"/>
                </a:solidFill>
                <a:latin typeface="Aptos"/>
              </a:rPr>
              <a:t>Los grupos se construyen a partir de relaciones de cercanía y forman una jerarquía.</a:t>
            </a:r>
          </a:p>
        </p:txBody>
      </p:sp>
      <p:sp>
        <p:nvSpPr>
          <p:cNvPr id="16" name="Oval 15"/>
          <p:cNvSpPr/>
          <p:nvPr/>
        </p:nvSpPr>
        <p:spPr>
          <a:xfrm>
            <a:off x="5833872" y="4937760"/>
            <a:ext cx="640080" cy="640080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5102352"/>
            <a:ext cx="6400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38744" y="1874519"/>
            <a:ext cx="3337560" cy="2743200"/>
          </a:xfrm>
          <a:prstGeom prst="roundRect">
            <a:avLst/>
          </a:prstGeom>
          <a:solidFill>
            <a:srgbClr val="0D3052"/>
          </a:solidFill>
          <a:ln w="12700">
            <a:solidFill>
              <a:srgbClr val="2D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4" y="1874519"/>
            <a:ext cx="73152" cy="2743200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020824"/>
            <a:ext cx="295351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 Display"/>
              </a:rPr>
              <a:t>Densidad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441448"/>
            <a:ext cx="2953512" cy="20482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D8E5EF"/>
                </a:solidFill>
                <a:latin typeface="Aptos"/>
              </a:rPr>
              <a:t>Los grupos aparecen como regiones donde existe una concentración elevada de observaciones.</a:t>
            </a:r>
          </a:p>
        </p:txBody>
      </p:sp>
      <p:sp>
        <p:nvSpPr>
          <p:cNvPr id="22" name="Oval 21"/>
          <p:cNvSpPr/>
          <p:nvPr/>
        </p:nvSpPr>
        <p:spPr>
          <a:xfrm>
            <a:off x="9564624" y="4937760"/>
            <a:ext cx="640080" cy="640080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64624" y="5102352"/>
            <a:ext cx="6400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70448"/>
            <a:ext cx="10424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DCE8F1"/>
                </a:solidFill>
                <a:latin typeface="Aptos Display"/>
              </a:rPr>
              <a:t>Las próximas lecciones profundizan en los detalles e implementación de estas familias.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B6B7C"/>
                </a:solidFill>
                <a:latin typeface="Aptos"/>
              </a:rPr>
              <a:t>MIID 4303 · Aprendizaje No Supervisado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B7C"/>
                </a:solidFill>
                <a:latin typeface="Aptos Display"/>
              </a:rPr>
              <a:t>FAMILIA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D2733"/>
                </a:solidFill>
                <a:latin typeface="Aptos Display"/>
              </a:rPr>
              <a:t>Clustering basado en centroides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B7C"/>
                </a:solidFill>
                <a:latin typeface="Aptos Display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73152" cy="1554480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1883664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Regla esencial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304288"/>
            <a:ext cx="3273552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Cada cluster tiene un centroide y cada punto pertenece al centroide más cercano.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2044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520440"/>
            <a:ext cx="73152" cy="1554480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3666744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Decisión previa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4087368"/>
            <a:ext cx="3273552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Debe especificarse a priori el número esperado de clusters.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737360"/>
            <a:ext cx="640080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03520" y="4846320"/>
            <a:ext cx="146304" cy="14630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4480560"/>
            <a:ext cx="146304" cy="14630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97880" y="4800600"/>
            <a:ext cx="146304" cy="14630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80" y="2834640"/>
            <a:ext cx="146304" cy="14630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0" y="3246120"/>
            <a:ext cx="146304" cy="14630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2926080"/>
            <a:ext cx="146304" cy="14630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26880" y="4572000"/>
            <a:ext cx="146304" cy="146304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46920" y="4251960"/>
            <a:ext cx="146304" cy="146304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66960" y="4709160"/>
            <a:ext cx="146304" cy="146304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68696" y="4608576"/>
            <a:ext cx="274320" cy="274320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68696" y="4663440"/>
            <a:ext cx="27432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×</a:t>
            </a:r>
          </a:p>
        </p:txBody>
      </p:sp>
      <p:sp>
        <p:nvSpPr>
          <p:cNvPr id="26" name="Oval 25"/>
          <p:cNvSpPr/>
          <p:nvPr/>
        </p:nvSpPr>
        <p:spPr>
          <a:xfrm>
            <a:off x="7306056" y="2962656"/>
            <a:ext cx="274320" cy="274320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06056" y="3017520"/>
            <a:ext cx="27432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×</a:t>
            </a:r>
          </a:p>
        </p:txBody>
      </p:sp>
      <p:sp>
        <p:nvSpPr>
          <p:cNvPr id="28" name="Oval 27"/>
          <p:cNvSpPr/>
          <p:nvPr/>
        </p:nvSpPr>
        <p:spPr>
          <a:xfrm>
            <a:off x="9592056" y="4471416"/>
            <a:ext cx="274320" cy="274320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92056" y="4526280"/>
            <a:ext cx="27432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2057400"/>
            <a:ext cx="4754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D2733"/>
                </a:solidFill>
                <a:latin typeface="Aptos Display"/>
              </a:rPr>
              <a:t>Ejemplo conceptual: k =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5257800"/>
            <a:ext cx="51206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5B6B7C"/>
                </a:solidFill>
                <a:latin typeface="Aptos Display"/>
              </a:rPr>
              <a:t>× = centroide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B6B7C"/>
                </a:solidFill>
                <a:latin typeface="Aptos"/>
              </a:rPr>
              <a:t>MIID 4303 · Aprendizaje No Supervisado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B7C"/>
                </a:solidFill>
                <a:latin typeface="Aptos Display"/>
              </a:rPr>
              <a:t>FAMILIA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D2733"/>
                </a:solidFill>
                <a:latin typeface="Aptos Display"/>
              </a:rPr>
              <a:t>Clustering basado en conectividad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B7C"/>
                </a:solidFill>
                <a:latin typeface="Aptos Display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7033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73152" cy="1508760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1883664"/>
            <a:ext cx="3319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Principio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304288"/>
            <a:ext cx="3319272" cy="8138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Los puntos cercanos se consideran más relacionados que los puntos lejanos.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74720"/>
            <a:ext cx="37033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73152" cy="1508760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3621024"/>
            <a:ext cx="3319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Estructura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4041648"/>
            <a:ext cx="3319272" cy="8138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Un grupo puede contener otros grupos: el resultado tiene una organización jerárquica.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737360"/>
            <a:ext cx="64008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5303520" y="4892040"/>
            <a:ext cx="0" cy="365760"/>
          </a:xfrm>
          <a:prstGeom prst="line">
            <a:avLst/>
          </a:prstGeom>
          <a:ln w="15240">
            <a:solidFill>
              <a:srgbClr val="1D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943600" y="4892040"/>
            <a:ext cx="0" cy="365760"/>
          </a:xfrm>
          <a:prstGeom prst="line">
            <a:avLst/>
          </a:prstGeom>
          <a:ln w="15240">
            <a:solidFill>
              <a:srgbClr val="1D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766560" y="4892040"/>
            <a:ext cx="0" cy="365760"/>
          </a:xfrm>
          <a:prstGeom prst="line">
            <a:avLst/>
          </a:prstGeom>
          <a:ln w="15240">
            <a:solidFill>
              <a:srgbClr val="1D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06640" y="4892040"/>
            <a:ext cx="0" cy="365760"/>
          </a:xfrm>
          <a:prstGeom prst="line">
            <a:avLst/>
          </a:prstGeom>
          <a:ln w="15240">
            <a:solidFill>
              <a:srgbClr val="1D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503920" y="4892040"/>
            <a:ext cx="0" cy="365760"/>
          </a:xfrm>
          <a:prstGeom prst="line">
            <a:avLst/>
          </a:prstGeom>
          <a:ln w="15240">
            <a:solidFill>
              <a:srgbClr val="1D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144000" y="4892040"/>
            <a:ext cx="0" cy="365760"/>
          </a:xfrm>
          <a:prstGeom prst="line">
            <a:avLst/>
          </a:prstGeom>
          <a:ln w="15240">
            <a:solidFill>
              <a:srgbClr val="1D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149840" y="4892040"/>
            <a:ext cx="0" cy="365760"/>
          </a:xfrm>
          <a:prstGeom prst="line">
            <a:avLst/>
          </a:prstGeom>
          <a:ln w="15240">
            <a:solidFill>
              <a:srgbClr val="1D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698480" y="4892040"/>
            <a:ext cx="0" cy="365760"/>
          </a:xfrm>
          <a:prstGeom prst="line">
            <a:avLst/>
          </a:prstGeom>
          <a:ln w="15240">
            <a:solidFill>
              <a:srgbClr val="1D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03520" y="4892040"/>
            <a:ext cx="640080" cy="0"/>
          </a:xfrm>
          <a:prstGeom prst="line">
            <a:avLst/>
          </a:prstGeom>
          <a:ln w="25400">
            <a:solidFill>
              <a:srgbClr val="744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623560" y="4343400"/>
            <a:ext cx="0" cy="548640"/>
          </a:xfrm>
          <a:prstGeom prst="line">
            <a:avLst/>
          </a:prstGeom>
          <a:ln w="25400">
            <a:solidFill>
              <a:srgbClr val="744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766560" y="4892040"/>
            <a:ext cx="640080" cy="0"/>
          </a:xfrm>
          <a:prstGeom prst="line">
            <a:avLst/>
          </a:prstGeom>
          <a:ln w="25400">
            <a:solidFill>
              <a:srgbClr val="744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086600" y="4023360"/>
            <a:ext cx="0" cy="868680"/>
          </a:xfrm>
          <a:prstGeom prst="line">
            <a:avLst/>
          </a:prstGeom>
          <a:ln w="25400">
            <a:solidFill>
              <a:srgbClr val="744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03920" y="4892040"/>
            <a:ext cx="640080" cy="0"/>
          </a:xfrm>
          <a:prstGeom prst="line">
            <a:avLst/>
          </a:prstGeom>
          <a:ln w="25400">
            <a:solidFill>
              <a:srgbClr val="17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823960" y="4251960"/>
            <a:ext cx="0" cy="640080"/>
          </a:xfrm>
          <a:prstGeom prst="line">
            <a:avLst/>
          </a:prstGeom>
          <a:ln w="25400">
            <a:solidFill>
              <a:srgbClr val="17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149840" y="4892040"/>
            <a:ext cx="548640" cy="0"/>
          </a:xfrm>
          <a:prstGeom prst="line">
            <a:avLst/>
          </a:prstGeom>
          <a:ln w="25400">
            <a:solidFill>
              <a:srgbClr val="17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424160" y="3886200"/>
            <a:ext cx="0" cy="1005840"/>
          </a:xfrm>
          <a:prstGeom prst="line">
            <a:avLst/>
          </a:prstGeom>
          <a:ln w="25400">
            <a:solidFill>
              <a:srgbClr val="17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623560" y="4343400"/>
            <a:ext cx="1463040" cy="0"/>
          </a:xfrm>
          <a:prstGeom prst="line">
            <a:avLst/>
          </a:prstGeom>
          <a:ln w="25400">
            <a:solidFill>
              <a:srgbClr val="744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355080" y="3337560"/>
            <a:ext cx="0" cy="1005840"/>
          </a:xfrm>
          <a:prstGeom prst="line">
            <a:avLst/>
          </a:prstGeom>
          <a:ln w="25400">
            <a:solidFill>
              <a:srgbClr val="744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823960" y="4251960"/>
            <a:ext cx="1600200" cy="0"/>
          </a:xfrm>
          <a:prstGeom prst="line">
            <a:avLst/>
          </a:prstGeom>
          <a:ln w="25400">
            <a:solidFill>
              <a:srgbClr val="17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601200" y="3063240"/>
            <a:ext cx="0" cy="1188720"/>
          </a:xfrm>
          <a:prstGeom prst="line">
            <a:avLst/>
          </a:prstGeom>
          <a:ln w="25400">
            <a:solidFill>
              <a:srgbClr val="17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355080" y="3337560"/>
            <a:ext cx="3246120" cy="0"/>
          </a:xfrm>
          <a:prstGeom prst="line">
            <a:avLst/>
          </a:prstGeom>
          <a:ln w="25400">
            <a:solidFill>
              <a:srgbClr val="F2B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973568" y="2423160"/>
            <a:ext cx="0" cy="914400"/>
          </a:xfrm>
          <a:prstGeom prst="line">
            <a:avLst/>
          </a:prstGeom>
          <a:ln w="25400">
            <a:solidFill>
              <a:srgbClr val="F2B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029200" y="3703320"/>
            <a:ext cx="5943600" cy="0"/>
          </a:xfrm>
          <a:prstGeom prst="line">
            <a:avLst/>
          </a:prstGeom>
          <a:ln w="16510">
            <a:solidFill>
              <a:srgbClr val="CD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052560" y="3456432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CD4B4B"/>
                </a:solidFill>
                <a:latin typeface="Aptos Display"/>
              </a:rPr>
              <a:t>corte horizontal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2011680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D2733"/>
                </a:solidFill>
                <a:latin typeface="Aptos Display"/>
              </a:rPr>
              <a:t>Dendrograma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B6B7C"/>
                </a:solidFill>
                <a:latin typeface="Aptos"/>
              </a:rPr>
              <a:t>MIID 4303 · Aprendizaje No Supervisado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B7C"/>
                </a:solidFill>
                <a:latin typeface="Aptos Display"/>
              </a:rPr>
              <a:t>FAMILIA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D2733"/>
                </a:solidFill>
                <a:latin typeface="Aptos Display"/>
              </a:rPr>
              <a:t>Clustering basado en densidad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B7C"/>
                </a:solidFill>
                <a:latin typeface="Aptos Display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657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73152" cy="1600200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1883664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Principio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304288"/>
            <a:ext cx="3273552" cy="9052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El algoritmo busca regiones donde los datos están concentrados y asigna esas observaciones al mismo cluster.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11880"/>
            <a:ext cx="3657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611880"/>
            <a:ext cx="73152" cy="1600200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3758184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Diferencia conceptual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4178808"/>
            <a:ext cx="3273552" cy="9052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La definición del grupo proviene de la concentración local de puntos, no de un centroide o una jerarquía.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737360"/>
            <a:ext cx="640080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10528" y="3108960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58101" y="3207029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4974" y="2901725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0677" y="3323872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62552" y="3051003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46809" y="2895855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2400" y="3188451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11429" y="2980200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61440" y="3180109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67105" y="3212625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8868" y="2806474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9821" y="3487224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5772" y="3067812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9760" y="3077541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41708" y="3279364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53655" y="2840386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41695" y="3323494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72475" y="3126260"/>
            <a:ext cx="100584" cy="1005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36607" y="4251960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84181" y="4350029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351054" y="4044725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546757" y="4466872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888632" y="4194003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72889" y="4038855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98480" y="4331451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37509" y="4123200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587520" y="4323109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993185" y="4355625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514948" y="3949474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485901" y="4630224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231852" y="4210812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515840" y="4220541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67788" y="4422364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79735" y="3983386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667775" y="4466494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798555" y="4269260"/>
            <a:ext cx="100584" cy="1005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486400" y="5120640"/>
            <a:ext cx="91440" cy="91440"/>
          </a:xfrm>
          <a:prstGeom prst="ellipse">
            <a:avLst/>
          </a:prstGeom>
          <a:solidFill>
            <a:srgbClr val="5B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955279" y="5120640"/>
            <a:ext cx="91440" cy="91440"/>
          </a:xfrm>
          <a:prstGeom prst="ellipse">
            <a:avLst/>
          </a:prstGeom>
          <a:solidFill>
            <a:srgbClr val="5B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607040" y="2468880"/>
            <a:ext cx="91440" cy="91440"/>
          </a:xfrm>
          <a:prstGeom prst="ellipse">
            <a:avLst/>
          </a:prstGeom>
          <a:solidFill>
            <a:srgbClr val="5B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321040" y="2286000"/>
            <a:ext cx="91440" cy="91440"/>
          </a:xfrm>
          <a:prstGeom prst="ellipse">
            <a:avLst/>
          </a:prstGeom>
          <a:solidFill>
            <a:srgbClr val="5B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0" y="2011680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D2733"/>
                </a:solidFill>
                <a:latin typeface="Aptos Display"/>
              </a:rPr>
              <a:t>Regiones densas + puntos aislados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B6B7C"/>
                </a:solidFill>
                <a:latin typeface="Aptos"/>
              </a:rPr>
              <a:t>MIID 4303 · Aprendizaje No Supervisado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B7C"/>
                </a:solidFill>
                <a:latin typeface="Aptos Display"/>
              </a:rPr>
              <a:t>COMPARACIÓN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D2733"/>
                </a:solidFill>
                <a:latin typeface="Aptos Display"/>
              </a:rPr>
              <a:t>Cómo distinguir las tres familias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B7C"/>
                </a:solidFill>
                <a:latin typeface="Aptos Display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65960"/>
            <a:ext cx="384048" cy="384048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2286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D2733"/>
                </a:solidFill>
                <a:latin typeface="Aptos Display"/>
              </a:rPr>
              <a:t>Centroides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B6B7C"/>
                </a:solidFill>
                <a:latin typeface="Aptos Display"/>
              </a:rPr>
              <a:t>¿Qué representa el grupo?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35808"/>
            <a:ext cx="29260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D2733"/>
                </a:solidFill>
                <a:latin typeface="Aptos Display"/>
              </a:rPr>
              <a:t>Centroide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0332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B6B7C"/>
                </a:solidFill>
                <a:latin typeface="Aptos Display"/>
              </a:rPr>
              <a:t>Decisión destacada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41648"/>
            <a:ext cx="29260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D2733"/>
                </a:solidFill>
                <a:latin typeface="Aptos Display"/>
              </a:rPr>
              <a:t>Número de clusters a priori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B6B7C"/>
                </a:solidFill>
                <a:latin typeface="Aptos Display"/>
              </a:rPr>
              <a:t>Idea visual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138928"/>
            <a:ext cx="29260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7C4DA"/>
                </a:solidFill>
                <a:latin typeface="Aptos Display"/>
              </a:rPr>
              <a:t>Cercanía al centro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783080"/>
            <a:ext cx="34290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09160" y="1965960"/>
            <a:ext cx="384048" cy="384048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938528"/>
            <a:ext cx="2286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D2733"/>
                </a:solidFill>
                <a:latin typeface="Aptos Display"/>
              </a:rPr>
              <a:t>Conectividad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69748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B6B7C"/>
                </a:solidFill>
                <a:latin typeface="Aptos Display"/>
              </a:rPr>
              <a:t>¿Qué representa el grupo?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035808"/>
            <a:ext cx="29260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D2733"/>
                </a:solidFill>
                <a:latin typeface="Aptos Display"/>
              </a:rPr>
              <a:t>Vecinos / enlaces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70332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B6B7C"/>
                </a:solidFill>
                <a:latin typeface="Aptos Display"/>
              </a:rPr>
              <a:t>Decisión destacada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041648"/>
            <a:ext cx="29260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D2733"/>
                </a:solidFill>
                <a:latin typeface="Aptos Display"/>
              </a:rPr>
              <a:t>Nivel de corte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80060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B6B7C"/>
                </a:solidFill>
                <a:latin typeface="Aptos Display"/>
              </a:rPr>
              <a:t>Idea visual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138928"/>
            <a:ext cx="29260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74439D"/>
                </a:solidFill>
                <a:latin typeface="Aptos Display"/>
              </a:rPr>
              <a:t>Jerarquía / dendrograma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1783080"/>
            <a:ext cx="34290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03920" y="1965960"/>
            <a:ext cx="384048" cy="384048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938528"/>
            <a:ext cx="2286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D2733"/>
                </a:solidFill>
                <a:latin typeface="Aptos Display"/>
              </a:rPr>
              <a:t>Densidad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69748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B6B7C"/>
                </a:solidFill>
                <a:latin typeface="Aptos Display"/>
              </a:rPr>
              <a:t>¿Qué representa el grupo?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035808"/>
            <a:ext cx="29260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D2733"/>
                </a:solidFill>
                <a:latin typeface="Aptos Display"/>
              </a:rPr>
              <a:t>Concentración 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70332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B6B7C"/>
                </a:solidFill>
                <a:latin typeface="Aptos Display"/>
              </a:rPr>
              <a:t>Decisión destacada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041648"/>
            <a:ext cx="29260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D2733"/>
                </a:solidFill>
                <a:latin typeface="Aptos Display"/>
              </a:rPr>
              <a:t>Criterios de densidad*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80060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B6B7C"/>
                </a:solidFill>
                <a:latin typeface="Aptos Display"/>
              </a:rPr>
              <a:t>Idea visual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5138928"/>
            <a:ext cx="29260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2BE2E"/>
                </a:solidFill>
                <a:latin typeface="Aptos Display"/>
              </a:rPr>
              <a:t>Regiones densas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108192"/>
            <a:ext cx="104241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B7C"/>
                </a:solidFill>
                <a:latin typeface="Aptos"/>
              </a:rPr>
              <a:t>*El video introductorio no especifica parámetros concretos para densidad; se estudiarán posteriormente.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B6B7C"/>
                </a:solidFill>
                <a:latin typeface="Aptos"/>
              </a:rPr>
              <a:t>MIID 4303 · Aprendizaje No Supervisado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B8CADA"/>
                </a:solidFill>
                <a:latin typeface="Aptos Display"/>
              </a:rPr>
              <a:t>RUTA 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Cómo pensar un problema de clustering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B8CADA"/>
                </a:solidFill>
                <a:latin typeface="Aptos Display"/>
              </a:rPr>
              <a:t>09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423160"/>
            <a:ext cx="530352" cy="530352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78608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82112"/>
            <a:ext cx="12801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 Display"/>
              </a:rPr>
              <a:t>Observaciones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98448" y="2697480"/>
            <a:ext cx="1335024" cy="0"/>
          </a:xfrm>
          <a:prstGeom prst="line">
            <a:avLst/>
          </a:prstGeom>
          <a:ln w="25400">
            <a:solidFill>
              <a:srgbClr val="8CA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017520" y="2423160"/>
            <a:ext cx="530352" cy="530352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578608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182112"/>
            <a:ext cx="12801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 Display"/>
              </a:rPr>
              <a:t>Definir similitud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84448" y="2697480"/>
            <a:ext cx="1335024" cy="0"/>
          </a:xfrm>
          <a:prstGeom prst="line">
            <a:avLst/>
          </a:prstGeom>
          <a:ln w="25400">
            <a:solidFill>
              <a:srgbClr val="8CA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303520" y="2423160"/>
            <a:ext cx="530352" cy="530352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578608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3182112"/>
            <a:ext cx="12801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 Display"/>
              </a:rPr>
              <a:t>Elegir familia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70448" y="2697480"/>
            <a:ext cx="1335024" cy="0"/>
          </a:xfrm>
          <a:prstGeom prst="line">
            <a:avLst/>
          </a:prstGeom>
          <a:ln w="25400">
            <a:solidFill>
              <a:srgbClr val="8CA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589520" y="2423160"/>
            <a:ext cx="530352" cy="530352"/>
          </a:xfrm>
          <a:prstGeom prst="ellipse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2578608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182112"/>
            <a:ext cx="12801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 Display"/>
              </a:rPr>
              <a:t>Formar grupos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56448" y="2697480"/>
            <a:ext cx="1335024" cy="0"/>
          </a:xfrm>
          <a:prstGeom prst="line">
            <a:avLst/>
          </a:prstGeom>
          <a:ln w="25400">
            <a:solidFill>
              <a:srgbClr val="8CA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875520" y="2423160"/>
            <a:ext cx="530352" cy="530352"/>
          </a:xfrm>
          <a:prstGeom prst="ellipse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578608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182112"/>
            <a:ext cx="12801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 Display"/>
              </a:rPr>
              <a:t>Interpretar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251960"/>
            <a:ext cx="5074920" cy="1234440"/>
          </a:xfrm>
          <a:prstGeom prst="roundRect">
            <a:avLst/>
          </a:prstGeom>
          <a:solidFill>
            <a:srgbClr val="0D3052"/>
          </a:solidFill>
          <a:ln w="12700">
            <a:solidFill>
              <a:srgbClr val="2D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251960"/>
            <a:ext cx="73152" cy="1234440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398264"/>
            <a:ext cx="46908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 Display"/>
              </a:rPr>
              <a:t>Pregunta clave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" y="4818888"/>
            <a:ext cx="4690872" cy="5394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D8E5EF"/>
                </a:solidFill>
                <a:latin typeface="Aptos"/>
              </a:rPr>
              <a:t>¿Qué significa “parecido” en este problema?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251960"/>
            <a:ext cx="5074920" cy="1234440"/>
          </a:xfrm>
          <a:prstGeom prst="roundRect">
            <a:avLst/>
          </a:prstGeom>
          <a:solidFill>
            <a:srgbClr val="0D3052"/>
          </a:solidFill>
          <a:ln w="12700">
            <a:solidFill>
              <a:srgbClr val="2D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251960"/>
            <a:ext cx="73152" cy="1234440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7376" y="4398264"/>
            <a:ext cx="46908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 Display"/>
              </a:rPr>
              <a:t>Resultado esperado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4818888"/>
            <a:ext cx="4690872" cy="5394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D8E5EF"/>
                </a:solidFill>
                <a:latin typeface="Aptos"/>
              </a:rPr>
              <a:t>Grupos que tengan sentido para el contexto y puedan interpretarse.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B6B7C"/>
                </a:solidFill>
                <a:latin typeface="Aptos"/>
              </a:rPr>
              <a:t>MIID 4303 · Aprendizaje No Supervisado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B7C"/>
                </a:solidFill>
                <a:latin typeface="Aptos Display"/>
              </a:rPr>
              <a:t>QUIZ DE REPASO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D2733"/>
                </a:solidFill>
                <a:latin typeface="Aptos Display"/>
              </a:rPr>
              <a:t>10 preguntas para fijar el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B7C"/>
                </a:solidFill>
                <a:latin typeface="Aptos Display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82496"/>
            <a:ext cx="329184" cy="3291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64792"/>
            <a:ext cx="32918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1645920"/>
            <a:ext cx="20116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D2733"/>
                </a:solidFill>
                <a:latin typeface="Aptos Display"/>
              </a:rPr>
              <a:t>Objetivo del 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645920"/>
            <a:ext cx="27432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B7C"/>
                </a:solidFill>
                <a:latin typeface="Aptos"/>
              </a:rPr>
              <a:t>Agrupar observaciones similares y separar grupos distintos.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1682496"/>
            <a:ext cx="329184" cy="3291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64792"/>
            <a:ext cx="32918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1645920"/>
            <a:ext cx="20116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D2733"/>
                </a:solidFill>
                <a:latin typeface="Aptos Display"/>
              </a:rPr>
              <a:t>¿Se conoce la etiqueta correcta?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45920"/>
            <a:ext cx="27432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B7C"/>
                </a:solidFill>
                <a:latin typeface="Aptos"/>
              </a:rPr>
              <a:t>No; el problema es no supervisado.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2615184"/>
            <a:ext cx="329184" cy="3291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32918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2578608"/>
            <a:ext cx="20116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D2733"/>
                </a:solidFill>
                <a:latin typeface="Aptos Display"/>
              </a:rPr>
              <a:t>Familias del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578608"/>
            <a:ext cx="27432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B7C"/>
                </a:solidFill>
                <a:latin typeface="Aptos"/>
              </a:rPr>
              <a:t>Centroides, conectividad y densidad.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2615184"/>
            <a:ext cx="329184" cy="3291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697480"/>
            <a:ext cx="32918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578608"/>
            <a:ext cx="20116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D2733"/>
                </a:solidFill>
                <a:latin typeface="Aptos Display"/>
              </a:rPr>
              <a:t>Centroides: requisito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578608"/>
            <a:ext cx="27432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B7C"/>
                </a:solidFill>
                <a:latin typeface="Aptos"/>
              </a:rPr>
              <a:t>Especificar a priori el número esperado de clusters.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3547872"/>
            <a:ext cx="329184" cy="3291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630168"/>
            <a:ext cx="32918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" y="3511296"/>
            <a:ext cx="20116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D2733"/>
                </a:solidFill>
                <a:latin typeface="Aptos Display"/>
              </a:rPr>
              <a:t>Asignación en centroides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511296"/>
            <a:ext cx="27432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B7C"/>
                </a:solidFill>
                <a:latin typeface="Aptos"/>
              </a:rPr>
              <a:t>Punto → centroide más cercano.</a:t>
            </a:r>
          </a:p>
        </p:txBody>
      </p:sp>
      <p:sp>
        <p:nvSpPr>
          <p:cNvPr id="26" name="Oval 25"/>
          <p:cNvSpPr/>
          <p:nvPr/>
        </p:nvSpPr>
        <p:spPr>
          <a:xfrm>
            <a:off x="6309360" y="3547872"/>
            <a:ext cx="329184" cy="3291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630168"/>
            <a:ext cx="32918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3511296"/>
            <a:ext cx="20116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D2733"/>
                </a:solidFill>
                <a:latin typeface="Aptos Display"/>
              </a:rPr>
              <a:t>Conectividad: intuición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511296"/>
            <a:ext cx="27432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B7C"/>
                </a:solidFill>
                <a:latin typeface="Aptos"/>
              </a:rPr>
              <a:t>Puntos cercanos están más relacionados.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4480560"/>
            <a:ext cx="329184" cy="3291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562856"/>
            <a:ext cx="32918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" y="4443984"/>
            <a:ext cx="20116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D2733"/>
                </a:solidFill>
                <a:latin typeface="Aptos Display"/>
              </a:rPr>
              <a:t>Representación jerárquica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4443984"/>
            <a:ext cx="27432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B7C"/>
                </a:solidFill>
                <a:latin typeface="Aptos"/>
              </a:rPr>
              <a:t>Dendrograma.</a:t>
            </a:r>
          </a:p>
        </p:txBody>
      </p:sp>
      <p:sp>
        <p:nvSpPr>
          <p:cNvPr id="34" name="Oval 33"/>
          <p:cNvSpPr/>
          <p:nvPr/>
        </p:nvSpPr>
        <p:spPr>
          <a:xfrm>
            <a:off x="6309360" y="4480560"/>
            <a:ext cx="329184" cy="3291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562856"/>
            <a:ext cx="32918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2" y="4443984"/>
            <a:ext cx="20116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D2733"/>
                </a:solidFill>
                <a:latin typeface="Aptos Display"/>
              </a:rPr>
              <a:t>¿Cómo obtener clusters del dendrograma?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443984"/>
            <a:ext cx="27432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B7C"/>
                </a:solidFill>
                <a:latin typeface="Aptos"/>
              </a:rPr>
              <a:t>Mediante cortes horizontales.</a:t>
            </a:r>
          </a:p>
        </p:txBody>
      </p:sp>
      <p:sp>
        <p:nvSpPr>
          <p:cNvPr id="38" name="Oval 37"/>
          <p:cNvSpPr/>
          <p:nvPr/>
        </p:nvSpPr>
        <p:spPr>
          <a:xfrm>
            <a:off x="685800" y="5413248"/>
            <a:ext cx="329184" cy="329184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495544"/>
            <a:ext cx="32918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5376672"/>
            <a:ext cx="20116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D2733"/>
                </a:solidFill>
                <a:latin typeface="Aptos Display"/>
              </a:rPr>
              <a:t>Densidad: definición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54680" y="5376672"/>
            <a:ext cx="27432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B7C"/>
                </a:solidFill>
                <a:latin typeface="Aptos"/>
              </a:rPr>
              <a:t>Áreas con concentración de observaciones.</a:t>
            </a:r>
          </a:p>
        </p:txBody>
      </p:sp>
      <p:sp>
        <p:nvSpPr>
          <p:cNvPr id="42" name="Oval 41"/>
          <p:cNvSpPr/>
          <p:nvPr/>
        </p:nvSpPr>
        <p:spPr>
          <a:xfrm>
            <a:off x="6309360" y="5413248"/>
            <a:ext cx="329184" cy="329184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5495544"/>
            <a:ext cx="32918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5376672"/>
            <a:ext cx="20116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D2733"/>
                </a:solidFill>
                <a:latin typeface="Aptos Display"/>
              </a:rPr>
              <a:t>Ejemplo de aplicación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5376672"/>
            <a:ext cx="27432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B7C"/>
                </a:solidFill>
                <a:latin typeface="Aptos"/>
              </a:rPr>
              <a:t>Segmentación de clientes, música, votantes o documentos.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B6B7C"/>
                </a:solidFill>
                <a:latin typeface="Aptos"/>
              </a:rPr>
              <a:t>MIID 4303 · Aprendizaje No Supervisado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B7C"/>
                </a:solidFill>
                <a:latin typeface="Aptos Display"/>
              </a:rPr>
              <a:t>MINI TALLER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D2733"/>
                </a:solidFill>
                <a:latin typeface="Aptos Display"/>
              </a:rPr>
              <a:t>¿Qué familia elegirías?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B7C"/>
                </a:solidFill>
                <a:latin typeface="Aptos Display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6537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37360"/>
            <a:ext cx="50292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D2733"/>
                </a:solidFill>
                <a:latin typeface="Aptos Display"/>
              </a:rPr>
              <a:t>Una empresa sabe que quiere exactamente 4 segmentos de clientes.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91639"/>
            <a:ext cx="1554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37943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7C4DA"/>
                </a:solidFill>
                <a:latin typeface="Aptos Display"/>
              </a:rPr>
              <a:t>Centroides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737360"/>
            <a:ext cx="28346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80" b="0">
                <a:solidFill>
                  <a:srgbClr val="5B6B7C"/>
                </a:solidFill>
                <a:latin typeface="Aptos"/>
              </a:rPr>
              <a:t>El número de grupos ya está definido y se busca asignar por cercanía.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54680"/>
            <a:ext cx="457200" cy="457200"/>
          </a:xfrm>
          <a:prstGeom prst="ellipse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826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154680"/>
            <a:ext cx="50292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D2733"/>
                </a:solidFill>
                <a:latin typeface="Aptos Display"/>
              </a:rPr>
              <a:t>Quieres explorar grupos anidados y ver cómo se fusionan.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108960"/>
            <a:ext cx="1554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255264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74439D"/>
                </a:solidFill>
                <a:latin typeface="Aptos Display"/>
              </a:rPr>
              <a:t>Conectividad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154680"/>
            <a:ext cx="28346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80" b="0">
                <a:solidFill>
                  <a:srgbClr val="5B6B7C"/>
                </a:solidFill>
                <a:latin typeface="Aptos"/>
              </a:rPr>
              <a:t>La estructura jerárquica y el dendrograma son centrales.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572000"/>
            <a:ext cx="457200" cy="457200"/>
          </a:xfrm>
          <a:prstGeom prst="ellipse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0001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72000"/>
            <a:ext cx="50292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D2733"/>
                </a:solidFill>
                <a:latin typeface="Aptos Display"/>
              </a:rPr>
              <a:t>Los datos muestran zonas muy concentradas y algunos puntos aislados.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526280"/>
            <a:ext cx="1554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672584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2BE2E"/>
                </a:solidFill>
                <a:latin typeface="Aptos Display"/>
              </a:rPr>
              <a:t>Densidad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572000"/>
            <a:ext cx="28346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80" b="0">
                <a:solidFill>
                  <a:srgbClr val="5B6B7C"/>
                </a:solidFill>
                <a:latin typeface="Aptos"/>
              </a:rPr>
              <a:t>La concentración local es la idea que define los grupos.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89320"/>
            <a:ext cx="103327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D2733"/>
                </a:solidFill>
                <a:latin typeface="Aptos Display"/>
              </a:rPr>
              <a:t>El objetivo aquí no es memorizar nombres, sino reconocer qué idea geométrica está detrás de cada familia.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B6B7C"/>
                </a:solidFill>
                <a:latin typeface="Aptos"/>
              </a:rPr>
              <a:t>MIID 4303 · Aprendizaje No Supervisado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B7C"/>
                </a:solidFill>
                <a:latin typeface="Aptos Display"/>
              </a:rPr>
              <a:t>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D2733"/>
                </a:solidFill>
                <a:latin typeface="Aptos Display"/>
              </a:rPr>
              <a:t>Qué no confundir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B7C"/>
                </a:solidFill>
                <a:latin typeface="Aptos Display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73152" cy="1508760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1883664"/>
            <a:ext cx="29992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Cluster ≠ clase conocida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304288"/>
            <a:ext cx="2999232" cy="8138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En clustering no partimos de una etiqueta correcta que supervise la asignación.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79" y="173736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79" y="1737360"/>
            <a:ext cx="73152" cy="1508760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5736" y="1883664"/>
            <a:ext cx="29992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Centroide ≠ vecino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2304288"/>
            <a:ext cx="2999232" cy="8138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Centroides y conectividad utilizan criterios conceptualmente diferentes.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173736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19" y="1737360"/>
            <a:ext cx="73152" cy="1508760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4776" y="1883664"/>
            <a:ext cx="29992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Dendrograma ≠ scatter plot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2304288"/>
            <a:ext cx="2999232" cy="8138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El dendrograma representa la jerarquía de agrupaciones.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0332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703320"/>
            <a:ext cx="73152" cy="1508760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3849624"/>
            <a:ext cx="29992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Densidad ≠ solo distancia al centro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5" y="4270248"/>
            <a:ext cx="2999232" cy="8138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La concentración local de puntos define las regiones.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79" y="370332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79" y="3703320"/>
            <a:ext cx="73152" cy="1508760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45736" y="3849624"/>
            <a:ext cx="29992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Visual ≠ automático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5736" y="4270248"/>
            <a:ext cx="2999232" cy="8138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Que el ojo humano vea grupos no significa que la computadora los identifique sin una regla.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19" y="370332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19" y="3703320"/>
            <a:ext cx="73152" cy="1508760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94776" y="3849624"/>
            <a:ext cx="29992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2733"/>
                </a:solidFill>
                <a:latin typeface="Aptos Display"/>
              </a:rPr>
              <a:t>Agrupar ≠ interpretar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4776" y="4270248"/>
            <a:ext cx="2999232" cy="8138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30" b="0">
                <a:solidFill>
                  <a:srgbClr val="5B6B7C"/>
                </a:solidFill>
                <a:latin typeface="Aptos"/>
              </a:rPr>
              <a:t>Después de formar clusters todavía hay que explicar qué significa cada grupo.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B6B7C"/>
                </a:solidFill>
                <a:latin typeface="Aptos"/>
              </a:rPr>
              <a:t>MIID 4303 · Aprendizaje No Supervisado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B8CADA"/>
                </a:solidFill>
                <a:latin typeface="Aptos Display"/>
              </a:rPr>
              <a:t>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Clustering en 5 minutos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B8CADA"/>
                </a:solidFill>
                <a:latin typeface="Aptos Display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1508760"/>
          </a:xfrm>
          <a:prstGeom prst="roundRect">
            <a:avLst/>
          </a:prstGeom>
          <a:solidFill>
            <a:srgbClr val="0D3052"/>
          </a:solidFill>
          <a:ln w="12700">
            <a:solidFill>
              <a:srgbClr val="2D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84248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7C4DA"/>
                </a:solidFill>
                <a:latin typeface="Aptos Display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96312"/>
            <a:ext cx="29260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Similares dentro · distintos entre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783080"/>
            <a:ext cx="3429000" cy="1508760"/>
          </a:xfrm>
          <a:prstGeom prst="roundRect">
            <a:avLst/>
          </a:prstGeom>
          <a:solidFill>
            <a:srgbClr val="0D3052"/>
          </a:solidFill>
          <a:ln w="12700">
            <a:solidFill>
              <a:srgbClr val="2D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984248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74439D"/>
                </a:solidFill>
                <a:latin typeface="Aptos Display"/>
              </a:rPr>
              <a:t>CENTROIDES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96312"/>
            <a:ext cx="29260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Centro + k definido a priori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83080"/>
            <a:ext cx="3429000" cy="1508760"/>
          </a:xfrm>
          <a:prstGeom prst="roundRect">
            <a:avLst/>
          </a:prstGeom>
          <a:solidFill>
            <a:srgbClr val="0D3052"/>
          </a:solidFill>
          <a:ln w="12700">
            <a:solidFill>
              <a:srgbClr val="2D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984248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2BE2E"/>
                </a:solidFill>
                <a:latin typeface="Aptos Display"/>
              </a:rPr>
              <a:t>CONECTIVIDAD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496312"/>
            <a:ext cx="29260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Vecinos + jerarquía + dendrograma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429000" cy="1508760"/>
          </a:xfrm>
          <a:prstGeom prst="roundRect">
            <a:avLst/>
          </a:prstGeom>
          <a:solidFill>
            <a:srgbClr val="0D3052"/>
          </a:solidFill>
          <a:ln w="12700">
            <a:solidFill>
              <a:srgbClr val="2D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50207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E8852E"/>
                </a:solidFill>
                <a:latin typeface="Aptos Display"/>
              </a:rPr>
              <a:t>DENSIDAD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62272"/>
            <a:ext cx="29260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Regiones de alta concentración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749039"/>
            <a:ext cx="3429000" cy="1508760"/>
          </a:xfrm>
          <a:prstGeom prst="roundRect">
            <a:avLst/>
          </a:prstGeom>
          <a:solidFill>
            <a:srgbClr val="0D3052"/>
          </a:solidFill>
          <a:ln w="12700">
            <a:solidFill>
              <a:srgbClr val="2D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950207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D976B"/>
                </a:solidFill>
                <a:latin typeface="Aptos Display"/>
              </a:rPr>
              <a:t>APLICACIONES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462272"/>
            <a:ext cx="29260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Clientes · música · votantes · documentos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749039"/>
            <a:ext cx="3429000" cy="1508760"/>
          </a:xfrm>
          <a:prstGeom prst="roundRect">
            <a:avLst/>
          </a:prstGeom>
          <a:solidFill>
            <a:srgbClr val="0D3052"/>
          </a:solidFill>
          <a:ln w="12700">
            <a:solidFill>
              <a:srgbClr val="2D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3950207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7C4DA"/>
                </a:solidFill>
                <a:latin typeface="Aptos Display"/>
              </a:rPr>
              <a:t>SIGUIENTE PASO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462272"/>
            <a:ext cx="29260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Profundizar en detalles e implementación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97880"/>
            <a:ext cx="104241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DCE8F1"/>
                </a:solidFill>
                <a:latin typeface="Aptos Display"/>
              </a:rPr>
              <a:t>Pregunta de control: ¿el grupo se define por un centro, por enlaces entre vecinos o por concentración?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B6B7C"/>
                </a:solidFill>
                <a:latin typeface="Aptos"/>
              </a:rPr>
              <a:t>MIID 4303 · Aprendizaje No Supervisado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B7C"/>
                </a:solidFill>
                <a:latin typeface="Aptos Display"/>
              </a:rPr>
              <a:t>CHECKLIST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D2733"/>
                </a:solidFill>
                <a:latin typeface="Aptos Display"/>
              </a:rPr>
              <a:t>¿Entendí el video?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B7C"/>
                </a:solidFill>
                <a:latin typeface="Aptos Display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28216"/>
            <a:ext cx="292608" cy="292608"/>
          </a:xfrm>
          <a:prstGeom prst="ellipse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01368"/>
            <a:ext cx="292608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1691640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D2733"/>
                </a:solidFill>
                <a:latin typeface="Aptos"/>
              </a:rPr>
              <a:t>Puedo definir clustering con mis propias palabras.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1728216"/>
            <a:ext cx="292608" cy="292608"/>
          </a:xfrm>
          <a:prstGeom prst="ellipse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01368"/>
            <a:ext cx="292608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9984" y="1691640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D2733"/>
                </a:solidFill>
                <a:latin typeface="Aptos"/>
              </a:rPr>
              <a:t>Entiendo qué significa similitud dentro del grupo.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441448"/>
            <a:ext cx="292608" cy="292608"/>
          </a:xfrm>
          <a:prstGeom prst="ellipse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14600"/>
            <a:ext cx="292608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2404872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D2733"/>
                </a:solidFill>
                <a:latin typeface="Aptos"/>
              </a:rPr>
              <a:t>Entiendo qué significa separación entre grupos.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2441448"/>
            <a:ext cx="292608" cy="292608"/>
          </a:xfrm>
          <a:prstGeom prst="ellipse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292608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4" y="2404872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D2733"/>
                </a:solidFill>
                <a:latin typeface="Aptos"/>
              </a:rPr>
              <a:t>Puedo mencionar aplicaciones del clustering.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154680"/>
            <a:ext cx="292608" cy="292608"/>
          </a:xfrm>
          <a:prstGeom prst="ellipse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27832"/>
            <a:ext cx="292608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3118104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D2733"/>
                </a:solidFill>
                <a:latin typeface="Aptos"/>
              </a:rPr>
              <a:t>Reconozco el enfoque basado en centroides.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3154680"/>
            <a:ext cx="292608" cy="292608"/>
          </a:xfrm>
          <a:prstGeom prst="ellipse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227832"/>
            <a:ext cx="292608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4" y="3118104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1">
                <a:solidFill>
                  <a:srgbClr val="1D2733"/>
                </a:solidFill>
                <a:latin typeface="Aptos Display"/>
              </a:rPr>
              <a:t>Sé que centroides requiere un número esperado de clusters.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3867911"/>
            <a:ext cx="292608" cy="292608"/>
          </a:xfrm>
          <a:prstGeom prst="ellipse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41063"/>
            <a:ext cx="292608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584" y="3831335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D2733"/>
                </a:solidFill>
                <a:latin typeface="Aptos"/>
              </a:rPr>
              <a:t>Reconozco el enfoque basado en conectividad.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3867911"/>
            <a:ext cx="292608" cy="292608"/>
          </a:xfrm>
          <a:prstGeom prst="ellipse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941063"/>
            <a:ext cx="292608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9984" y="3831335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1">
                <a:solidFill>
                  <a:srgbClr val="1D2733"/>
                </a:solidFill>
                <a:latin typeface="Aptos Display"/>
              </a:rPr>
              <a:t>Puedo explicar qué representa un dendrograma.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4581144"/>
            <a:ext cx="292608" cy="292608"/>
          </a:xfrm>
          <a:prstGeom prst="ellipse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654296"/>
            <a:ext cx="292608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43584" y="4544568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1">
                <a:solidFill>
                  <a:srgbClr val="1D2733"/>
                </a:solidFill>
                <a:latin typeface="Aptos Display"/>
              </a:rPr>
              <a:t>Sé cómo un corte horizontal identifica clusters.</a:t>
            </a:r>
          </a:p>
        </p:txBody>
      </p:sp>
      <p:sp>
        <p:nvSpPr>
          <p:cNvPr id="33" name="Oval 32"/>
          <p:cNvSpPr/>
          <p:nvPr/>
        </p:nvSpPr>
        <p:spPr>
          <a:xfrm>
            <a:off x="6309360" y="4581144"/>
            <a:ext cx="292608" cy="292608"/>
          </a:xfrm>
          <a:prstGeom prst="ellipse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654296"/>
            <a:ext cx="292608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4544568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D2733"/>
                </a:solidFill>
                <a:latin typeface="Aptos"/>
              </a:rPr>
              <a:t>Reconozco el enfoque basado en densidad.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5294376"/>
            <a:ext cx="292608" cy="292608"/>
          </a:xfrm>
          <a:prstGeom prst="ellipse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367528"/>
            <a:ext cx="292608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3584" y="5257800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1">
                <a:solidFill>
                  <a:srgbClr val="1D2733"/>
                </a:solidFill>
                <a:latin typeface="Aptos Display"/>
              </a:rPr>
              <a:t>Puedo diferenciar las tres familias conceptualmente.</a:t>
            </a:r>
          </a:p>
        </p:txBody>
      </p:sp>
      <p:sp>
        <p:nvSpPr>
          <p:cNvPr id="39" name="Oval 38"/>
          <p:cNvSpPr/>
          <p:nvPr/>
        </p:nvSpPr>
        <p:spPr>
          <a:xfrm>
            <a:off x="6309360" y="5294376"/>
            <a:ext cx="292608" cy="292608"/>
          </a:xfrm>
          <a:prstGeom prst="ellipse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5367528"/>
            <a:ext cx="292608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9984" y="5257800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D2733"/>
                </a:solidFill>
                <a:latin typeface="Aptos"/>
              </a:rPr>
              <a:t>Estoy listo para profundizar en su implementación.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" y="6053328"/>
            <a:ext cx="10378440" cy="438912"/>
          </a:xfrm>
          <a:prstGeom prst="roundRect">
            <a:avLst/>
          </a:prstGeom>
          <a:solidFill>
            <a:srgbClr val="EA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6153912"/>
            <a:ext cx="101498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74439D"/>
                </a:solidFill>
                <a:latin typeface="Aptos Display"/>
              </a:rPr>
              <a:t>Fuente principal: transcripción del video introductorio de clustering cargada por el estudiante.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